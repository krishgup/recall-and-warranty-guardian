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Guardian, a recall and warranty agent for the household, built on the Strands Agents SDK. Its best output is silence.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Recalls exist because products injure people. The remedies are free: refunds, repair kits, replacement parts. Most go unclaimed, because a recall is broadcast to everyone and matched to nobody. CPSC alone published 594 recalls in one 400-day window, and the receipt that proves you own the product sits in an email nobody opens again.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Guardian is for the household's default administrator: the parent of a young child, the car owner, anyone with appliances. Not another app to keep open. One text with one decision, only when something they own is affected.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steps. Capture a receipt, or a car by VIN. Watch: every night a Strands graph pulls CPSC, NHTSA and openFDA and matches them in code; only ambiguous pairs reach a model. Decide: a triage agent picks what deserves an interruption; a verifier checks it. Act: after one approval, Guardian sends the remedy request, receipt attached.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it is on the live site. Twelve items, seeded from real receipts and a VIN. Intake redacts card numbers and extracts brand, model, UPC, purchase date, retailer and warranty term. Select an item: its receipt, its warranty window, and its recall checks. None yet: tonight's sweep has not run.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click starts the sweep, and this is the run as the Strands graph sees it, streamed live. Grey nodes are code, blue are agents, green is the verifier, amber is the human gate. Feeds refresh, candidates are generated in code, the matcher adjudicates only the ambiguous pairs, triage decides what deserves an interruption tonight, and the verifier checks the plan; it can send it back once. Two minutes in, the run pauses at the household gate. The checkpoint is on disk, the timeline shows the wait, and nothing downstream can run without an approval record.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morning after. The quiet score is the headline metric: days since Guardian last needed you. Today it is zero, because a critical recall matched. Twelve items watched, nearly two thousand recalls screened, and the sweep log shows each step.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decision. This is the same card the phone points to. The recall is real, the remedy request is already drafted with the receipt attached, and the reasoning is one click away. One tap: request the refund. The graph resumes, the remedy agent writes the request from the recall's own contact, sends it once, and schedules the follow-up.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approval the run completes: the remedy is sent and the follow-up is scheduled. The timeline keeps the human wait as its own bar, apart from machine time. And every sweep is logged, including the ones that found nothing: three NHTSA campaigns on the household's Subaru went to the weekly digest with no interruption.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nightly sweep is thirteen nodes. Feed pagination, VIN decoding, UPC equality, sold-window arithmetic and the notification budget are code. Deciding whether a listing is the recalled product, or whether a plan is worth an interruption, is an agent, and every agent output is a validated structured object. A quiet night skips every agent node: zero model calls.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Strands: every node is a MultiAgentBase executor in a GraphBuilder. Edges come from data references, with AND-join conditions. The gate is a Strands interrupt that survives a process exit. The verifier has kill authority with one bounded repair round, and side effects run once, behind the 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first sweep on live feeds: 594 CPSC recalls, 1,200 openFDA reports, 7,143 pairs checked in code, eight matches, paused at the gate after 235 seconds and 41 cents.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Guardian's headline metric is how rarely it has to talk to you. The code, the graph and the live site are in the repo.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F08"/>
        </a:solidFill>
        <a:effectLst/>
      </p:bgPr>
    </p:bg>
    <p:spTree>
      <p:nvGrpSpPr>
        <p:cNvPr id="1" name=""/>
        <p:cNvGrpSpPr/>
        <p:nvPr/>
      </p:nvGrpSpPr>
      <p:grpSpPr/>
      <p:pic>
        <p:nvPicPr>
          <p:cNvPr id="2" name="Picture 1" descr="logo-nightwatch.png"/>
          <p:cNvPicPr>
            <a:picLocks noChangeAspect="1"/>
          </p:cNvPicPr>
          <p:nvPr/>
        </p:nvPicPr>
        <p:blipFill>
          <a:blip r:embed="rId2"/>
          <a:stretch>
            <a:fillRect/>
          </a:stretch>
        </p:blipFill>
        <p:spPr>
          <a:xfrm>
            <a:off x="698482" y="609584"/>
            <a:ext cx="457188" cy="457188"/>
          </a:xfrm>
          <a:prstGeom prst="rect">
            <a:avLst/>
          </a:prstGeom>
        </p:spPr>
      </p:pic>
      <p:sp>
        <p:nvSpPr>
          <p:cNvPr id="3" name="TextBox 2"/>
          <p:cNvSpPr txBox="1"/>
          <p:nvPr/>
        </p:nvSpPr>
        <p:spPr>
          <a:xfrm>
            <a:off x="1308066" y="609584"/>
            <a:ext cx="2539936" cy="457188"/>
          </a:xfrm>
          <a:prstGeom prst="rect">
            <a:avLst/>
          </a:prstGeom>
          <a:noFill/>
        </p:spPr>
        <p:txBody>
          <a:bodyPr wrap="square" lIns="0" rIns="0" tIns="0" bIns="0" anchor="ctr">
            <a:spAutoFit/>
          </a:bodyPr>
          <a:lstStyle/>
          <a:p>
            <a:pPr algn="l"/>
            <a:r>
              <a:rPr sz="2199" b="1" i="0">
                <a:solidFill>
                  <a:srgbClr val="F7F4F3"/>
                </a:solidFill>
                <a:latin typeface="Roboto Slab"/>
              </a:rPr>
              <a:t>Guardian</a:t>
            </a:r>
          </a:p>
        </p:txBody>
      </p:sp>
      <p:sp>
        <p:nvSpPr>
          <p:cNvPr id="4" name="TextBox 3"/>
          <p:cNvSpPr txBox="1"/>
          <p:nvPr/>
        </p:nvSpPr>
        <p:spPr>
          <a:xfrm>
            <a:off x="698482" y="1904952"/>
            <a:ext cx="9524761" cy="1904952"/>
          </a:xfrm>
          <a:prstGeom prst="rect">
            <a:avLst/>
          </a:prstGeom>
          <a:noFill/>
        </p:spPr>
        <p:txBody>
          <a:bodyPr wrap="square" lIns="0" rIns="0" tIns="0" bIns="0" anchor="t">
            <a:spAutoFit/>
          </a:bodyPr>
          <a:lstStyle/>
          <a:p>
            <a:pPr algn="l">
              <a:lnSpc>
                <a:spcPct val="102000"/>
              </a:lnSpc>
            </a:pPr>
            <a:r>
              <a:rPr sz="6399" b="1" i="0">
                <a:solidFill>
                  <a:srgbClr val="F7F4F3"/>
                </a:solidFill>
                <a:latin typeface="Roboto Slab"/>
              </a:rPr>
              <a:t>Recall &amp; Warranty Guardian</a:t>
            </a:r>
          </a:p>
        </p:txBody>
      </p:sp>
      <p:sp>
        <p:nvSpPr>
          <p:cNvPr id="5" name="TextBox 4"/>
          <p:cNvSpPr txBox="1"/>
          <p:nvPr/>
        </p:nvSpPr>
        <p:spPr>
          <a:xfrm>
            <a:off x="698482" y="3809904"/>
            <a:ext cx="8254793" cy="761980"/>
          </a:xfrm>
          <a:prstGeom prst="rect">
            <a:avLst/>
          </a:prstGeom>
          <a:noFill/>
        </p:spPr>
        <p:txBody>
          <a:bodyPr wrap="square" lIns="0" rIns="0" tIns="0" bIns="0" anchor="t">
            <a:spAutoFit/>
          </a:bodyPr>
          <a:lstStyle/>
          <a:p>
            <a:pPr algn="l">
              <a:lnSpc>
                <a:spcPct val="130000"/>
              </a:lnSpc>
            </a:pPr>
            <a:r>
              <a:rPr sz="1999" b="0" i="0">
                <a:solidFill>
                  <a:srgbClr val="F7F4F3"/>
                </a:solidFill>
                <a:latin typeface="Lora"/>
              </a:rPr>
              <a:t>A background agent that watches government recall feeds for the things your household actually owns.</a:t>
            </a:r>
          </a:p>
        </p:txBody>
      </p:sp>
      <p:sp>
        <p:nvSpPr>
          <p:cNvPr id="6" name="TextBox 5"/>
          <p:cNvSpPr txBox="1"/>
          <p:nvPr/>
        </p:nvSpPr>
        <p:spPr>
          <a:xfrm>
            <a:off x="698482" y="4635384"/>
            <a:ext cx="8254793" cy="380990"/>
          </a:xfrm>
          <a:prstGeom prst="rect">
            <a:avLst/>
          </a:prstGeom>
          <a:noFill/>
        </p:spPr>
        <p:txBody>
          <a:bodyPr wrap="square" lIns="0" rIns="0" tIns="0" bIns="0" anchor="t">
            <a:spAutoFit/>
          </a:bodyPr>
          <a:lstStyle/>
          <a:p>
            <a:pPr algn="l"/>
            <a:r>
              <a:rPr sz="1699" b="0" i="1">
                <a:solidFill>
                  <a:srgbClr val="B9C3BD"/>
                </a:solidFill>
                <a:latin typeface="Lora"/>
              </a:rPr>
              <a:t>The agent's best output is silence.</a:t>
            </a:r>
          </a:p>
        </p:txBody>
      </p:sp>
      <p:cxnSp>
        <p:nvCxnSpPr>
          <p:cNvPr id="7" name="Connector 6"/>
          <p:cNvCxnSpPr/>
          <p:nvPr/>
        </p:nvCxnSpPr>
        <p:spPr>
          <a:xfrm>
            <a:off x="698482" y="5683107"/>
            <a:ext cx="10794730" cy="0"/>
          </a:xfrm>
          <a:prstGeom prst="line">
            <a:avLst/>
          </a:prstGeom>
          <a:ln w="12700">
            <a:solidFill>
              <a:srgbClr val="2C3B3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98482" y="5873603"/>
            <a:ext cx="10794730" cy="253993"/>
          </a:xfrm>
          <a:prstGeom prst="rect">
            <a:avLst/>
          </a:prstGeom>
          <a:noFill/>
        </p:spPr>
        <p:txBody>
          <a:bodyPr wrap="square" lIns="0" rIns="0" tIns="0" bIns="0" anchor="t">
            <a:spAutoFit/>
          </a:bodyPr>
          <a:lstStyle/>
          <a:p>
            <a:pPr algn="l"/>
            <a:r>
              <a:rPr sz="1299" b="0" i="0" spc="200">
                <a:solidFill>
                  <a:srgbClr val="FCBA04"/>
                </a:solidFill>
                <a:latin typeface="Habibi"/>
              </a:rPr>
              <a:t>AGENTS FOR HUMANS · EVERYDAY AGENTS · STRANDS AGENTS SDK</a:t>
            </a:r>
          </a:p>
        </p:txBody>
      </p:sp>
      <p:sp>
        <p:nvSpPr>
          <p:cNvPr id="9" name="TextBox 8"/>
          <p:cNvSpPr txBox="1"/>
          <p:nvPr/>
        </p:nvSpPr>
        <p:spPr>
          <a:xfrm>
            <a:off x="698482" y="6191095"/>
            <a:ext cx="10794730" cy="253993"/>
          </a:xfrm>
          <a:prstGeom prst="rect">
            <a:avLst/>
          </a:prstGeom>
          <a:noFill/>
        </p:spPr>
        <p:txBody>
          <a:bodyPr wrap="square" lIns="0" rIns="0" tIns="0" bIns="0" anchor="t">
            <a:spAutoFit/>
          </a:bodyPr>
          <a:lstStyle/>
          <a:p>
            <a:pPr algn="l"/>
            <a:r>
              <a:rPr sz="1299" b="0" i="0">
                <a:solidFill>
                  <a:srgbClr val="B9C3BD"/>
                </a:solidFill>
                <a:latin typeface="Consolas"/>
              </a:rPr>
              <a:t>github.com/KrishGup/Recall-and-Warranty-Guardian  ·  live: guardian.44-214-230-44.sslip.io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F08"/>
        </a:solidFill>
        <a:effectLst/>
      </p:bgPr>
    </p:bg>
    <p:spTree>
      <p:nvGrpSpPr>
        <p:cNvPr id="1" name=""/>
        <p:cNvGrpSpPr/>
        <p:nvPr/>
      </p:nvGrpSpPr>
      <p:grpSpPr/>
      <p:sp>
        <p:nvSpPr>
          <p:cNvPr id="2" name="TextBox 1"/>
          <p:cNvSpPr txBox="1"/>
          <p:nvPr/>
        </p:nvSpPr>
        <p:spPr>
          <a:xfrm>
            <a:off x="698482" y="609584"/>
            <a:ext cx="7619809" cy="253993"/>
          </a:xfrm>
          <a:prstGeom prst="rect">
            <a:avLst/>
          </a:prstGeom>
          <a:noFill/>
        </p:spPr>
        <p:txBody>
          <a:bodyPr wrap="square" lIns="0" rIns="0" tIns="0" bIns="0" anchor="t">
            <a:spAutoFit/>
          </a:bodyPr>
          <a:lstStyle/>
          <a:p>
            <a:pPr algn="l"/>
            <a:r>
              <a:rPr sz="1299" b="0" i="0" spc="200">
                <a:solidFill>
                  <a:srgbClr val="FCBA04"/>
                </a:solidFill>
                <a:latin typeface="Habibi"/>
              </a:rPr>
              <a:t>THE PROBLEM</a:t>
            </a:r>
          </a:p>
        </p:txBody>
      </p:sp>
      <p:sp>
        <p:nvSpPr>
          <p:cNvPr id="3" name="TextBox 2"/>
          <p:cNvSpPr txBox="1"/>
          <p:nvPr/>
        </p:nvSpPr>
        <p:spPr>
          <a:xfrm>
            <a:off x="698482" y="952476"/>
            <a:ext cx="9524761" cy="1269968"/>
          </a:xfrm>
          <a:prstGeom prst="rect">
            <a:avLst/>
          </a:prstGeom>
          <a:noFill/>
        </p:spPr>
        <p:txBody>
          <a:bodyPr wrap="square" lIns="0" rIns="0" tIns="0" bIns="0" anchor="t">
            <a:spAutoFit/>
          </a:bodyPr>
          <a:lstStyle/>
          <a:p>
            <a:pPr algn="l">
              <a:lnSpc>
                <a:spcPct val="108000"/>
              </a:lnSpc>
            </a:pPr>
            <a:r>
              <a:rPr sz="3999" b="1" i="0">
                <a:solidFill>
                  <a:srgbClr val="F7F4F3"/>
                </a:solidFill>
                <a:latin typeface="Roboto Slab"/>
              </a:rPr>
              <a:t>Recalls are broadcast to everyone and matched by no one</a:t>
            </a:r>
          </a:p>
        </p:txBody>
      </p:sp>
      <p:sp>
        <p:nvSpPr>
          <p:cNvPr id="4" name="TextBox 3"/>
          <p:cNvSpPr txBox="1"/>
          <p:nvPr/>
        </p:nvSpPr>
        <p:spPr>
          <a:xfrm>
            <a:off x="698482" y="2412939"/>
            <a:ext cx="7873803" cy="1396965"/>
          </a:xfrm>
          <a:prstGeom prst="rect">
            <a:avLst/>
          </a:prstGeom>
          <a:noFill/>
        </p:spPr>
        <p:txBody>
          <a:bodyPr wrap="square" lIns="0" rIns="0" tIns="0" bIns="0" anchor="t">
            <a:spAutoFit/>
          </a:bodyPr>
          <a:lstStyle/>
          <a:p>
            <a:pPr algn="l">
              <a:lnSpc>
                <a:spcPct val="140000"/>
              </a:lnSpc>
            </a:pPr>
            <a:r>
              <a:rPr sz="1699" b="0" i="0">
                <a:solidFill>
                  <a:srgbClr val="B9C3BD"/>
                </a:solidFill>
                <a:latin typeface="Lora"/>
              </a:rPr>
              <a:t>Recalls exist because products injure people. Remedies are free: refunds, repair kits, replacement parts. Most go unclaimed, because the notice reaches everyone and the receipt that proves you own the product sits in an email nobody opens again.</a:t>
            </a:r>
          </a:p>
        </p:txBody>
      </p:sp>
      <p:cxnSp>
        <p:nvCxnSpPr>
          <p:cNvPr id="5" name="Connector 4"/>
          <p:cNvCxnSpPr/>
          <p:nvPr/>
        </p:nvCxnSpPr>
        <p:spPr>
          <a:xfrm>
            <a:off x="698482" y="4730631"/>
            <a:ext cx="10794730" cy="0"/>
          </a:xfrm>
          <a:prstGeom prst="line">
            <a:avLst/>
          </a:prstGeom>
          <a:ln w="12700">
            <a:solidFill>
              <a:srgbClr val="2C3B3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98482" y="4952876"/>
            <a:ext cx="3395048" cy="698482"/>
          </a:xfrm>
          <a:prstGeom prst="rect">
            <a:avLst/>
          </a:prstGeom>
          <a:noFill/>
        </p:spPr>
        <p:txBody>
          <a:bodyPr wrap="square" lIns="0" rIns="0" tIns="0" bIns="0" anchor="t">
            <a:spAutoFit/>
          </a:bodyPr>
          <a:lstStyle/>
          <a:p>
            <a:pPr algn="l">
              <a:lnSpc>
                <a:spcPct val="100000"/>
              </a:lnSpc>
            </a:pPr>
            <a:r>
              <a:rPr sz="5199" b="1" i="0">
                <a:solidFill>
                  <a:srgbClr val="F7F4F3"/>
                </a:solidFill>
                <a:latin typeface="Roboto Slab"/>
              </a:rPr>
              <a:t>594</a:t>
            </a:r>
          </a:p>
        </p:txBody>
      </p:sp>
      <p:sp>
        <p:nvSpPr>
          <p:cNvPr id="7" name="TextBox 6"/>
          <p:cNvSpPr txBox="1"/>
          <p:nvPr/>
        </p:nvSpPr>
        <p:spPr>
          <a:xfrm>
            <a:off x="698482" y="5714857"/>
            <a:ext cx="3395048" cy="571485"/>
          </a:xfrm>
          <a:prstGeom prst="rect">
            <a:avLst/>
          </a:prstGeom>
          <a:noFill/>
        </p:spPr>
        <p:txBody>
          <a:bodyPr wrap="square" lIns="0" rIns="0" tIns="0" bIns="0" anchor="t">
            <a:spAutoFit/>
          </a:bodyPr>
          <a:lstStyle/>
          <a:p>
            <a:pPr algn="l">
              <a:lnSpc>
                <a:spcPct val="130000"/>
              </a:lnSpc>
            </a:pPr>
            <a:r>
              <a:rPr sz="1399" b="0" i="0">
                <a:solidFill>
                  <a:srgbClr val="B9C3BD"/>
                </a:solidFill>
                <a:latin typeface="Lora"/>
              </a:rPr>
              <a:t>CPSC recalls published in one 400-day window</a:t>
            </a:r>
          </a:p>
        </p:txBody>
      </p:sp>
      <p:sp>
        <p:nvSpPr>
          <p:cNvPr id="8" name="TextBox 7"/>
          <p:cNvSpPr txBox="1"/>
          <p:nvPr/>
        </p:nvSpPr>
        <p:spPr>
          <a:xfrm>
            <a:off x="4398323" y="4952876"/>
            <a:ext cx="3395048" cy="698482"/>
          </a:xfrm>
          <a:prstGeom prst="rect">
            <a:avLst/>
          </a:prstGeom>
          <a:noFill/>
        </p:spPr>
        <p:txBody>
          <a:bodyPr wrap="square" lIns="0" rIns="0" tIns="0" bIns="0" anchor="t">
            <a:spAutoFit/>
          </a:bodyPr>
          <a:lstStyle/>
          <a:p>
            <a:pPr algn="l">
              <a:lnSpc>
                <a:spcPct val="100000"/>
              </a:lnSpc>
            </a:pPr>
            <a:r>
              <a:rPr sz="5199" b="1" i="0">
                <a:solidFill>
                  <a:srgbClr val="F7F4F3"/>
                </a:solidFill>
                <a:latin typeface="Roboto Slab"/>
              </a:rPr>
              <a:t>1,200</a:t>
            </a:r>
          </a:p>
        </p:txBody>
      </p:sp>
      <p:sp>
        <p:nvSpPr>
          <p:cNvPr id="9" name="TextBox 8"/>
          <p:cNvSpPr txBox="1"/>
          <p:nvPr/>
        </p:nvSpPr>
        <p:spPr>
          <a:xfrm>
            <a:off x="4398323" y="5714857"/>
            <a:ext cx="3395048" cy="571485"/>
          </a:xfrm>
          <a:prstGeom prst="rect">
            <a:avLst/>
          </a:prstGeom>
          <a:noFill/>
        </p:spPr>
        <p:txBody>
          <a:bodyPr wrap="square" lIns="0" rIns="0" tIns="0" bIns="0" anchor="t">
            <a:spAutoFit/>
          </a:bodyPr>
          <a:lstStyle/>
          <a:p>
            <a:pPr algn="l">
              <a:lnSpc>
                <a:spcPct val="130000"/>
              </a:lnSpc>
            </a:pPr>
            <a:r>
              <a:rPr sz="1399" b="0" i="0">
                <a:solidFill>
                  <a:srgbClr val="B9C3BD"/>
                </a:solidFill>
                <a:latin typeface="Lora"/>
              </a:rPr>
              <a:t>openFDA enforcement reports in the same window</a:t>
            </a:r>
          </a:p>
        </p:txBody>
      </p:sp>
      <p:sp>
        <p:nvSpPr>
          <p:cNvPr id="10" name="TextBox 9"/>
          <p:cNvSpPr txBox="1"/>
          <p:nvPr/>
        </p:nvSpPr>
        <p:spPr>
          <a:xfrm>
            <a:off x="8098164" y="4952876"/>
            <a:ext cx="3395048" cy="698482"/>
          </a:xfrm>
          <a:prstGeom prst="rect">
            <a:avLst/>
          </a:prstGeom>
          <a:noFill/>
        </p:spPr>
        <p:txBody>
          <a:bodyPr wrap="square" lIns="0" rIns="0" tIns="0" bIns="0" anchor="t">
            <a:spAutoFit/>
          </a:bodyPr>
          <a:lstStyle/>
          <a:p>
            <a:pPr algn="l">
              <a:lnSpc>
                <a:spcPct val="100000"/>
              </a:lnSpc>
            </a:pPr>
            <a:r>
              <a:rPr sz="5199" b="1" i="0">
                <a:solidFill>
                  <a:srgbClr val="F7F4F3"/>
                </a:solidFill>
                <a:latin typeface="Roboto Slab"/>
              </a:rPr>
              <a:t>3</a:t>
            </a:r>
          </a:p>
        </p:txBody>
      </p:sp>
      <p:sp>
        <p:nvSpPr>
          <p:cNvPr id="11" name="TextBox 10"/>
          <p:cNvSpPr txBox="1"/>
          <p:nvPr/>
        </p:nvSpPr>
        <p:spPr>
          <a:xfrm>
            <a:off x="8098164" y="5714857"/>
            <a:ext cx="3395048" cy="571485"/>
          </a:xfrm>
          <a:prstGeom prst="rect">
            <a:avLst/>
          </a:prstGeom>
          <a:noFill/>
        </p:spPr>
        <p:txBody>
          <a:bodyPr wrap="square" lIns="0" rIns="0" tIns="0" bIns="0" anchor="t">
            <a:spAutoFit/>
          </a:bodyPr>
          <a:lstStyle/>
          <a:p>
            <a:pPr algn="l">
              <a:lnSpc>
                <a:spcPct val="130000"/>
              </a:lnSpc>
            </a:pPr>
            <a:r>
              <a:rPr sz="1399" b="0" i="0">
                <a:solidFill>
                  <a:srgbClr val="B9C3BD"/>
                </a:solidFill>
                <a:latin typeface="Lora"/>
              </a:rPr>
              <a:t>NHTSA campaigns open against a single 2019 Subaru Outback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F08"/>
        </a:solidFill>
        <a:effectLst/>
      </p:bgPr>
    </p:bg>
    <p:spTree>
      <p:nvGrpSpPr>
        <p:cNvPr id="1" name=""/>
        <p:cNvGrpSpPr/>
        <p:nvPr/>
      </p:nvGrpSpPr>
      <p:grpSpPr/>
      <p:sp>
        <p:nvSpPr>
          <p:cNvPr id="2" name="TextBox 1"/>
          <p:cNvSpPr txBox="1"/>
          <p:nvPr/>
        </p:nvSpPr>
        <p:spPr>
          <a:xfrm>
            <a:off x="698482" y="1460463"/>
            <a:ext cx="5714857" cy="253993"/>
          </a:xfrm>
          <a:prstGeom prst="rect">
            <a:avLst/>
          </a:prstGeom>
          <a:noFill/>
        </p:spPr>
        <p:txBody>
          <a:bodyPr wrap="square" lIns="0" rIns="0" tIns="0" bIns="0" anchor="t">
            <a:spAutoFit/>
          </a:bodyPr>
          <a:lstStyle/>
          <a:p>
            <a:pPr algn="l"/>
            <a:r>
              <a:rPr sz="1299" b="0" i="0" spc="200">
                <a:solidFill>
                  <a:srgbClr val="FCBA04"/>
                </a:solidFill>
                <a:latin typeface="Habibi"/>
              </a:rPr>
              <a:t>WHO IT'S FOR</a:t>
            </a:r>
          </a:p>
        </p:txBody>
      </p:sp>
      <p:sp>
        <p:nvSpPr>
          <p:cNvPr id="3" name="TextBox 2"/>
          <p:cNvSpPr txBox="1"/>
          <p:nvPr/>
        </p:nvSpPr>
        <p:spPr>
          <a:xfrm>
            <a:off x="698482" y="1777955"/>
            <a:ext cx="5714857" cy="1015974"/>
          </a:xfrm>
          <a:prstGeom prst="rect">
            <a:avLst/>
          </a:prstGeom>
          <a:noFill/>
        </p:spPr>
        <p:txBody>
          <a:bodyPr wrap="square" lIns="0" rIns="0" tIns="0" bIns="0" anchor="t">
            <a:spAutoFit/>
          </a:bodyPr>
          <a:lstStyle/>
          <a:p>
            <a:pPr algn="l">
              <a:lnSpc>
                <a:spcPct val="110000"/>
              </a:lnSpc>
            </a:pPr>
            <a:r>
              <a:rPr sz="3199" b="1" i="0">
                <a:solidFill>
                  <a:srgbClr val="F7F4F3"/>
                </a:solidFill>
                <a:latin typeface="Roboto Slab"/>
              </a:rPr>
              <a:t>The household's default administrator</a:t>
            </a:r>
          </a:p>
        </p:txBody>
      </p:sp>
      <p:sp>
        <p:nvSpPr>
          <p:cNvPr id="4" name="Rectangle 3"/>
          <p:cNvSpPr/>
          <p:nvPr/>
        </p:nvSpPr>
        <p:spPr>
          <a:xfrm>
            <a:off x="698482" y="3162220"/>
            <a:ext cx="88897" cy="88897"/>
          </a:xfrm>
          <a:prstGeom prst="rect">
            <a:avLst/>
          </a:prstGeom>
          <a:solidFill>
            <a:srgbClr val="FCBA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377" y="3047923"/>
            <a:ext cx="5079873" cy="317492"/>
          </a:xfrm>
          <a:prstGeom prst="rect">
            <a:avLst/>
          </a:prstGeom>
          <a:noFill/>
        </p:spPr>
        <p:txBody>
          <a:bodyPr wrap="square" lIns="0" rIns="0" tIns="0" bIns="0" anchor="t">
            <a:spAutoFit/>
          </a:bodyPr>
          <a:lstStyle/>
          <a:p>
            <a:pPr algn="l">
              <a:lnSpc>
                <a:spcPct val="120000"/>
              </a:lnSpc>
            </a:pPr>
            <a:r>
              <a:rPr sz="1799" b="0" i="0">
                <a:solidFill>
                  <a:srgbClr val="F7F4F3"/>
                </a:solidFill>
                <a:latin typeface="Lora"/>
              </a:rPr>
              <a:t>Parents of young children</a:t>
            </a:r>
          </a:p>
        </p:txBody>
      </p:sp>
      <p:sp>
        <p:nvSpPr>
          <p:cNvPr id="6" name="Rectangle 5"/>
          <p:cNvSpPr/>
          <p:nvPr/>
        </p:nvSpPr>
        <p:spPr>
          <a:xfrm>
            <a:off x="698482" y="3594010"/>
            <a:ext cx="88897" cy="88897"/>
          </a:xfrm>
          <a:prstGeom prst="rect">
            <a:avLst/>
          </a:prstGeom>
          <a:solidFill>
            <a:srgbClr val="FCBA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377" y="3479713"/>
            <a:ext cx="5079873" cy="317492"/>
          </a:xfrm>
          <a:prstGeom prst="rect">
            <a:avLst/>
          </a:prstGeom>
          <a:noFill/>
        </p:spPr>
        <p:txBody>
          <a:bodyPr wrap="square" lIns="0" rIns="0" tIns="0" bIns="0" anchor="t">
            <a:spAutoFit/>
          </a:bodyPr>
          <a:lstStyle/>
          <a:p>
            <a:pPr algn="l">
              <a:lnSpc>
                <a:spcPct val="120000"/>
              </a:lnSpc>
            </a:pPr>
            <a:r>
              <a:rPr sz="1799" b="0" i="0">
                <a:solidFill>
                  <a:srgbClr val="F7F4F3"/>
                </a:solidFill>
                <a:latin typeface="Lora"/>
              </a:rPr>
              <a:t>Car owners</a:t>
            </a:r>
          </a:p>
        </p:txBody>
      </p:sp>
      <p:sp>
        <p:nvSpPr>
          <p:cNvPr id="8" name="Rectangle 7"/>
          <p:cNvSpPr/>
          <p:nvPr/>
        </p:nvSpPr>
        <p:spPr>
          <a:xfrm>
            <a:off x="698482" y="4025799"/>
            <a:ext cx="88897" cy="88897"/>
          </a:xfrm>
          <a:prstGeom prst="rect">
            <a:avLst/>
          </a:prstGeom>
          <a:solidFill>
            <a:srgbClr val="FCBA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377" y="3911502"/>
            <a:ext cx="5079873" cy="317492"/>
          </a:xfrm>
          <a:prstGeom prst="rect">
            <a:avLst/>
          </a:prstGeom>
          <a:noFill/>
        </p:spPr>
        <p:txBody>
          <a:bodyPr wrap="square" lIns="0" rIns="0" tIns="0" bIns="0" anchor="t">
            <a:spAutoFit/>
          </a:bodyPr>
          <a:lstStyle/>
          <a:p>
            <a:pPr algn="l">
              <a:lnSpc>
                <a:spcPct val="120000"/>
              </a:lnSpc>
            </a:pPr>
            <a:r>
              <a:rPr sz="1799" b="0" i="0">
                <a:solidFill>
                  <a:srgbClr val="F7F4F3"/>
                </a:solidFill>
                <a:latin typeface="Lora"/>
              </a:rPr>
              <a:t>Anyone with appliances</a:t>
            </a:r>
          </a:p>
        </p:txBody>
      </p:sp>
      <p:sp>
        <p:nvSpPr>
          <p:cNvPr id="10" name="TextBox 9"/>
          <p:cNvSpPr txBox="1"/>
          <p:nvPr/>
        </p:nvSpPr>
        <p:spPr>
          <a:xfrm>
            <a:off x="698482" y="4533786"/>
            <a:ext cx="5206869" cy="888977"/>
          </a:xfrm>
          <a:prstGeom prst="rect">
            <a:avLst/>
          </a:prstGeom>
          <a:noFill/>
        </p:spPr>
        <p:txBody>
          <a:bodyPr wrap="square" lIns="0" rIns="0" tIns="0" bIns="0" anchor="t">
            <a:spAutoFit/>
          </a:bodyPr>
          <a:lstStyle/>
          <a:p>
            <a:pPr algn="l">
              <a:lnSpc>
                <a:spcPct val="140000"/>
              </a:lnSpc>
            </a:pPr>
            <a:r>
              <a:rPr sz="1499" b="0" i="0">
                <a:solidFill>
                  <a:srgbClr val="B9C3BD"/>
                </a:solidFill>
                <a:latin typeface="Lora"/>
              </a:rPr>
              <a:t>Not another app to keep open. One SMS with one decision, and only when something you own is actually affected.</a:t>
            </a:r>
          </a:p>
        </p:txBody>
      </p:sp>
      <p:pic>
        <p:nvPicPr>
          <p:cNvPr id="11" name="Picture 10" descr="decisions-mobile-dark.png"/>
          <p:cNvPicPr>
            <a:picLocks noChangeAspect="1"/>
          </p:cNvPicPr>
          <p:nvPr/>
        </p:nvPicPr>
        <p:blipFill>
          <a:blip r:embed="rId2"/>
          <a:stretch>
            <a:fillRect/>
          </a:stretch>
        </p:blipFill>
        <p:spPr>
          <a:xfrm>
            <a:off x="9087194" y="825479"/>
            <a:ext cx="2406018" cy="520686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698482" y="609584"/>
            <a:ext cx="7619809" cy="253993"/>
          </a:xfrm>
          <a:prstGeom prst="rect">
            <a:avLst/>
          </a:prstGeom>
          <a:noFill/>
        </p:spPr>
        <p:txBody>
          <a:bodyPr wrap="square" lIns="0" rIns="0" tIns="0" bIns="0" anchor="t">
            <a:spAutoFit/>
          </a:bodyPr>
          <a:lstStyle/>
          <a:p>
            <a:pPr algn="l"/>
            <a:r>
              <a:rPr sz="1299" b="0" i="0" spc="200">
                <a:solidFill>
                  <a:srgbClr val="4A5551"/>
                </a:solidFill>
                <a:latin typeface="Habibi"/>
              </a:rPr>
              <a:t>WHAT GUARDIAN DOES</a:t>
            </a:r>
          </a:p>
        </p:txBody>
      </p:sp>
      <p:sp>
        <p:nvSpPr>
          <p:cNvPr id="3" name="TextBox 2"/>
          <p:cNvSpPr txBox="1"/>
          <p:nvPr/>
        </p:nvSpPr>
        <p:spPr>
          <a:xfrm>
            <a:off x="698482" y="927076"/>
            <a:ext cx="9524761" cy="571485"/>
          </a:xfrm>
          <a:prstGeom prst="rect">
            <a:avLst/>
          </a:prstGeom>
          <a:noFill/>
        </p:spPr>
        <p:txBody>
          <a:bodyPr wrap="square" lIns="0" rIns="0" tIns="0" bIns="0" anchor="t">
            <a:spAutoFit/>
          </a:bodyPr>
          <a:lstStyle/>
          <a:p>
            <a:pPr algn="l">
              <a:lnSpc>
                <a:spcPct val="110000"/>
              </a:lnSpc>
            </a:pPr>
            <a:r>
              <a:rPr sz="3199" b="1" i="0">
                <a:solidFill>
                  <a:srgbClr val="000F08"/>
                </a:solidFill>
                <a:latin typeface="Roboto Slab"/>
              </a:rPr>
              <a:t>Capture, watch, decide, act</a:t>
            </a:r>
          </a:p>
        </p:txBody>
      </p:sp>
      <p:cxnSp>
        <p:nvCxnSpPr>
          <p:cNvPr id="4" name="Connector 3"/>
          <p:cNvCxnSpPr/>
          <p:nvPr/>
        </p:nvCxnSpPr>
        <p:spPr>
          <a:xfrm>
            <a:off x="698482" y="2095447"/>
            <a:ext cx="2508187"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8482" y="2260543"/>
            <a:ext cx="2508187" cy="253993"/>
          </a:xfrm>
          <a:prstGeom prst="rect">
            <a:avLst/>
          </a:prstGeom>
          <a:noFill/>
        </p:spPr>
        <p:txBody>
          <a:bodyPr wrap="square" lIns="0" rIns="0" tIns="0" bIns="0" anchor="t">
            <a:spAutoFit/>
          </a:bodyPr>
          <a:lstStyle/>
          <a:p>
            <a:pPr algn="l"/>
            <a:r>
              <a:rPr sz="1399" b="1" i="0">
                <a:solidFill>
                  <a:srgbClr val="2274A5"/>
                </a:solidFill>
                <a:latin typeface="Roboto Slab"/>
              </a:rPr>
              <a:t>01</a:t>
            </a:r>
          </a:p>
        </p:txBody>
      </p:sp>
      <p:sp>
        <p:nvSpPr>
          <p:cNvPr id="6" name="TextBox 5"/>
          <p:cNvSpPr txBox="1"/>
          <p:nvPr/>
        </p:nvSpPr>
        <p:spPr>
          <a:xfrm>
            <a:off x="698482" y="2565335"/>
            <a:ext cx="2508187" cy="355591"/>
          </a:xfrm>
          <a:prstGeom prst="rect">
            <a:avLst/>
          </a:prstGeom>
          <a:noFill/>
        </p:spPr>
        <p:txBody>
          <a:bodyPr wrap="square" lIns="0" rIns="0" tIns="0" bIns="0" anchor="t">
            <a:spAutoFit/>
          </a:bodyPr>
          <a:lstStyle/>
          <a:p>
            <a:pPr algn="l"/>
            <a:r>
              <a:rPr sz="1999" b="1" i="0">
                <a:solidFill>
                  <a:srgbClr val="000F08"/>
                </a:solidFill>
                <a:latin typeface="Roboto Slab"/>
              </a:rPr>
              <a:t>Capture</a:t>
            </a:r>
          </a:p>
        </p:txBody>
      </p:sp>
      <p:sp>
        <p:nvSpPr>
          <p:cNvPr id="7" name="TextBox 6"/>
          <p:cNvSpPr txBox="1"/>
          <p:nvPr/>
        </p:nvSpPr>
        <p:spPr>
          <a:xfrm>
            <a:off x="698482" y="2971725"/>
            <a:ext cx="2508187" cy="253993"/>
          </a:xfrm>
          <a:prstGeom prst="rect">
            <a:avLst/>
          </a:prstGeom>
          <a:noFill/>
        </p:spPr>
        <p:txBody>
          <a:bodyPr wrap="square" lIns="0" rIns="0" tIns="0" bIns="0" anchor="t">
            <a:spAutoFit/>
          </a:bodyPr>
          <a:lstStyle/>
          <a:p>
            <a:pPr algn="l"/>
            <a:r>
              <a:rPr sz="1199" b="0" i="0" spc="100">
                <a:solidFill>
                  <a:srgbClr val="4A5551"/>
                </a:solidFill>
                <a:latin typeface="Habibi"/>
              </a:rPr>
              <a:t>INTAKE GRAPH · CODE + AGENT</a:t>
            </a:r>
          </a:p>
        </p:txBody>
      </p:sp>
      <p:sp>
        <p:nvSpPr>
          <p:cNvPr id="8" name="TextBox 7"/>
          <p:cNvSpPr txBox="1"/>
          <p:nvPr/>
        </p:nvSpPr>
        <p:spPr>
          <a:xfrm>
            <a:off x="698482" y="3301917"/>
            <a:ext cx="2508187" cy="2666933"/>
          </a:xfrm>
          <a:prstGeom prst="rect">
            <a:avLst/>
          </a:prstGeom>
          <a:noFill/>
        </p:spPr>
        <p:txBody>
          <a:bodyPr wrap="square" lIns="0" rIns="0" tIns="0" bIns="0" anchor="t">
            <a:spAutoFit/>
          </a:bodyPr>
          <a:lstStyle/>
          <a:p>
            <a:pPr algn="l">
              <a:lnSpc>
                <a:spcPct val="140000"/>
              </a:lnSpc>
            </a:pPr>
            <a:r>
              <a:rPr sz="1399" b="0" i="0">
                <a:solidFill>
                  <a:srgbClr val="000F08"/>
                </a:solidFill>
                <a:latin typeface="Lora"/>
              </a:rPr>
              <a:t>Forward a receipt or paste an order confirmation. Card numbers are stripped; brand, model, UPC, purchase date, retailer and warranty term are filed. Cars are added by VIN.</a:t>
            </a:r>
          </a:p>
        </p:txBody>
      </p:sp>
      <p:cxnSp>
        <p:nvCxnSpPr>
          <p:cNvPr id="9" name="Connector 8"/>
          <p:cNvCxnSpPr/>
          <p:nvPr/>
        </p:nvCxnSpPr>
        <p:spPr>
          <a:xfrm>
            <a:off x="3460663" y="2095447"/>
            <a:ext cx="2508187"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460663" y="2260543"/>
            <a:ext cx="2508187" cy="253993"/>
          </a:xfrm>
          <a:prstGeom prst="rect">
            <a:avLst/>
          </a:prstGeom>
          <a:noFill/>
        </p:spPr>
        <p:txBody>
          <a:bodyPr wrap="square" lIns="0" rIns="0" tIns="0" bIns="0" anchor="t">
            <a:spAutoFit/>
          </a:bodyPr>
          <a:lstStyle/>
          <a:p>
            <a:pPr algn="l"/>
            <a:r>
              <a:rPr sz="1399" b="1" i="0">
                <a:solidFill>
                  <a:srgbClr val="2274A5"/>
                </a:solidFill>
                <a:latin typeface="Roboto Slab"/>
              </a:rPr>
              <a:t>02</a:t>
            </a:r>
          </a:p>
        </p:txBody>
      </p:sp>
      <p:sp>
        <p:nvSpPr>
          <p:cNvPr id="11" name="TextBox 10"/>
          <p:cNvSpPr txBox="1"/>
          <p:nvPr/>
        </p:nvSpPr>
        <p:spPr>
          <a:xfrm>
            <a:off x="3460663" y="2565335"/>
            <a:ext cx="2508187" cy="355591"/>
          </a:xfrm>
          <a:prstGeom prst="rect">
            <a:avLst/>
          </a:prstGeom>
          <a:noFill/>
        </p:spPr>
        <p:txBody>
          <a:bodyPr wrap="square" lIns="0" rIns="0" tIns="0" bIns="0" anchor="t">
            <a:spAutoFit/>
          </a:bodyPr>
          <a:lstStyle/>
          <a:p>
            <a:pPr algn="l"/>
            <a:r>
              <a:rPr sz="1999" b="1" i="0">
                <a:solidFill>
                  <a:srgbClr val="000F08"/>
                </a:solidFill>
                <a:latin typeface="Roboto Slab"/>
              </a:rPr>
              <a:t>Watch</a:t>
            </a:r>
          </a:p>
        </p:txBody>
      </p:sp>
      <p:sp>
        <p:nvSpPr>
          <p:cNvPr id="12" name="TextBox 11"/>
          <p:cNvSpPr txBox="1"/>
          <p:nvPr/>
        </p:nvSpPr>
        <p:spPr>
          <a:xfrm>
            <a:off x="3460663" y="2971725"/>
            <a:ext cx="2508187" cy="253993"/>
          </a:xfrm>
          <a:prstGeom prst="rect">
            <a:avLst/>
          </a:prstGeom>
          <a:noFill/>
        </p:spPr>
        <p:txBody>
          <a:bodyPr wrap="square" lIns="0" rIns="0" tIns="0" bIns="0" anchor="t">
            <a:spAutoFit/>
          </a:bodyPr>
          <a:lstStyle/>
          <a:p>
            <a:pPr algn="l"/>
            <a:r>
              <a:rPr sz="1199" b="0" i="0" spc="100">
                <a:solidFill>
                  <a:srgbClr val="4A5551"/>
                </a:solidFill>
                <a:latin typeface="Habibi"/>
              </a:rPr>
              <a:t>NIGHTLY SWEEP · CODE FIRST</a:t>
            </a:r>
          </a:p>
        </p:txBody>
      </p:sp>
      <p:sp>
        <p:nvSpPr>
          <p:cNvPr id="13" name="TextBox 12"/>
          <p:cNvSpPr txBox="1"/>
          <p:nvPr/>
        </p:nvSpPr>
        <p:spPr>
          <a:xfrm>
            <a:off x="3460663" y="3301917"/>
            <a:ext cx="2508187" cy="2666933"/>
          </a:xfrm>
          <a:prstGeom prst="rect">
            <a:avLst/>
          </a:prstGeom>
          <a:noFill/>
        </p:spPr>
        <p:txBody>
          <a:bodyPr wrap="square" lIns="0" rIns="0" tIns="0" bIns="0" anchor="t">
            <a:spAutoFit/>
          </a:bodyPr>
          <a:lstStyle/>
          <a:p>
            <a:pPr algn="l">
              <a:lnSpc>
                <a:spcPct val="140000"/>
              </a:lnSpc>
            </a:pPr>
            <a:r>
              <a:rPr sz="1399" b="0" i="0">
                <a:solidFill>
                  <a:srgbClr val="000F08"/>
                </a:solidFill>
                <a:latin typeface="Lora"/>
              </a:rPr>
              <a:t>Every night a Strands graph pulls new recalls from CPSC, NHTSA and openFDA and matches them in code: exact keys, lexical similarity, sold window. Only ambiguous pairs reach a model.</a:t>
            </a:r>
          </a:p>
        </p:txBody>
      </p:sp>
      <p:cxnSp>
        <p:nvCxnSpPr>
          <p:cNvPr id="14" name="Connector 13"/>
          <p:cNvCxnSpPr/>
          <p:nvPr/>
        </p:nvCxnSpPr>
        <p:spPr>
          <a:xfrm>
            <a:off x="6222844" y="2095447"/>
            <a:ext cx="2508187"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22844" y="2260543"/>
            <a:ext cx="2508187" cy="253993"/>
          </a:xfrm>
          <a:prstGeom prst="rect">
            <a:avLst/>
          </a:prstGeom>
          <a:noFill/>
        </p:spPr>
        <p:txBody>
          <a:bodyPr wrap="square" lIns="0" rIns="0" tIns="0" bIns="0" anchor="t">
            <a:spAutoFit/>
          </a:bodyPr>
          <a:lstStyle/>
          <a:p>
            <a:pPr algn="l"/>
            <a:r>
              <a:rPr sz="1399" b="1" i="0">
                <a:solidFill>
                  <a:srgbClr val="2274A5"/>
                </a:solidFill>
                <a:latin typeface="Roboto Slab"/>
              </a:rPr>
              <a:t>03</a:t>
            </a:r>
          </a:p>
        </p:txBody>
      </p:sp>
      <p:sp>
        <p:nvSpPr>
          <p:cNvPr id="16" name="TextBox 15"/>
          <p:cNvSpPr txBox="1"/>
          <p:nvPr/>
        </p:nvSpPr>
        <p:spPr>
          <a:xfrm>
            <a:off x="6222844" y="2565335"/>
            <a:ext cx="2508187" cy="355591"/>
          </a:xfrm>
          <a:prstGeom prst="rect">
            <a:avLst/>
          </a:prstGeom>
          <a:noFill/>
        </p:spPr>
        <p:txBody>
          <a:bodyPr wrap="square" lIns="0" rIns="0" tIns="0" bIns="0" anchor="t">
            <a:spAutoFit/>
          </a:bodyPr>
          <a:lstStyle/>
          <a:p>
            <a:pPr algn="l"/>
            <a:r>
              <a:rPr sz="1999" b="1" i="0">
                <a:solidFill>
                  <a:srgbClr val="000F08"/>
                </a:solidFill>
                <a:latin typeface="Roboto Slab"/>
              </a:rPr>
              <a:t>Decide</a:t>
            </a:r>
          </a:p>
        </p:txBody>
      </p:sp>
      <p:sp>
        <p:nvSpPr>
          <p:cNvPr id="17" name="TextBox 16"/>
          <p:cNvSpPr txBox="1"/>
          <p:nvPr/>
        </p:nvSpPr>
        <p:spPr>
          <a:xfrm>
            <a:off x="6222844" y="2971725"/>
            <a:ext cx="2508187" cy="253993"/>
          </a:xfrm>
          <a:prstGeom prst="rect">
            <a:avLst/>
          </a:prstGeom>
          <a:noFill/>
        </p:spPr>
        <p:txBody>
          <a:bodyPr wrap="square" lIns="0" rIns="0" tIns="0" bIns="0" anchor="t">
            <a:spAutoFit/>
          </a:bodyPr>
          <a:lstStyle/>
          <a:p>
            <a:pPr algn="l"/>
            <a:r>
              <a:rPr sz="1199" b="0" i="0" spc="100">
                <a:solidFill>
                  <a:srgbClr val="4A5551"/>
                </a:solidFill>
                <a:latin typeface="Habibi"/>
              </a:rPr>
              <a:t>AGENT · VERIFIER · HUMAN GATE</a:t>
            </a:r>
          </a:p>
        </p:txBody>
      </p:sp>
      <p:sp>
        <p:nvSpPr>
          <p:cNvPr id="18" name="TextBox 17"/>
          <p:cNvSpPr txBox="1"/>
          <p:nvPr/>
        </p:nvSpPr>
        <p:spPr>
          <a:xfrm>
            <a:off x="6222844" y="3301917"/>
            <a:ext cx="2508187" cy="2666933"/>
          </a:xfrm>
          <a:prstGeom prst="rect">
            <a:avLst/>
          </a:prstGeom>
          <a:noFill/>
        </p:spPr>
        <p:txBody>
          <a:bodyPr wrap="square" lIns="0" rIns="0" tIns="0" bIns="0" anchor="t">
            <a:spAutoFit/>
          </a:bodyPr>
          <a:lstStyle/>
          <a:p>
            <a:pPr algn="l">
              <a:lnSpc>
                <a:spcPct val="140000"/>
              </a:lnSpc>
            </a:pPr>
            <a:r>
              <a:rPr sz="1399" b="0" i="0">
                <a:solidFill>
                  <a:srgbClr val="000F08"/>
                </a:solidFill>
                <a:latin typeface="Lora"/>
              </a:rPr>
              <a:t>A triage agent applies severity rules and the household's notification budget; an adversarial verifier can send it back once. Critical hazards become one SMS. The graph pauses on a human gate for up to 72 hours.</a:t>
            </a:r>
          </a:p>
        </p:txBody>
      </p:sp>
      <p:cxnSp>
        <p:nvCxnSpPr>
          <p:cNvPr id="19" name="Connector 18"/>
          <p:cNvCxnSpPr/>
          <p:nvPr/>
        </p:nvCxnSpPr>
        <p:spPr>
          <a:xfrm>
            <a:off x="8985025" y="2095447"/>
            <a:ext cx="2508187" cy="0"/>
          </a:xfrm>
          <a:prstGeom prst="line">
            <a:avLst/>
          </a:prstGeom>
          <a:ln w="19050">
            <a:solidFill>
              <a:srgbClr val="000F0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985025" y="2260543"/>
            <a:ext cx="2508187" cy="253993"/>
          </a:xfrm>
          <a:prstGeom prst="rect">
            <a:avLst/>
          </a:prstGeom>
          <a:noFill/>
        </p:spPr>
        <p:txBody>
          <a:bodyPr wrap="square" lIns="0" rIns="0" tIns="0" bIns="0" anchor="t">
            <a:spAutoFit/>
          </a:bodyPr>
          <a:lstStyle/>
          <a:p>
            <a:pPr algn="l"/>
            <a:r>
              <a:rPr sz="1399" b="1" i="0">
                <a:solidFill>
                  <a:srgbClr val="2274A5"/>
                </a:solidFill>
                <a:latin typeface="Roboto Slab"/>
              </a:rPr>
              <a:t>04</a:t>
            </a:r>
          </a:p>
        </p:txBody>
      </p:sp>
      <p:sp>
        <p:nvSpPr>
          <p:cNvPr id="21" name="TextBox 20"/>
          <p:cNvSpPr txBox="1"/>
          <p:nvPr/>
        </p:nvSpPr>
        <p:spPr>
          <a:xfrm>
            <a:off x="8985025" y="2565335"/>
            <a:ext cx="2508187" cy="355591"/>
          </a:xfrm>
          <a:prstGeom prst="rect">
            <a:avLst/>
          </a:prstGeom>
          <a:noFill/>
        </p:spPr>
        <p:txBody>
          <a:bodyPr wrap="square" lIns="0" rIns="0" tIns="0" bIns="0" anchor="t">
            <a:spAutoFit/>
          </a:bodyPr>
          <a:lstStyle/>
          <a:p>
            <a:pPr algn="l"/>
            <a:r>
              <a:rPr sz="1999" b="1" i="0">
                <a:solidFill>
                  <a:srgbClr val="000F08"/>
                </a:solidFill>
                <a:latin typeface="Roboto Slab"/>
              </a:rPr>
              <a:t>Act</a:t>
            </a:r>
          </a:p>
        </p:txBody>
      </p:sp>
      <p:sp>
        <p:nvSpPr>
          <p:cNvPr id="22" name="TextBox 21"/>
          <p:cNvSpPr txBox="1"/>
          <p:nvPr/>
        </p:nvSpPr>
        <p:spPr>
          <a:xfrm>
            <a:off x="8985025" y="2971725"/>
            <a:ext cx="2508187" cy="253993"/>
          </a:xfrm>
          <a:prstGeom prst="rect">
            <a:avLst/>
          </a:prstGeom>
          <a:noFill/>
        </p:spPr>
        <p:txBody>
          <a:bodyPr wrap="square" lIns="0" rIns="0" tIns="0" bIns="0" anchor="t">
            <a:spAutoFit/>
          </a:bodyPr>
          <a:lstStyle/>
          <a:p>
            <a:pPr algn="l"/>
            <a:r>
              <a:rPr sz="1199" b="0" i="0" spc="100">
                <a:solidFill>
                  <a:srgbClr val="4A5551"/>
                </a:solidFill>
                <a:latin typeface="Habibi"/>
              </a:rPr>
              <a:t>AGENT · SIDE EFFECT, ONCE</a:t>
            </a:r>
          </a:p>
        </p:txBody>
      </p:sp>
      <p:sp>
        <p:nvSpPr>
          <p:cNvPr id="23" name="TextBox 22"/>
          <p:cNvSpPr txBox="1"/>
          <p:nvPr/>
        </p:nvSpPr>
        <p:spPr>
          <a:xfrm>
            <a:off x="8985025" y="3301917"/>
            <a:ext cx="2508187" cy="2666933"/>
          </a:xfrm>
          <a:prstGeom prst="rect">
            <a:avLst/>
          </a:prstGeom>
          <a:noFill/>
        </p:spPr>
        <p:txBody>
          <a:bodyPr wrap="square" lIns="0" rIns="0" tIns="0" bIns="0" anchor="t">
            <a:spAutoFit/>
          </a:bodyPr>
          <a:lstStyle/>
          <a:p>
            <a:pPr algn="l">
              <a:lnSpc>
                <a:spcPct val="140000"/>
              </a:lnSpc>
            </a:pPr>
            <a:r>
              <a:rPr sz="1399" b="0" i="0">
                <a:solidFill>
                  <a:srgbClr val="000F08"/>
                </a:solidFill>
                <a:latin typeface="Lora"/>
              </a:rPr>
              <a:t>When the household answers, the graph resumes: a remedy agent drafts the request from the recall's own remedy and contact, sends it exactly once with the receipt attached, and schedules a 10-business-day follow-up.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507987" y="609584"/>
            <a:ext cx="3301917" cy="253993"/>
          </a:xfrm>
          <a:prstGeom prst="rect">
            <a:avLst/>
          </a:prstGeom>
          <a:noFill/>
        </p:spPr>
        <p:txBody>
          <a:bodyPr wrap="square" lIns="0" rIns="0" tIns="0" bIns="0" anchor="t">
            <a:spAutoFit/>
          </a:bodyPr>
          <a:lstStyle/>
          <a:p>
            <a:pPr algn="l"/>
            <a:r>
              <a:rPr sz="1299" b="0" i="0" spc="200">
                <a:solidFill>
                  <a:srgbClr val="4A5551"/>
                </a:solidFill>
                <a:latin typeface="Habibi"/>
              </a:rPr>
              <a:t>DEMO · 1 / 5 · LIVE SITE</a:t>
            </a:r>
          </a:p>
        </p:txBody>
      </p:sp>
      <p:sp>
        <p:nvSpPr>
          <p:cNvPr id="3" name="TextBox 2"/>
          <p:cNvSpPr txBox="1"/>
          <p:nvPr/>
        </p:nvSpPr>
        <p:spPr>
          <a:xfrm>
            <a:off x="507987" y="927076"/>
            <a:ext cx="3301917" cy="1269968"/>
          </a:xfrm>
          <a:prstGeom prst="rect">
            <a:avLst/>
          </a:prstGeom>
          <a:noFill/>
        </p:spPr>
        <p:txBody>
          <a:bodyPr wrap="square" lIns="0" rIns="0" tIns="0" bIns="0" anchor="t">
            <a:spAutoFit/>
          </a:bodyPr>
          <a:lstStyle/>
          <a:p>
            <a:pPr algn="l">
              <a:lnSpc>
                <a:spcPct val="112000"/>
              </a:lnSpc>
            </a:pPr>
            <a:r>
              <a:rPr sz="2699" b="1" i="0">
                <a:solidFill>
                  <a:srgbClr val="000F08"/>
                </a:solidFill>
                <a:latin typeface="Roboto Slab"/>
              </a:rPr>
              <a:t>The inventory, built from forwarded receipts</a:t>
            </a:r>
          </a:p>
        </p:txBody>
      </p:sp>
      <p:cxnSp>
        <p:nvCxnSpPr>
          <p:cNvPr id="4" name="Connector 3"/>
          <p:cNvCxnSpPr/>
          <p:nvPr/>
        </p:nvCxnSpPr>
        <p:spPr>
          <a:xfrm>
            <a:off x="507987" y="2412939"/>
            <a:ext cx="3301917" cy="0"/>
          </a:xfrm>
          <a:prstGeom prst="line">
            <a:avLst/>
          </a:prstGeom>
          <a:ln w="12700">
            <a:solidFill>
              <a:srgbClr val="DDD7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7987" y="2539936"/>
            <a:ext cx="3301917" cy="1079473"/>
          </a:xfrm>
          <a:prstGeom prst="rect">
            <a:avLst/>
          </a:prstGeom>
          <a:noFill/>
        </p:spPr>
        <p:txBody>
          <a:bodyPr wrap="square" lIns="0" rIns="0" tIns="0" bIns="0" anchor="t">
            <a:spAutoFit/>
          </a:bodyPr>
          <a:lstStyle/>
          <a:p>
            <a:pPr algn="l">
              <a:lnSpc>
                <a:spcPct val="135000"/>
              </a:lnSpc>
            </a:pPr>
            <a:r>
              <a:rPr sz="1399" b="0" i="0">
                <a:solidFill>
                  <a:srgbClr val="000F08"/>
                </a:solidFill>
                <a:latin typeface="Lora"/>
              </a:rPr>
              <a:t>12 items seeded from real receipts and one VIN. Intake redacts card numbers, then extracts brand, model, UPC, date, retailer and warranty term.</a:t>
            </a:r>
          </a:p>
        </p:txBody>
      </p:sp>
      <p:cxnSp>
        <p:nvCxnSpPr>
          <p:cNvPr id="6" name="Connector 5"/>
          <p:cNvCxnSpPr/>
          <p:nvPr/>
        </p:nvCxnSpPr>
        <p:spPr>
          <a:xfrm>
            <a:off x="507987" y="3682907"/>
            <a:ext cx="3301917" cy="0"/>
          </a:xfrm>
          <a:prstGeom prst="line">
            <a:avLst/>
          </a:prstGeom>
          <a:ln w="12700">
            <a:solidFill>
              <a:srgbClr val="DDD7D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7987" y="3809904"/>
            <a:ext cx="3301917" cy="1079473"/>
          </a:xfrm>
          <a:prstGeom prst="rect">
            <a:avLst/>
          </a:prstGeom>
          <a:noFill/>
        </p:spPr>
        <p:txBody>
          <a:bodyPr wrap="square" lIns="0" rIns="0" tIns="0" bIns="0" anchor="t">
            <a:spAutoFit/>
          </a:bodyPr>
          <a:lstStyle/>
          <a:p>
            <a:pPr algn="l">
              <a:lnSpc>
                <a:spcPct val="135000"/>
              </a:lnSpc>
            </a:pPr>
            <a:r>
              <a:rPr sz="1399" b="0" i="0">
                <a:solidFill>
                  <a:srgbClr val="000F08"/>
                </a:solidFill>
                <a:latin typeface="Lora"/>
              </a:rPr>
              <a:t>UPC 669028116546 on the Walmart receipt equals the UPC in CPSC recall 26530; the purchase date sits inside the sold window.</a:t>
            </a:r>
          </a:p>
        </p:txBody>
      </p:sp>
      <p:cxnSp>
        <p:nvCxnSpPr>
          <p:cNvPr id="8" name="Connector 7"/>
          <p:cNvCxnSpPr/>
          <p:nvPr/>
        </p:nvCxnSpPr>
        <p:spPr>
          <a:xfrm>
            <a:off x="507987" y="4952876"/>
            <a:ext cx="3301917" cy="0"/>
          </a:xfrm>
          <a:prstGeom prst="line">
            <a:avLst/>
          </a:prstGeom>
          <a:ln w="12700">
            <a:solidFill>
              <a:srgbClr val="DDD7D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7987" y="5079873"/>
            <a:ext cx="3301917" cy="1079473"/>
          </a:xfrm>
          <a:prstGeom prst="rect">
            <a:avLst/>
          </a:prstGeom>
          <a:noFill/>
        </p:spPr>
        <p:txBody>
          <a:bodyPr wrap="square" lIns="0" rIns="0" tIns="0" bIns="0" anchor="t">
            <a:spAutoFit/>
          </a:bodyPr>
          <a:lstStyle/>
          <a:p>
            <a:pPr algn="l">
              <a:lnSpc>
                <a:spcPct val="135000"/>
              </a:lnSpc>
            </a:pPr>
            <a:r>
              <a:rPr sz="1399" b="0" i="0">
                <a:solidFill>
                  <a:srgbClr val="000F08"/>
                </a:solidFill>
                <a:latin typeface="Lora"/>
              </a:rPr>
              <a:t>Every item shows its receipt, its warranty window and every recall check it has been through.</a:t>
            </a:r>
          </a:p>
        </p:txBody>
      </p:sp>
      <p:sp>
        <p:nvSpPr>
          <p:cNvPr id="10" name="Rounded Rectangle 9"/>
          <p:cNvSpPr/>
          <p:nvPr/>
        </p:nvSpPr>
        <p:spPr>
          <a:xfrm>
            <a:off x="4178196" y="596885"/>
            <a:ext cx="7518211" cy="4708407"/>
          </a:xfrm>
          <a:prstGeom prst="roundRect">
            <a:avLst>
              <a:gd name="adj" fmla="val 1388"/>
            </a:avLst>
          </a:prstGeom>
          <a:solidFill>
            <a:srgbClr val="FFFFFF"/>
          </a:solidFill>
          <a:ln w="12700">
            <a:solidFill>
              <a:srgbClr val="DDD7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nventory.png"/>
          <p:cNvPicPr>
            <a:picLocks noChangeAspect="1"/>
          </p:cNvPicPr>
          <p:nvPr/>
        </p:nvPicPr>
        <p:blipFill>
          <a:blip r:embed="rId2"/>
          <a:stretch>
            <a:fillRect/>
          </a:stretch>
        </p:blipFill>
        <p:spPr>
          <a:xfrm>
            <a:off x="4190895" y="609584"/>
            <a:ext cx="7492812" cy="468300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507987" y="609584"/>
            <a:ext cx="3301917" cy="253993"/>
          </a:xfrm>
          <a:prstGeom prst="rect">
            <a:avLst/>
          </a:prstGeom>
          <a:noFill/>
        </p:spPr>
        <p:txBody>
          <a:bodyPr wrap="square" lIns="0" rIns="0" tIns="0" bIns="0" anchor="t">
            <a:spAutoFit/>
          </a:bodyPr>
          <a:lstStyle/>
          <a:p>
            <a:pPr algn="l"/>
            <a:r>
              <a:rPr sz="1299" b="0" i="0" spc="200">
                <a:solidFill>
                  <a:srgbClr val="4A5551"/>
                </a:solidFill>
                <a:latin typeface="Habibi"/>
              </a:rPr>
              <a:t>DEMO · 2 / 5 · LIVE SITE</a:t>
            </a:r>
          </a:p>
        </p:txBody>
      </p:sp>
      <p:sp>
        <p:nvSpPr>
          <p:cNvPr id="3" name="TextBox 2"/>
          <p:cNvSpPr txBox="1"/>
          <p:nvPr/>
        </p:nvSpPr>
        <p:spPr>
          <a:xfrm>
            <a:off x="507987" y="927076"/>
            <a:ext cx="3301917" cy="1269968"/>
          </a:xfrm>
          <a:prstGeom prst="rect">
            <a:avLst/>
          </a:prstGeom>
          <a:noFill/>
        </p:spPr>
        <p:txBody>
          <a:bodyPr wrap="square" lIns="0" rIns="0" tIns="0" bIns="0" anchor="t">
            <a:spAutoFit/>
          </a:bodyPr>
          <a:lstStyle/>
          <a:p>
            <a:pPr algn="l">
              <a:lnSpc>
                <a:spcPct val="112000"/>
              </a:lnSpc>
            </a:pPr>
            <a:r>
              <a:rPr sz="2699" b="1" i="0">
                <a:solidFill>
                  <a:srgbClr val="000F08"/>
                </a:solidFill>
                <a:latin typeface="Roboto Slab"/>
              </a:rPr>
              <a:t>The sweep, live, and the run paused on the human gate</a:t>
            </a:r>
          </a:p>
        </p:txBody>
      </p:sp>
      <p:cxnSp>
        <p:nvCxnSpPr>
          <p:cNvPr id="4" name="Connector 3"/>
          <p:cNvCxnSpPr/>
          <p:nvPr/>
        </p:nvCxnSpPr>
        <p:spPr>
          <a:xfrm>
            <a:off x="507987" y="2412939"/>
            <a:ext cx="3301917" cy="0"/>
          </a:xfrm>
          <a:prstGeom prst="line">
            <a:avLst/>
          </a:prstGeom>
          <a:ln w="12700">
            <a:solidFill>
              <a:srgbClr val="DDD7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7987" y="2539936"/>
            <a:ext cx="3301917" cy="1079473"/>
          </a:xfrm>
          <a:prstGeom prst="rect">
            <a:avLst/>
          </a:prstGeom>
          <a:noFill/>
        </p:spPr>
        <p:txBody>
          <a:bodyPr wrap="square" lIns="0" rIns="0" tIns="0" bIns="0" anchor="t">
            <a:spAutoFit/>
          </a:bodyPr>
          <a:lstStyle/>
          <a:p>
            <a:pPr algn="l">
              <a:lnSpc>
                <a:spcPct val="135000"/>
              </a:lnSpc>
            </a:pPr>
            <a:r>
              <a:rPr sz="1399" b="0" i="0">
                <a:solidFill>
                  <a:srgbClr val="000F08"/>
                </a:solidFill>
                <a:latin typeface="Lora"/>
              </a:rPr>
              <a:t>One click starts tonight's sweep. The graph lights up node by node as Strands runs it: feeds, candidates, matcher, triage, verifier.</a:t>
            </a:r>
          </a:p>
        </p:txBody>
      </p:sp>
      <p:cxnSp>
        <p:nvCxnSpPr>
          <p:cNvPr id="6" name="Connector 5"/>
          <p:cNvCxnSpPr/>
          <p:nvPr/>
        </p:nvCxnSpPr>
        <p:spPr>
          <a:xfrm>
            <a:off x="507987" y="3682907"/>
            <a:ext cx="3301917" cy="0"/>
          </a:xfrm>
          <a:prstGeom prst="line">
            <a:avLst/>
          </a:prstGeom>
          <a:ln w="12700">
            <a:solidFill>
              <a:srgbClr val="DDD7D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7987" y="3809904"/>
            <a:ext cx="3301917" cy="1079473"/>
          </a:xfrm>
          <a:prstGeom prst="rect">
            <a:avLst/>
          </a:prstGeom>
          <a:noFill/>
        </p:spPr>
        <p:txBody>
          <a:bodyPr wrap="square" lIns="0" rIns="0" tIns="0" bIns="0" anchor="t">
            <a:spAutoFit/>
          </a:bodyPr>
          <a:lstStyle/>
          <a:p>
            <a:pPr algn="l">
              <a:lnSpc>
                <a:spcPct val="135000"/>
              </a:lnSpc>
            </a:pPr>
            <a:r>
              <a:rPr sz="1399" b="0" i="0">
                <a:solidFill>
                  <a:srgbClr val="000F08"/>
                </a:solidFill>
                <a:latin typeface="Lora"/>
              </a:rPr>
              <a:t>Deterministic code in grey, agents in blue, the verifier in green, the human gate in amber.</a:t>
            </a:r>
          </a:p>
        </p:txBody>
      </p:sp>
      <p:cxnSp>
        <p:nvCxnSpPr>
          <p:cNvPr id="8" name="Connector 7"/>
          <p:cNvCxnSpPr/>
          <p:nvPr/>
        </p:nvCxnSpPr>
        <p:spPr>
          <a:xfrm>
            <a:off x="507987" y="4952876"/>
            <a:ext cx="3301917" cy="0"/>
          </a:xfrm>
          <a:prstGeom prst="line">
            <a:avLst/>
          </a:prstGeom>
          <a:ln w="12700">
            <a:solidFill>
              <a:srgbClr val="DDD7D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7987" y="5079873"/>
            <a:ext cx="3301917" cy="1079473"/>
          </a:xfrm>
          <a:prstGeom prst="rect">
            <a:avLst/>
          </a:prstGeom>
          <a:noFill/>
        </p:spPr>
        <p:txBody>
          <a:bodyPr wrap="square" lIns="0" rIns="0" tIns="0" bIns="0" anchor="t">
            <a:spAutoFit/>
          </a:bodyPr>
          <a:lstStyle/>
          <a:p>
            <a:pPr algn="l">
              <a:lnSpc>
                <a:spcPct val="135000"/>
              </a:lnSpc>
            </a:pPr>
            <a:r>
              <a:rPr sz="1399" b="0" i="0">
                <a:solidFill>
                  <a:srgbClr val="000F08"/>
                </a:solidFill>
                <a:latin typeface="Lora"/>
              </a:rPr>
              <a:t>The run pauses at household_decision. The checkpoint is on disk; nothing downstream runs without an approval record.</a:t>
            </a:r>
          </a:p>
        </p:txBody>
      </p:sp>
      <p:sp>
        <p:nvSpPr>
          <p:cNvPr id="10" name="Rounded Rectangle 9"/>
          <p:cNvSpPr/>
          <p:nvPr/>
        </p:nvSpPr>
        <p:spPr>
          <a:xfrm>
            <a:off x="4178196" y="596885"/>
            <a:ext cx="7518211" cy="4240106"/>
          </a:xfrm>
          <a:prstGeom prst="roundRect">
            <a:avLst>
              <a:gd name="adj" fmla="val 1388"/>
            </a:avLst>
          </a:prstGeom>
          <a:solidFill>
            <a:srgbClr val="FFFFFF"/>
          </a:solidFill>
          <a:ln w="12700">
            <a:solidFill>
              <a:srgbClr val="DDD7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low-paused.png"/>
          <p:cNvPicPr>
            <a:picLocks noChangeAspect="1"/>
          </p:cNvPicPr>
          <p:nvPr/>
        </p:nvPicPr>
        <p:blipFill>
          <a:blip r:embed="rId2"/>
          <a:stretch>
            <a:fillRect/>
          </a:stretch>
        </p:blipFill>
        <p:spPr>
          <a:xfrm>
            <a:off x="4190895" y="609584"/>
            <a:ext cx="7492812" cy="421470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507987" y="609584"/>
            <a:ext cx="3301917" cy="253993"/>
          </a:xfrm>
          <a:prstGeom prst="rect">
            <a:avLst/>
          </a:prstGeom>
          <a:noFill/>
        </p:spPr>
        <p:txBody>
          <a:bodyPr wrap="square" lIns="0" rIns="0" tIns="0" bIns="0" anchor="t">
            <a:spAutoFit/>
          </a:bodyPr>
          <a:lstStyle/>
          <a:p>
            <a:pPr algn="l"/>
            <a:r>
              <a:rPr sz="1299" b="0" i="0" spc="200">
                <a:solidFill>
                  <a:srgbClr val="4A5551"/>
                </a:solidFill>
                <a:latin typeface="Habibi"/>
              </a:rPr>
              <a:t>DEMO · 3 / 5 · LIVE SITE</a:t>
            </a:r>
          </a:p>
        </p:txBody>
      </p:sp>
      <p:sp>
        <p:nvSpPr>
          <p:cNvPr id="3" name="TextBox 2"/>
          <p:cNvSpPr txBox="1"/>
          <p:nvPr/>
        </p:nvSpPr>
        <p:spPr>
          <a:xfrm>
            <a:off x="507987" y="927076"/>
            <a:ext cx="3301917" cy="1269968"/>
          </a:xfrm>
          <a:prstGeom prst="rect">
            <a:avLst/>
          </a:prstGeom>
          <a:noFill/>
        </p:spPr>
        <p:txBody>
          <a:bodyPr wrap="square" lIns="0" rIns="0" tIns="0" bIns="0" anchor="t">
            <a:spAutoFit/>
          </a:bodyPr>
          <a:lstStyle/>
          <a:p>
            <a:pPr algn="l">
              <a:lnSpc>
                <a:spcPct val="112000"/>
              </a:lnSpc>
            </a:pPr>
            <a:r>
              <a:rPr sz="2699" b="1" i="0">
                <a:solidFill>
                  <a:srgbClr val="000F08"/>
                </a:solidFill>
                <a:latin typeface="Roboto Slab"/>
              </a:rPr>
              <a:t>The morning after a sweep</a:t>
            </a:r>
          </a:p>
        </p:txBody>
      </p:sp>
      <p:cxnSp>
        <p:nvCxnSpPr>
          <p:cNvPr id="4" name="Connector 3"/>
          <p:cNvCxnSpPr/>
          <p:nvPr/>
        </p:nvCxnSpPr>
        <p:spPr>
          <a:xfrm>
            <a:off x="507987" y="2412939"/>
            <a:ext cx="3301917" cy="0"/>
          </a:xfrm>
          <a:prstGeom prst="line">
            <a:avLst/>
          </a:prstGeom>
          <a:ln w="12700">
            <a:solidFill>
              <a:srgbClr val="DDD7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7987" y="2539936"/>
            <a:ext cx="3301917" cy="1079473"/>
          </a:xfrm>
          <a:prstGeom prst="rect">
            <a:avLst/>
          </a:prstGeom>
          <a:noFill/>
        </p:spPr>
        <p:txBody>
          <a:bodyPr wrap="square" lIns="0" rIns="0" tIns="0" bIns="0" anchor="t">
            <a:spAutoFit/>
          </a:bodyPr>
          <a:lstStyle/>
          <a:p>
            <a:pPr algn="l">
              <a:lnSpc>
                <a:spcPct val="135000"/>
              </a:lnSpc>
            </a:pPr>
            <a:r>
              <a:rPr sz="1399" b="0" i="0">
                <a:solidFill>
                  <a:srgbClr val="000F08"/>
                </a:solidFill>
                <a:latin typeface="Lora"/>
              </a:rPr>
              <a:t>Quiet score: days since Guardian last needed you. Zero today, because one critical recall matched.</a:t>
            </a:r>
          </a:p>
        </p:txBody>
      </p:sp>
      <p:cxnSp>
        <p:nvCxnSpPr>
          <p:cNvPr id="6" name="Connector 5"/>
          <p:cNvCxnSpPr/>
          <p:nvPr/>
        </p:nvCxnSpPr>
        <p:spPr>
          <a:xfrm>
            <a:off x="507987" y="3682907"/>
            <a:ext cx="3301917" cy="0"/>
          </a:xfrm>
          <a:prstGeom prst="line">
            <a:avLst/>
          </a:prstGeom>
          <a:ln w="12700">
            <a:solidFill>
              <a:srgbClr val="DDD7D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7987" y="3809904"/>
            <a:ext cx="3301917" cy="1079473"/>
          </a:xfrm>
          <a:prstGeom prst="rect">
            <a:avLst/>
          </a:prstGeom>
          <a:noFill/>
        </p:spPr>
        <p:txBody>
          <a:bodyPr wrap="square" lIns="0" rIns="0" tIns="0" bIns="0" anchor="t">
            <a:spAutoFit/>
          </a:bodyPr>
          <a:lstStyle/>
          <a:p>
            <a:pPr algn="l">
              <a:lnSpc>
                <a:spcPct val="135000"/>
              </a:lnSpc>
            </a:pPr>
            <a:r>
              <a:rPr sz="1399" b="0" i="0">
                <a:solidFill>
                  <a:srgbClr val="000F08"/>
                </a:solidFill>
                <a:latin typeface="Lora"/>
              </a:rPr>
              <a:t>Items watched, sweeps run, recalls screened, decisions pending. Everything else ran on its own.</a:t>
            </a:r>
          </a:p>
        </p:txBody>
      </p:sp>
      <p:cxnSp>
        <p:nvCxnSpPr>
          <p:cNvPr id="8" name="Connector 7"/>
          <p:cNvCxnSpPr/>
          <p:nvPr/>
        </p:nvCxnSpPr>
        <p:spPr>
          <a:xfrm>
            <a:off x="507987" y="4952876"/>
            <a:ext cx="3301917" cy="0"/>
          </a:xfrm>
          <a:prstGeom prst="line">
            <a:avLst/>
          </a:prstGeom>
          <a:ln w="12700">
            <a:solidFill>
              <a:srgbClr val="DDD7D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7987" y="5079873"/>
            <a:ext cx="3301917" cy="1079473"/>
          </a:xfrm>
          <a:prstGeom prst="rect">
            <a:avLst/>
          </a:prstGeom>
          <a:noFill/>
        </p:spPr>
        <p:txBody>
          <a:bodyPr wrap="square" lIns="0" rIns="0" tIns="0" bIns="0" anchor="t">
            <a:spAutoFit/>
          </a:bodyPr>
          <a:lstStyle/>
          <a:p>
            <a:pPr algn="l">
              <a:lnSpc>
                <a:spcPct val="135000"/>
              </a:lnSpc>
            </a:pPr>
            <a:r>
              <a:rPr sz="1399" b="0" i="0">
                <a:solidFill>
                  <a:srgbClr val="000F08"/>
                </a:solidFill>
                <a:latin typeface="Lora"/>
              </a:rPr>
              <a:t>The sweep log: triage chose sms_now, and severity_check verified the plan against the keyword pass.</a:t>
            </a:r>
          </a:p>
        </p:txBody>
      </p:sp>
      <p:sp>
        <p:nvSpPr>
          <p:cNvPr id="10" name="Rounded Rectangle 9"/>
          <p:cNvSpPr/>
          <p:nvPr/>
        </p:nvSpPr>
        <p:spPr>
          <a:xfrm>
            <a:off x="4178196" y="596885"/>
            <a:ext cx="7518211" cy="4708407"/>
          </a:xfrm>
          <a:prstGeom prst="roundRect">
            <a:avLst>
              <a:gd name="adj" fmla="val 1388"/>
            </a:avLst>
          </a:prstGeom>
          <a:solidFill>
            <a:srgbClr val="FFFFFF"/>
          </a:solidFill>
          <a:ln w="12700">
            <a:solidFill>
              <a:srgbClr val="DDD7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ome.png"/>
          <p:cNvPicPr>
            <a:picLocks noChangeAspect="1"/>
          </p:cNvPicPr>
          <p:nvPr/>
        </p:nvPicPr>
        <p:blipFill>
          <a:blip r:embed="rId2"/>
          <a:stretch>
            <a:fillRect/>
          </a:stretch>
        </p:blipFill>
        <p:spPr>
          <a:xfrm>
            <a:off x="4190895" y="609584"/>
            <a:ext cx="7492812" cy="468300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507987" y="609584"/>
            <a:ext cx="3301917" cy="253993"/>
          </a:xfrm>
          <a:prstGeom prst="rect">
            <a:avLst/>
          </a:prstGeom>
          <a:noFill/>
        </p:spPr>
        <p:txBody>
          <a:bodyPr wrap="square" lIns="0" rIns="0" tIns="0" bIns="0" anchor="t">
            <a:spAutoFit/>
          </a:bodyPr>
          <a:lstStyle/>
          <a:p>
            <a:pPr algn="l"/>
            <a:r>
              <a:rPr sz="1299" b="0" i="0" spc="200">
                <a:solidFill>
                  <a:srgbClr val="4A5551"/>
                </a:solidFill>
                <a:latin typeface="Habibi"/>
              </a:rPr>
              <a:t>DEMO · 4 / 5 · LIVE SITE</a:t>
            </a:r>
          </a:p>
        </p:txBody>
      </p:sp>
      <p:sp>
        <p:nvSpPr>
          <p:cNvPr id="3" name="TextBox 2"/>
          <p:cNvSpPr txBox="1"/>
          <p:nvPr/>
        </p:nvSpPr>
        <p:spPr>
          <a:xfrm>
            <a:off x="507987" y="927076"/>
            <a:ext cx="3301917" cy="1269968"/>
          </a:xfrm>
          <a:prstGeom prst="rect">
            <a:avLst/>
          </a:prstGeom>
          <a:noFill/>
        </p:spPr>
        <p:txBody>
          <a:bodyPr wrap="square" lIns="0" rIns="0" tIns="0" bIns="0" anchor="t">
            <a:spAutoFit/>
          </a:bodyPr>
          <a:lstStyle/>
          <a:p>
            <a:pPr algn="l">
              <a:lnSpc>
                <a:spcPct val="112000"/>
              </a:lnSpc>
            </a:pPr>
            <a:r>
              <a:rPr sz="2699" b="1" i="0">
                <a:solidFill>
                  <a:srgbClr val="000F08"/>
                </a:solidFill>
                <a:latin typeface="Roboto Slab"/>
              </a:rPr>
              <a:t>One decision, one tap</a:t>
            </a:r>
          </a:p>
        </p:txBody>
      </p:sp>
      <p:cxnSp>
        <p:nvCxnSpPr>
          <p:cNvPr id="4" name="Connector 3"/>
          <p:cNvCxnSpPr/>
          <p:nvPr/>
        </p:nvCxnSpPr>
        <p:spPr>
          <a:xfrm>
            <a:off x="507987" y="2412939"/>
            <a:ext cx="3301917" cy="0"/>
          </a:xfrm>
          <a:prstGeom prst="line">
            <a:avLst/>
          </a:prstGeom>
          <a:ln w="12700">
            <a:solidFill>
              <a:srgbClr val="DDD7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7987" y="2539936"/>
            <a:ext cx="3301917" cy="1079473"/>
          </a:xfrm>
          <a:prstGeom prst="rect">
            <a:avLst/>
          </a:prstGeom>
          <a:noFill/>
        </p:spPr>
        <p:txBody>
          <a:bodyPr wrap="square" lIns="0" rIns="0" tIns="0" bIns="0" anchor="t">
            <a:spAutoFit/>
          </a:bodyPr>
          <a:lstStyle/>
          <a:p>
            <a:pPr algn="l">
              <a:lnSpc>
                <a:spcPct val="135000"/>
              </a:lnSpc>
            </a:pPr>
            <a:r>
              <a:rPr sz="1399" b="0" i="0">
                <a:solidFill>
                  <a:srgbClr val="000F08"/>
                </a:solidFill>
                <a:latin typeface="Lora"/>
              </a:rPr>
              <a:t>The same card the phone points to: a real CPSC recall, surfaced tonight, expiring in 72 hours.</a:t>
            </a:r>
          </a:p>
        </p:txBody>
      </p:sp>
      <p:cxnSp>
        <p:nvCxnSpPr>
          <p:cNvPr id="6" name="Connector 5"/>
          <p:cNvCxnSpPr/>
          <p:nvPr/>
        </p:nvCxnSpPr>
        <p:spPr>
          <a:xfrm>
            <a:off x="507987" y="3682907"/>
            <a:ext cx="3301917" cy="0"/>
          </a:xfrm>
          <a:prstGeom prst="line">
            <a:avLst/>
          </a:prstGeom>
          <a:ln w="12700">
            <a:solidFill>
              <a:srgbClr val="DDD7D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7987" y="3809904"/>
            <a:ext cx="3301917" cy="1079473"/>
          </a:xfrm>
          <a:prstGeom prst="rect">
            <a:avLst/>
          </a:prstGeom>
          <a:noFill/>
        </p:spPr>
        <p:txBody>
          <a:bodyPr wrap="square" lIns="0" rIns="0" tIns="0" bIns="0" anchor="t">
            <a:spAutoFit/>
          </a:bodyPr>
          <a:lstStyle/>
          <a:p>
            <a:pPr algn="l">
              <a:lnSpc>
                <a:spcPct val="135000"/>
              </a:lnSpc>
            </a:pPr>
            <a:r>
              <a:rPr sz="1399" b="0" i="0">
                <a:solidFill>
                  <a:srgbClr val="000F08"/>
                </a:solidFill>
                <a:latin typeface="Lora"/>
              </a:rPr>
              <a:t>The rationale is one click away: which key matched, or how the model adjudicated the pair and at what confidence.</a:t>
            </a:r>
          </a:p>
        </p:txBody>
      </p:sp>
      <p:cxnSp>
        <p:nvCxnSpPr>
          <p:cNvPr id="8" name="Connector 7"/>
          <p:cNvCxnSpPr/>
          <p:nvPr/>
        </p:nvCxnSpPr>
        <p:spPr>
          <a:xfrm>
            <a:off x="507987" y="4952876"/>
            <a:ext cx="3301917" cy="0"/>
          </a:xfrm>
          <a:prstGeom prst="line">
            <a:avLst/>
          </a:prstGeom>
          <a:ln w="12700">
            <a:solidFill>
              <a:srgbClr val="DDD7D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7987" y="5079873"/>
            <a:ext cx="3301917" cy="1079473"/>
          </a:xfrm>
          <a:prstGeom prst="rect">
            <a:avLst/>
          </a:prstGeom>
          <a:noFill/>
        </p:spPr>
        <p:txBody>
          <a:bodyPr wrap="square" lIns="0" rIns="0" tIns="0" bIns="0" anchor="t">
            <a:spAutoFit/>
          </a:bodyPr>
          <a:lstStyle/>
          <a:p>
            <a:pPr algn="l">
              <a:lnSpc>
                <a:spcPct val="135000"/>
              </a:lnSpc>
            </a:pPr>
            <a:r>
              <a:rPr sz="1399" b="0" i="0">
                <a:solidFill>
                  <a:srgbClr val="000F08"/>
                </a:solidFill>
                <a:latin typeface="Lora"/>
              </a:rPr>
              <a:t>Request the remedy · No longer own it · Not mine · Ask me tomorrow. One tap, then the agent finishes the job.</a:t>
            </a:r>
          </a:p>
        </p:txBody>
      </p:sp>
      <p:sp>
        <p:nvSpPr>
          <p:cNvPr id="10" name="Rounded Rectangle 9"/>
          <p:cNvSpPr/>
          <p:nvPr/>
        </p:nvSpPr>
        <p:spPr>
          <a:xfrm>
            <a:off x="4178196" y="596885"/>
            <a:ext cx="7518211" cy="4708407"/>
          </a:xfrm>
          <a:prstGeom prst="roundRect">
            <a:avLst>
              <a:gd name="adj" fmla="val 1388"/>
            </a:avLst>
          </a:prstGeom>
          <a:solidFill>
            <a:srgbClr val="FFFFFF"/>
          </a:solidFill>
          <a:ln w="12700">
            <a:solidFill>
              <a:srgbClr val="DDD7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ecisions.png"/>
          <p:cNvPicPr>
            <a:picLocks noChangeAspect="1"/>
          </p:cNvPicPr>
          <p:nvPr/>
        </p:nvPicPr>
        <p:blipFill>
          <a:blip r:embed="rId2"/>
          <a:stretch>
            <a:fillRect/>
          </a:stretch>
        </p:blipFill>
        <p:spPr>
          <a:xfrm>
            <a:off x="4190895" y="609584"/>
            <a:ext cx="7492812" cy="468300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F3"/>
        </a:solidFill>
        <a:effectLst/>
      </p:bgPr>
    </p:bg>
    <p:spTree>
      <p:nvGrpSpPr>
        <p:cNvPr id="1" name=""/>
        <p:cNvGrpSpPr/>
        <p:nvPr/>
      </p:nvGrpSpPr>
      <p:grpSpPr/>
      <p:sp>
        <p:nvSpPr>
          <p:cNvPr id="2" name="TextBox 1"/>
          <p:cNvSpPr txBox="1"/>
          <p:nvPr/>
        </p:nvSpPr>
        <p:spPr>
          <a:xfrm>
            <a:off x="507987" y="609584"/>
            <a:ext cx="3301917" cy="253993"/>
          </a:xfrm>
          <a:prstGeom prst="rect">
            <a:avLst/>
          </a:prstGeom>
          <a:noFill/>
        </p:spPr>
        <p:txBody>
          <a:bodyPr wrap="square" lIns="0" rIns="0" tIns="0" bIns="0" anchor="t">
            <a:spAutoFit/>
          </a:bodyPr>
          <a:lstStyle/>
          <a:p>
            <a:pPr algn="l"/>
            <a:r>
              <a:rPr sz="1299" b="0" i="0" spc="200">
                <a:solidFill>
                  <a:srgbClr val="4A5551"/>
                </a:solidFill>
                <a:latin typeface="Habibi"/>
              </a:rPr>
              <a:t>DEMO · 5 / 5 · LIVE SITE</a:t>
            </a:r>
          </a:p>
        </p:txBody>
      </p:sp>
      <p:sp>
        <p:nvSpPr>
          <p:cNvPr id="3" name="TextBox 2"/>
          <p:cNvSpPr txBox="1"/>
          <p:nvPr/>
        </p:nvSpPr>
        <p:spPr>
          <a:xfrm>
            <a:off x="507987" y="927076"/>
            <a:ext cx="3301917" cy="1269968"/>
          </a:xfrm>
          <a:prstGeom prst="rect">
            <a:avLst/>
          </a:prstGeom>
          <a:noFill/>
        </p:spPr>
        <p:txBody>
          <a:bodyPr wrap="square" lIns="0" rIns="0" tIns="0" bIns="0" anchor="t">
            <a:spAutoFit/>
          </a:bodyPr>
          <a:lstStyle/>
          <a:p>
            <a:pPr algn="l">
              <a:lnSpc>
                <a:spcPct val="112000"/>
              </a:lnSpc>
            </a:pPr>
            <a:r>
              <a:rPr sz="2699" b="1" i="0">
                <a:solidFill>
                  <a:srgbClr val="000F08"/>
                </a:solidFill>
                <a:latin typeface="Roboto Slab"/>
              </a:rPr>
              <a:t>Every sweep is logged</a:t>
            </a:r>
          </a:p>
        </p:txBody>
      </p:sp>
      <p:cxnSp>
        <p:nvCxnSpPr>
          <p:cNvPr id="4" name="Connector 3"/>
          <p:cNvCxnSpPr/>
          <p:nvPr/>
        </p:nvCxnSpPr>
        <p:spPr>
          <a:xfrm>
            <a:off x="507987" y="2412939"/>
            <a:ext cx="3301917" cy="0"/>
          </a:xfrm>
          <a:prstGeom prst="line">
            <a:avLst/>
          </a:prstGeom>
          <a:ln w="12700">
            <a:solidFill>
              <a:srgbClr val="DDD7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7987" y="2539936"/>
            <a:ext cx="3301917" cy="1079473"/>
          </a:xfrm>
          <a:prstGeom prst="rect">
            <a:avLst/>
          </a:prstGeom>
          <a:noFill/>
        </p:spPr>
        <p:txBody>
          <a:bodyPr wrap="square" lIns="0" rIns="0" tIns="0" bIns="0" anchor="t">
            <a:spAutoFit/>
          </a:bodyPr>
          <a:lstStyle/>
          <a:p>
            <a:pPr algn="l">
              <a:lnSpc>
                <a:spcPct val="135000"/>
              </a:lnSpc>
            </a:pPr>
            <a:r>
              <a:rPr sz="1399" b="0" i="0">
                <a:solidFill>
                  <a:srgbClr val="000F08"/>
                </a:solidFill>
                <a:latin typeface="Lora"/>
              </a:rPr>
              <a:t>After the approval, the run completes: remedy drafted and sent, the follow-up scheduled. The timeline shows the human wait as its own bar.</a:t>
            </a:r>
          </a:p>
        </p:txBody>
      </p:sp>
      <p:cxnSp>
        <p:nvCxnSpPr>
          <p:cNvPr id="6" name="Connector 5"/>
          <p:cNvCxnSpPr/>
          <p:nvPr/>
        </p:nvCxnSpPr>
        <p:spPr>
          <a:xfrm>
            <a:off x="507987" y="3682907"/>
            <a:ext cx="3301917" cy="0"/>
          </a:xfrm>
          <a:prstGeom prst="line">
            <a:avLst/>
          </a:prstGeom>
          <a:ln w="12700">
            <a:solidFill>
              <a:srgbClr val="DDD7D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7987" y="3809904"/>
            <a:ext cx="3301917" cy="1079473"/>
          </a:xfrm>
          <a:prstGeom prst="rect">
            <a:avLst/>
          </a:prstGeom>
          <a:noFill/>
        </p:spPr>
        <p:txBody>
          <a:bodyPr wrap="square" lIns="0" rIns="0" tIns="0" bIns="0" anchor="t">
            <a:spAutoFit/>
          </a:bodyPr>
          <a:lstStyle/>
          <a:p>
            <a:pPr algn="l">
              <a:lnSpc>
                <a:spcPct val="135000"/>
              </a:lnSpc>
            </a:pPr>
            <a:r>
              <a:rPr sz="1399" b="0" i="0">
                <a:solidFill>
                  <a:srgbClr val="000F08"/>
                </a:solidFill>
                <a:latin typeface="Lora"/>
              </a:rPr>
              <a:t>The activity log keeps every sweep, including the ones that found nothing. Three NHTSA campaigns went to the weekly digest with no interruption.</a:t>
            </a:r>
          </a:p>
        </p:txBody>
      </p:sp>
      <p:cxnSp>
        <p:nvCxnSpPr>
          <p:cNvPr id="8" name="Connector 7"/>
          <p:cNvCxnSpPr/>
          <p:nvPr/>
        </p:nvCxnSpPr>
        <p:spPr>
          <a:xfrm>
            <a:off x="507987" y="4952876"/>
            <a:ext cx="3301917" cy="0"/>
          </a:xfrm>
          <a:prstGeom prst="line">
            <a:avLst/>
          </a:prstGeom>
          <a:ln w="12700">
            <a:solidFill>
              <a:srgbClr val="DDD7D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7987" y="5079873"/>
            <a:ext cx="3301917" cy="1079473"/>
          </a:xfrm>
          <a:prstGeom prst="rect">
            <a:avLst/>
          </a:prstGeom>
          <a:noFill/>
        </p:spPr>
        <p:txBody>
          <a:bodyPr wrap="square" lIns="0" rIns="0" tIns="0" bIns="0" anchor="t">
            <a:spAutoFit/>
          </a:bodyPr>
          <a:lstStyle/>
          <a:p>
            <a:pPr algn="l">
              <a:lnSpc>
                <a:spcPct val="135000"/>
              </a:lnSpc>
            </a:pPr>
            <a:r>
              <a:rPr sz="1399" b="0" i="0">
                <a:solidFill>
                  <a:srgbClr val="000F08"/>
                </a:solidFill>
                <a:latin typeface="Lora"/>
              </a:rPr>
              <a:t>This is the proof that the agent worked while nobody watched.</a:t>
            </a:r>
          </a:p>
        </p:txBody>
      </p:sp>
      <p:sp>
        <p:nvSpPr>
          <p:cNvPr id="10" name="Rounded Rectangle 9"/>
          <p:cNvSpPr/>
          <p:nvPr/>
        </p:nvSpPr>
        <p:spPr>
          <a:xfrm>
            <a:off x="4178196" y="596885"/>
            <a:ext cx="7518211" cy="4708407"/>
          </a:xfrm>
          <a:prstGeom prst="roundRect">
            <a:avLst>
              <a:gd name="adj" fmla="val 1388"/>
            </a:avLst>
          </a:prstGeom>
          <a:solidFill>
            <a:srgbClr val="FFFFFF"/>
          </a:solidFill>
          <a:ln w="12700">
            <a:solidFill>
              <a:srgbClr val="DDD7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ctivity.png"/>
          <p:cNvPicPr>
            <a:picLocks noChangeAspect="1"/>
          </p:cNvPicPr>
          <p:nvPr/>
        </p:nvPicPr>
        <p:blipFill>
          <a:blip r:embed="rId2"/>
          <a:stretch>
            <a:fillRect/>
          </a:stretch>
        </p:blipFill>
        <p:spPr>
          <a:xfrm>
            <a:off x="4190895" y="609584"/>
            <a:ext cx="7492812" cy="468300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F08"/>
        </a:solidFill>
        <a:effectLst/>
      </p:bgPr>
    </p:bg>
    <p:spTree>
      <p:nvGrpSpPr>
        <p:cNvPr id="1" name=""/>
        <p:cNvGrpSpPr/>
        <p:nvPr/>
      </p:nvGrpSpPr>
      <p:grpSpPr/>
      <p:sp>
        <p:nvSpPr>
          <p:cNvPr id="2" name="TextBox 1"/>
          <p:cNvSpPr txBox="1"/>
          <p:nvPr/>
        </p:nvSpPr>
        <p:spPr>
          <a:xfrm>
            <a:off x="698482" y="609584"/>
            <a:ext cx="7619809" cy="253993"/>
          </a:xfrm>
          <a:prstGeom prst="rect">
            <a:avLst/>
          </a:prstGeom>
          <a:noFill/>
        </p:spPr>
        <p:txBody>
          <a:bodyPr wrap="square" lIns="0" rIns="0" tIns="0" bIns="0" anchor="t">
            <a:spAutoFit/>
          </a:bodyPr>
          <a:lstStyle/>
          <a:p>
            <a:pPr algn="l"/>
            <a:r>
              <a:rPr sz="1299" b="0" i="0" spc="200">
                <a:solidFill>
                  <a:srgbClr val="FCBA04"/>
                </a:solidFill>
                <a:latin typeface="Habibi"/>
              </a:rPr>
              <a:t>HOW IT WORKS</a:t>
            </a:r>
          </a:p>
        </p:txBody>
      </p:sp>
      <p:sp>
        <p:nvSpPr>
          <p:cNvPr id="3" name="TextBox 2"/>
          <p:cNvSpPr txBox="1"/>
          <p:nvPr/>
        </p:nvSpPr>
        <p:spPr>
          <a:xfrm>
            <a:off x="698482" y="927076"/>
            <a:ext cx="10159746" cy="571485"/>
          </a:xfrm>
          <a:prstGeom prst="rect">
            <a:avLst/>
          </a:prstGeom>
          <a:noFill/>
        </p:spPr>
        <p:txBody>
          <a:bodyPr wrap="square" lIns="0" rIns="0" tIns="0" bIns="0" anchor="t">
            <a:spAutoFit/>
          </a:bodyPr>
          <a:lstStyle/>
          <a:p>
            <a:pPr algn="l">
              <a:lnSpc>
                <a:spcPct val="110000"/>
              </a:lnSpc>
            </a:pPr>
            <a:r>
              <a:rPr sz="3199" b="1" i="0">
                <a:solidFill>
                  <a:srgbClr val="F7F4F3"/>
                </a:solidFill>
                <a:latin typeface="Roboto Slab"/>
              </a:rPr>
              <a:t>The nightly sweep: 13 nodes on Strands Agents</a:t>
            </a:r>
          </a:p>
        </p:txBody>
      </p:sp>
      <p:sp>
        <p:nvSpPr>
          <p:cNvPr id="4" name="Rounded Rectangle 3"/>
          <p:cNvSpPr/>
          <p:nvPr/>
        </p:nvSpPr>
        <p:spPr>
          <a:xfrm>
            <a:off x="698482" y="2012899"/>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98482" y="2050998"/>
            <a:ext cx="38099" cy="533386"/>
          </a:xfrm>
          <a:prstGeom prst="rect">
            <a:avLst/>
          </a:prstGeom>
          <a:solidFill>
            <a:srgbClr val="B9C3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779" y="2101797"/>
            <a:ext cx="1485862" cy="228594"/>
          </a:xfrm>
          <a:prstGeom prst="rect">
            <a:avLst/>
          </a:prstGeom>
          <a:noFill/>
        </p:spPr>
        <p:txBody>
          <a:bodyPr wrap="square" lIns="0" rIns="0" tIns="0" bIns="0" anchor="t">
            <a:spAutoFit/>
          </a:bodyPr>
          <a:lstStyle/>
          <a:p>
            <a:pPr algn="l"/>
            <a:r>
              <a:rPr sz="1149" b="1" i="0">
                <a:solidFill>
                  <a:srgbClr val="F7F4F3"/>
                </a:solidFill>
                <a:latin typeface="Roboto Slab"/>
              </a:rPr>
              <a:t>feeds_refresh</a:t>
            </a:r>
          </a:p>
        </p:txBody>
      </p:sp>
      <p:sp>
        <p:nvSpPr>
          <p:cNvPr id="7" name="TextBox 6"/>
          <p:cNvSpPr txBox="1"/>
          <p:nvPr/>
        </p:nvSpPr>
        <p:spPr>
          <a:xfrm>
            <a:off x="812779" y="2355791"/>
            <a:ext cx="1485862" cy="190495"/>
          </a:xfrm>
          <a:prstGeom prst="rect">
            <a:avLst/>
          </a:prstGeom>
          <a:noFill/>
        </p:spPr>
        <p:txBody>
          <a:bodyPr wrap="square" lIns="0" rIns="0" tIns="0" bIns="0" anchor="t">
            <a:spAutoFit/>
          </a:bodyPr>
          <a:lstStyle/>
          <a:p>
            <a:pPr algn="l"/>
            <a:r>
              <a:rPr sz="999" b="0" i="0" spc="100">
                <a:solidFill>
                  <a:srgbClr val="B9C3BD"/>
                </a:solidFill>
                <a:latin typeface="Habibi"/>
              </a:rPr>
              <a:t>CODE</a:t>
            </a:r>
          </a:p>
        </p:txBody>
      </p:sp>
      <p:sp>
        <p:nvSpPr>
          <p:cNvPr id="8" name="Rounded Rectangle 7"/>
          <p:cNvSpPr/>
          <p:nvPr/>
        </p:nvSpPr>
        <p:spPr>
          <a:xfrm>
            <a:off x="698482" y="2711382"/>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8482" y="2749481"/>
            <a:ext cx="38099" cy="533386"/>
          </a:xfrm>
          <a:prstGeom prst="rect">
            <a:avLst/>
          </a:prstGeom>
          <a:solidFill>
            <a:srgbClr val="B9C3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779" y="2800279"/>
            <a:ext cx="1485862" cy="228594"/>
          </a:xfrm>
          <a:prstGeom prst="rect">
            <a:avLst/>
          </a:prstGeom>
          <a:noFill/>
        </p:spPr>
        <p:txBody>
          <a:bodyPr wrap="square" lIns="0" rIns="0" tIns="0" bIns="0" anchor="t">
            <a:spAutoFit/>
          </a:bodyPr>
          <a:lstStyle/>
          <a:p>
            <a:pPr algn="l"/>
            <a:r>
              <a:rPr sz="1299" b="1" i="0">
                <a:solidFill>
                  <a:srgbClr val="F7F4F3"/>
                </a:solidFill>
                <a:latin typeface="Roboto Slab"/>
              </a:rPr>
              <a:t>expiry_scan</a:t>
            </a:r>
          </a:p>
        </p:txBody>
      </p:sp>
      <p:sp>
        <p:nvSpPr>
          <p:cNvPr id="11" name="TextBox 10"/>
          <p:cNvSpPr txBox="1"/>
          <p:nvPr/>
        </p:nvSpPr>
        <p:spPr>
          <a:xfrm>
            <a:off x="812779" y="3054273"/>
            <a:ext cx="1485862" cy="190495"/>
          </a:xfrm>
          <a:prstGeom prst="rect">
            <a:avLst/>
          </a:prstGeom>
          <a:noFill/>
        </p:spPr>
        <p:txBody>
          <a:bodyPr wrap="square" lIns="0" rIns="0" tIns="0" bIns="0" anchor="t">
            <a:spAutoFit/>
          </a:bodyPr>
          <a:lstStyle/>
          <a:p>
            <a:pPr algn="l"/>
            <a:r>
              <a:rPr sz="999" b="0" i="0" spc="100">
                <a:solidFill>
                  <a:srgbClr val="B9C3BD"/>
                </a:solidFill>
                <a:latin typeface="Habibi"/>
              </a:rPr>
              <a:t>CODE</a:t>
            </a:r>
          </a:p>
        </p:txBody>
      </p:sp>
      <p:cxnSp>
        <p:nvCxnSpPr>
          <p:cNvPr id="12" name="Connector 11"/>
          <p:cNvCxnSpPr/>
          <p:nvPr/>
        </p:nvCxnSpPr>
        <p:spPr>
          <a:xfrm>
            <a:off x="2336741" y="2666933"/>
            <a:ext cx="2793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13" name="Isosceles Triangle 12"/>
          <p:cNvSpPr/>
          <p:nvPr/>
        </p:nvSpPr>
        <p:spPr>
          <a:xfrm rot="5400000">
            <a:off x="2552636" y="2622484"/>
            <a:ext cx="6984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616134" y="2012899"/>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6134" y="2050998"/>
            <a:ext cx="38099" cy="533386"/>
          </a:xfrm>
          <a:prstGeom prst="rect">
            <a:avLst/>
          </a:prstGeom>
          <a:solidFill>
            <a:srgbClr val="B9C3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30431" y="2101797"/>
            <a:ext cx="1485862" cy="228594"/>
          </a:xfrm>
          <a:prstGeom prst="rect">
            <a:avLst/>
          </a:prstGeom>
          <a:noFill/>
        </p:spPr>
        <p:txBody>
          <a:bodyPr wrap="square" lIns="0" rIns="0" tIns="0" bIns="0" anchor="t">
            <a:spAutoFit/>
          </a:bodyPr>
          <a:lstStyle/>
          <a:p>
            <a:pPr algn="l"/>
            <a:r>
              <a:rPr sz="1149" b="1" i="0">
                <a:solidFill>
                  <a:srgbClr val="F7F4F3"/>
                </a:solidFill>
                <a:latin typeface="Roboto Slab"/>
              </a:rPr>
              <a:t>candidate_gen</a:t>
            </a:r>
          </a:p>
        </p:txBody>
      </p:sp>
      <p:sp>
        <p:nvSpPr>
          <p:cNvPr id="17" name="TextBox 16"/>
          <p:cNvSpPr txBox="1"/>
          <p:nvPr/>
        </p:nvSpPr>
        <p:spPr>
          <a:xfrm>
            <a:off x="2730431" y="2355791"/>
            <a:ext cx="1485862" cy="190495"/>
          </a:xfrm>
          <a:prstGeom prst="rect">
            <a:avLst/>
          </a:prstGeom>
          <a:noFill/>
        </p:spPr>
        <p:txBody>
          <a:bodyPr wrap="square" lIns="0" rIns="0" tIns="0" bIns="0" anchor="t">
            <a:spAutoFit/>
          </a:bodyPr>
          <a:lstStyle/>
          <a:p>
            <a:pPr algn="l"/>
            <a:r>
              <a:rPr sz="849" b="0" i="0" spc="100">
                <a:solidFill>
                  <a:srgbClr val="B9C3BD"/>
                </a:solidFill>
                <a:latin typeface="Habibi"/>
              </a:rPr>
              <a:t>CODE · STAGES 1–3</a:t>
            </a:r>
          </a:p>
        </p:txBody>
      </p:sp>
      <p:sp>
        <p:nvSpPr>
          <p:cNvPr id="18" name="Rounded Rectangle 17"/>
          <p:cNvSpPr/>
          <p:nvPr/>
        </p:nvSpPr>
        <p:spPr>
          <a:xfrm>
            <a:off x="2616134" y="2711382"/>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16134" y="2749481"/>
            <a:ext cx="38099" cy="533386"/>
          </a:xfrm>
          <a:prstGeom prst="rect">
            <a:avLst/>
          </a:prstGeom>
          <a:solidFill>
            <a:srgbClr val="6FB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30431" y="2800279"/>
            <a:ext cx="1485862" cy="228594"/>
          </a:xfrm>
          <a:prstGeom prst="rect">
            <a:avLst/>
          </a:prstGeom>
          <a:noFill/>
        </p:spPr>
        <p:txBody>
          <a:bodyPr wrap="square" lIns="0" rIns="0" tIns="0" bIns="0" anchor="t">
            <a:spAutoFit/>
          </a:bodyPr>
          <a:lstStyle/>
          <a:p>
            <a:pPr algn="l"/>
            <a:r>
              <a:rPr sz="1299" b="1" i="0">
                <a:solidFill>
                  <a:srgbClr val="F7F4F3"/>
                </a:solidFill>
                <a:latin typeface="Roboto Slab"/>
              </a:rPr>
              <a:t>warranty</a:t>
            </a:r>
          </a:p>
        </p:txBody>
      </p:sp>
      <p:sp>
        <p:nvSpPr>
          <p:cNvPr id="21" name="TextBox 20"/>
          <p:cNvSpPr txBox="1"/>
          <p:nvPr/>
        </p:nvSpPr>
        <p:spPr>
          <a:xfrm>
            <a:off x="2730431" y="3054273"/>
            <a:ext cx="1485862" cy="190495"/>
          </a:xfrm>
          <a:prstGeom prst="rect">
            <a:avLst/>
          </a:prstGeom>
          <a:noFill/>
        </p:spPr>
        <p:txBody>
          <a:bodyPr wrap="square" lIns="0" rIns="0" tIns="0" bIns="0" anchor="t">
            <a:spAutoFit/>
          </a:bodyPr>
          <a:lstStyle/>
          <a:p>
            <a:pPr algn="l"/>
            <a:r>
              <a:rPr sz="999" b="0" i="0" spc="100">
                <a:solidFill>
                  <a:srgbClr val="6FB3E3"/>
                </a:solidFill>
                <a:latin typeface="Habibi"/>
              </a:rPr>
              <a:t>AGENT · MAP</a:t>
            </a:r>
          </a:p>
        </p:txBody>
      </p:sp>
      <p:cxnSp>
        <p:nvCxnSpPr>
          <p:cNvPr id="22" name="Connector 21"/>
          <p:cNvCxnSpPr/>
          <p:nvPr/>
        </p:nvCxnSpPr>
        <p:spPr>
          <a:xfrm>
            <a:off x="4254393" y="2666933"/>
            <a:ext cx="2793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4470288" y="2622484"/>
            <a:ext cx="6984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533786" y="2362140"/>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33786" y="2400239"/>
            <a:ext cx="38099" cy="533386"/>
          </a:xfrm>
          <a:prstGeom prst="rect">
            <a:avLst/>
          </a:prstGeom>
          <a:solidFill>
            <a:srgbClr val="6FB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48083" y="2451038"/>
            <a:ext cx="1485862" cy="228594"/>
          </a:xfrm>
          <a:prstGeom prst="rect">
            <a:avLst/>
          </a:prstGeom>
          <a:noFill/>
        </p:spPr>
        <p:txBody>
          <a:bodyPr wrap="square" lIns="0" rIns="0" tIns="0" bIns="0" anchor="t">
            <a:spAutoFit/>
          </a:bodyPr>
          <a:lstStyle/>
          <a:p>
            <a:pPr algn="l"/>
            <a:r>
              <a:rPr sz="1299" b="1" i="0">
                <a:solidFill>
                  <a:srgbClr val="F7F4F3"/>
                </a:solidFill>
                <a:latin typeface="Roboto Slab"/>
              </a:rPr>
              <a:t>matcher</a:t>
            </a:r>
          </a:p>
        </p:txBody>
      </p:sp>
      <p:sp>
        <p:nvSpPr>
          <p:cNvPr id="27" name="TextBox 26"/>
          <p:cNvSpPr txBox="1"/>
          <p:nvPr/>
        </p:nvSpPr>
        <p:spPr>
          <a:xfrm>
            <a:off x="4648083" y="2705032"/>
            <a:ext cx="1485862" cy="190495"/>
          </a:xfrm>
          <a:prstGeom prst="rect">
            <a:avLst/>
          </a:prstGeom>
          <a:noFill/>
        </p:spPr>
        <p:txBody>
          <a:bodyPr wrap="square" lIns="0" rIns="0" tIns="0" bIns="0" anchor="t">
            <a:spAutoFit/>
          </a:bodyPr>
          <a:lstStyle/>
          <a:p>
            <a:pPr algn="l"/>
            <a:r>
              <a:rPr sz="999" b="0" i="0" spc="100">
                <a:solidFill>
                  <a:srgbClr val="6FB3E3"/>
                </a:solidFill>
                <a:latin typeface="Habibi"/>
              </a:rPr>
              <a:t>AGENT · MAP</a:t>
            </a:r>
          </a:p>
        </p:txBody>
      </p:sp>
      <p:cxnSp>
        <p:nvCxnSpPr>
          <p:cNvPr id="28" name="Connector 27"/>
          <p:cNvCxnSpPr/>
          <p:nvPr/>
        </p:nvCxnSpPr>
        <p:spPr>
          <a:xfrm>
            <a:off x="6172045" y="2666933"/>
            <a:ext cx="2793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5400000">
            <a:off x="6387940" y="2622484"/>
            <a:ext cx="6984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451438" y="2362140"/>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51438" y="2400239"/>
            <a:ext cx="38099" cy="533386"/>
          </a:xfrm>
          <a:prstGeom prst="rect">
            <a:avLst/>
          </a:prstGeom>
          <a:solidFill>
            <a:srgbClr val="B9C3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65735" y="2451038"/>
            <a:ext cx="1485862" cy="228594"/>
          </a:xfrm>
          <a:prstGeom prst="rect">
            <a:avLst/>
          </a:prstGeom>
          <a:noFill/>
        </p:spPr>
        <p:txBody>
          <a:bodyPr wrap="square" lIns="0" rIns="0" tIns="0" bIns="0" anchor="t">
            <a:spAutoFit/>
          </a:bodyPr>
          <a:lstStyle/>
          <a:p>
            <a:pPr algn="l"/>
            <a:r>
              <a:rPr sz="1299" b="1" i="0">
                <a:solidFill>
                  <a:srgbClr val="F7F4F3"/>
                </a:solidFill>
                <a:latin typeface="Roboto Slab"/>
              </a:rPr>
              <a:t>verdicts</a:t>
            </a:r>
          </a:p>
        </p:txBody>
      </p:sp>
      <p:sp>
        <p:nvSpPr>
          <p:cNvPr id="33" name="TextBox 32"/>
          <p:cNvSpPr txBox="1"/>
          <p:nvPr/>
        </p:nvSpPr>
        <p:spPr>
          <a:xfrm>
            <a:off x="6565735" y="2705032"/>
            <a:ext cx="1485862" cy="190495"/>
          </a:xfrm>
          <a:prstGeom prst="rect">
            <a:avLst/>
          </a:prstGeom>
          <a:noFill/>
        </p:spPr>
        <p:txBody>
          <a:bodyPr wrap="square" lIns="0" rIns="0" tIns="0" bIns="0" anchor="t">
            <a:spAutoFit/>
          </a:bodyPr>
          <a:lstStyle/>
          <a:p>
            <a:pPr algn="l"/>
            <a:r>
              <a:rPr sz="999" b="0" i="0" spc="100">
                <a:solidFill>
                  <a:srgbClr val="B9C3BD"/>
                </a:solidFill>
                <a:latin typeface="Habibi"/>
              </a:rPr>
              <a:t>CODE</a:t>
            </a:r>
          </a:p>
        </p:txBody>
      </p:sp>
      <p:cxnSp>
        <p:nvCxnSpPr>
          <p:cNvPr id="34" name="Connector 33"/>
          <p:cNvCxnSpPr/>
          <p:nvPr/>
        </p:nvCxnSpPr>
        <p:spPr>
          <a:xfrm>
            <a:off x="8089697" y="2666933"/>
            <a:ext cx="2793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35" name="Isosceles Triangle 34"/>
          <p:cNvSpPr/>
          <p:nvPr/>
        </p:nvSpPr>
        <p:spPr>
          <a:xfrm rot="5400000">
            <a:off x="8305592" y="2622484"/>
            <a:ext cx="6984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369090" y="2362140"/>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69090" y="2400239"/>
            <a:ext cx="38099" cy="533386"/>
          </a:xfrm>
          <a:prstGeom prst="rect">
            <a:avLst/>
          </a:prstGeom>
          <a:solidFill>
            <a:srgbClr val="6FB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83387" y="2451038"/>
            <a:ext cx="1485862" cy="228594"/>
          </a:xfrm>
          <a:prstGeom prst="rect">
            <a:avLst/>
          </a:prstGeom>
          <a:noFill/>
        </p:spPr>
        <p:txBody>
          <a:bodyPr wrap="square" lIns="0" rIns="0" tIns="0" bIns="0" anchor="t">
            <a:spAutoFit/>
          </a:bodyPr>
          <a:lstStyle/>
          <a:p>
            <a:pPr algn="l"/>
            <a:r>
              <a:rPr sz="1299" b="1" i="0">
                <a:solidFill>
                  <a:srgbClr val="F7F4F3"/>
                </a:solidFill>
                <a:latin typeface="Roboto Slab"/>
              </a:rPr>
              <a:t>triage</a:t>
            </a:r>
          </a:p>
        </p:txBody>
      </p:sp>
      <p:sp>
        <p:nvSpPr>
          <p:cNvPr id="39" name="TextBox 38"/>
          <p:cNvSpPr txBox="1"/>
          <p:nvPr/>
        </p:nvSpPr>
        <p:spPr>
          <a:xfrm>
            <a:off x="8483387" y="2705032"/>
            <a:ext cx="1485862" cy="190495"/>
          </a:xfrm>
          <a:prstGeom prst="rect">
            <a:avLst/>
          </a:prstGeom>
          <a:noFill/>
        </p:spPr>
        <p:txBody>
          <a:bodyPr wrap="square" lIns="0" rIns="0" tIns="0" bIns="0" anchor="t">
            <a:spAutoFit/>
          </a:bodyPr>
          <a:lstStyle/>
          <a:p>
            <a:pPr algn="l"/>
            <a:r>
              <a:rPr sz="999" b="0" i="0" spc="100">
                <a:solidFill>
                  <a:srgbClr val="6FB3E3"/>
                </a:solidFill>
                <a:latin typeface="Habibi"/>
              </a:rPr>
              <a:t>AGENT</a:t>
            </a:r>
          </a:p>
        </p:txBody>
      </p:sp>
      <p:cxnSp>
        <p:nvCxnSpPr>
          <p:cNvPr id="40" name="Connector 39"/>
          <p:cNvCxnSpPr/>
          <p:nvPr/>
        </p:nvCxnSpPr>
        <p:spPr>
          <a:xfrm>
            <a:off x="10007349" y="2666933"/>
            <a:ext cx="2793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41" name="Isosceles Triangle 40"/>
          <p:cNvSpPr/>
          <p:nvPr/>
        </p:nvSpPr>
        <p:spPr>
          <a:xfrm rot="5400000">
            <a:off x="10223244" y="2622484"/>
            <a:ext cx="6984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10286742" y="2362140"/>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286742" y="2400239"/>
            <a:ext cx="38099" cy="533386"/>
          </a:xfrm>
          <a:prstGeom prst="rect">
            <a:avLst/>
          </a:prstGeom>
          <a:solidFill>
            <a:srgbClr val="5DB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401039" y="2451038"/>
            <a:ext cx="1485862" cy="228594"/>
          </a:xfrm>
          <a:prstGeom prst="rect">
            <a:avLst/>
          </a:prstGeom>
          <a:noFill/>
        </p:spPr>
        <p:txBody>
          <a:bodyPr wrap="square" lIns="0" rIns="0" tIns="0" bIns="0" anchor="t">
            <a:spAutoFit/>
          </a:bodyPr>
          <a:lstStyle/>
          <a:p>
            <a:pPr algn="l"/>
            <a:r>
              <a:rPr sz="1149" b="1" i="0">
                <a:solidFill>
                  <a:srgbClr val="F7F4F3"/>
                </a:solidFill>
                <a:latin typeface="Roboto Slab"/>
              </a:rPr>
              <a:t>severity_check</a:t>
            </a:r>
          </a:p>
        </p:txBody>
      </p:sp>
      <p:sp>
        <p:nvSpPr>
          <p:cNvPr id="45" name="TextBox 44"/>
          <p:cNvSpPr txBox="1"/>
          <p:nvPr/>
        </p:nvSpPr>
        <p:spPr>
          <a:xfrm>
            <a:off x="10401039" y="2705032"/>
            <a:ext cx="1485862" cy="190495"/>
          </a:xfrm>
          <a:prstGeom prst="rect">
            <a:avLst/>
          </a:prstGeom>
          <a:noFill/>
        </p:spPr>
        <p:txBody>
          <a:bodyPr wrap="square" lIns="0" rIns="0" tIns="0" bIns="0" anchor="t">
            <a:spAutoFit/>
          </a:bodyPr>
          <a:lstStyle/>
          <a:p>
            <a:pPr algn="l"/>
            <a:r>
              <a:rPr sz="999" b="0" i="0" spc="100">
                <a:solidFill>
                  <a:srgbClr val="5DBB86"/>
                </a:solidFill>
                <a:latin typeface="Habibi"/>
              </a:rPr>
              <a:t>VERIFY · KILL</a:t>
            </a:r>
          </a:p>
        </p:txBody>
      </p:sp>
      <p:cxnSp>
        <p:nvCxnSpPr>
          <p:cNvPr id="46" name="Connector 45"/>
          <p:cNvCxnSpPr/>
          <p:nvPr/>
        </p:nvCxnSpPr>
        <p:spPr>
          <a:xfrm flipV="1">
            <a:off x="11105872" y="2133546"/>
            <a:ext cx="0" cy="228594"/>
          </a:xfrm>
          <a:prstGeom prst="line">
            <a:avLst/>
          </a:prstGeom>
          <a:ln w="25400">
            <a:solidFill>
              <a:srgbClr val="E4746A"/>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9188220" y="2133546"/>
            <a:ext cx="1917652" cy="0"/>
          </a:xfrm>
          <a:prstGeom prst="line">
            <a:avLst/>
          </a:prstGeom>
          <a:ln w="25400">
            <a:solidFill>
              <a:srgbClr val="E4746A"/>
            </a:solidFill>
            <a:prstDash val="dash"/>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188220" y="2133546"/>
            <a:ext cx="0" cy="203195"/>
          </a:xfrm>
          <a:prstGeom prst="line">
            <a:avLst/>
          </a:prstGeom>
          <a:ln w="25400">
            <a:solidFill>
              <a:srgbClr val="E4746A"/>
            </a:solidFill>
            <a:prstDash val="dash"/>
          </a:ln>
        </p:spPr>
        <p:style>
          <a:lnRef idx="2">
            <a:schemeClr val="accent1"/>
          </a:lnRef>
          <a:fillRef idx="0">
            <a:schemeClr val="accent1"/>
          </a:fillRef>
          <a:effectRef idx="1">
            <a:schemeClr val="accent1"/>
          </a:effectRef>
          <a:fontRef idx="minor">
            <a:schemeClr val="tx1"/>
          </a:fontRef>
        </p:style>
      </p:cxnSp>
      <p:sp>
        <p:nvSpPr>
          <p:cNvPr id="49" name="Isosceles Triangle 48"/>
          <p:cNvSpPr/>
          <p:nvPr/>
        </p:nvSpPr>
        <p:spPr>
          <a:xfrm rot="10800000">
            <a:off x="9143771" y="2273243"/>
            <a:ext cx="88897" cy="76198"/>
          </a:xfrm>
          <a:prstGeom prst="triangle">
            <a:avLst/>
          </a:prstGeom>
          <a:solidFill>
            <a:srgbClr val="E47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35744" y="1879553"/>
            <a:ext cx="3822604" cy="203194"/>
          </a:xfrm>
          <a:prstGeom prst="rect">
            <a:avLst/>
          </a:prstGeom>
          <a:noFill/>
        </p:spPr>
        <p:txBody>
          <a:bodyPr wrap="square" lIns="0" rIns="0" tIns="0" bIns="0" anchor="t">
            <a:spAutoFit/>
          </a:bodyPr>
          <a:lstStyle/>
          <a:p>
            <a:pPr algn="ctr"/>
            <a:r>
              <a:rPr sz="1199" b="0" i="0" spc="100">
                <a:solidFill>
                  <a:srgbClr val="E4746A"/>
                </a:solidFill>
                <a:latin typeface="Habibi"/>
              </a:rPr>
              <a:t>REPAIR ×1</a:t>
            </a:r>
          </a:p>
        </p:txBody>
      </p:sp>
      <p:sp>
        <p:nvSpPr>
          <p:cNvPr id="51" name="Rounded Rectangle 50"/>
          <p:cNvSpPr/>
          <p:nvPr/>
        </p:nvSpPr>
        <p:spPr>
          <a:xfrm>
            <a:off x="698482" y="3917852"/>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98482" y="3955951"/>
            <a:ext cx="38099" cy="533386"/>
          </a:xfrm>
          <a:prstGeom prst="rect">
            <a:avLst/>
          </a:prstGeom>
          <a:solidFill>
            <a:srgbClr val="FCBA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2779" y="4006749"/>
            <a:ext cx="1485862" cy="228594"/>
          </a:xfrm>
          <a:prstGeom prst="rect">
            <a:avLst/>
          </a:prstGeom>
          <a:noFill/>
        </p:spPr>
        <p:txBody>
          <a:bodyPr wrap="square" lIns="0" rIns="0" tIns="0" bIns="0" anchor="t">
            <a:spAutoFit/>
          </a:bodyPr>
          <a:lstStyle/>
          <a:p>
            <a:pPr algn="l"/>
            <a:r>
              <a:rPr sz="999" b="1" i="0">
                <a:solidFill>
                  <a:srgbClr val="F7F4F3"/>
                </a:solidFill>
                <a:latin typeface="Roboto Slab"/>
              </a:rPr>
              <a:t>household_decision</a:t>
            </a:r>
          </a:p>
        </p:txBody>
      </p:sp>
      <p:sp>
        <p:nvSpPr>
          <p:cNvPr id="54" name="TextBox 53"/>
          <p:cNvSpPr txBox="1"/>
          <p:nvPr/>
        </p:nvSpPr>
        <p:spPr>
          <a:xfrm>
            <a:off x="812779" y="4260743"/>
            <a:ext cx="1485862" cy="190495"/>
          </a:xfrm>
          <a:prstGeom prst="rect">
            <a:avLst/>
          </a:prstGeom>
          <a:noFill/>
        </p:spPr>
        <p:txBody>
          <a:bodyPr wrap="square" lIns="0" rIns="0" tIns="0" bIns="0" anchor="t">
            <a:spAutoFit/>
          </a:bodyPr>
          <a:lstStyle/>
          <a:p>
            <a:pPr algn="l"/>
            <a:r>
              <a:rPr sz="999" b="0" i="0" spc="100">
                <a:solidFill>
                  <a:srgbClr val="FCBA04"/>
                </a:solidFill>
                <a:latin typeface="Habibi"/>
              </a:rPr>
              <a:t>GATE · HUMAN</a:t>
            </a:r>
          </a:p>
        </p:txBody>
      </p:sp>
      <p:sp>
        <p:nvSpPr>
          <p:cNvPr id="55" name="Rounded Rectangle 54"/>
          <p:cNvSpPr/>
          <p:nvPr/>
        </p:nvSpPr>
        <p:spPr>
          <a:xfrm>
            <a:off x="698482" y="4616334"/>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98482" y="4654433"/>
            <a:ext cx="38099" cy="533386"/>
          </a:xfrm>
          <a:prstGeom prst="rect">
            <a:avLst/>
          </a:prstGeom>
          <a:solidFill>
            <a:srgbClr val="B9C3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2779" y="4705232"/>
            <a:ext cx="1485862" cy="228594"/>
          </a:xfrm>
          <a:prstGeom prst="rect">
            <a:avLst/>
          </a:prstGeom>
          <a:noFill/>
        </p:spPr>
        <p:txBody>
          <a:bodyPr wrap="square" lIns="0" rIns="0" tIns="0" bIns="0" anchor="t">
            <a:spAutoFit/>
          </a:bodyPr>
          <a:lstStyle/>
          <a:p>
            <a:pPr algn="l"/>
            <a:r>
              <a:rPr sz="1299" b="1" i="0">
                <a:solidFill>
                  <a:srgbClr val="F7F4F3"/>
                </a:solidFill>
                <a:latin typeface="Roboto Slab"/>
              </a:rPr>
              <a:t>digest</a:t>
            </a:r>
          </a:p>
        </p:txBody>
      </p:sp>
      <p:sp>
        <p:nvSpPr>
          <p:cNvPr id="58" name="TextBox 57"/>
          <p:cNvSpPr txBox="1"/>
          <p:nvPr/>
        </p:nvSpPr>
        <p:spPr>
          <a:xfrm>
            <a:off x="812779" y="4959226"/>
            <a:ext cx="1485862" cy="190495"/>
          </a:xfrm>
          <a:prstGeom prst="rect">
            <a:avLst/>
          </a:prstGeom>
          <a:noFill/>
        </p:spPr>
        <p:txBody>
          <a:bodyPr wrap="square" lIns="0" rIns="0" tIns="0" bIns="0" anchor="t">
            <a:spAutoFit/>
          </a:bodyPr>
          <a:lstStyle/>
          <a:p>
            <a:pPr algn="l"/>
            <a:r>
              <a:rPr sz="999" b="0" i="0" spc="100">
                <a:solidFill>
                  <a:srgbClr val="B9C3BD"/>
                </a:solidFill>
                <a:latin typeface="Habibi"/>
              </a:rPr>
              <a:t>CODE · WEEKLY</a:t>
            </a:r>
          </a:p>
        </p:txBody>
      </p:sp>
      <p:cxnSp>
        <p:nvCxnSpPr>
          <p:cNvPr id="59" name="Connector 58"/>
          <p:cNvCxnSpPr/>
          <p:nvPr/>
        </p:nvCxnSpPr>
        <p:spPr>
          <a:xfrm>
            <a:off x="2336741" y="4571885"/>
            <a:ext cx="2793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60" name="Isosceles Triangle 59"/>
          <p:cNvSpPr/>
          <p:nvPr/>
        </p:nvSpPr>
        <p:spPr>
          <a:xfrm rot="5400000">
            <a:off x="2552636" y="4527436"/>
            <a:ext cx="6984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2616134" y="4267093"/>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2616134" y="4305192"/>
            <a:ext cx="38099" cy="533386"/>
          </a:xfrm>
          <a:prstGeom prst="rect">
            <a:avLst/>
          </a:prstGeom>
          <a:solidFill>
            <a:srgbClr val="B9C3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730431" y="4355991"/>
            <a:ext cx="1485862" cy="228594"/>
          </a:xfrm>
          <a:prstGeom prst="rect">
            <a:avLst/>
          </a:prstGeom>
          <a:noFill/>
        </p:spPr>
        <p:txBody>
          <a:bodyPr wrap="square" lIns="0" rIns="0" tIns="0" bIns="0" anchor="t">
            <a:spAutoFit/>
          </a:bodyPr>
          <a:lstStyle/>
          <a:p>
            <a:pPr algn="l"/>
            <a:r>
              <a:rPr sz="1299" b="1" i="0">
                <a:solidFill>
                  <a:srgbClr val="F7F4F3"/>
                </a:solidFill>
                <a:latin typeface="Roboto Slab"/>
              </a:rPr>
              <a:t>answers</a:t>
            </a:r>
          </a:p>
        </p:txBody>
      </p:sp>
      <p:sp>
        <p:nvSpPr>
          <p:cNvPr id="64" name="TextBox 63"/>
          <p:cNvSpPr txBox="1"/>
          <p:nvPr/>
        </p:nvSpPr>
        <p:spPr>
          <a:xfrm>
            <a:off x="2730431" y="4609984"/>
            <a:ext cx="1485862" cy="190495"/>
          </a:xfrm>
          <a:prstGeom prst="rect">
            <a:avLst/>
          </a:prstGeom>
          <a:noFill/>
        </p:spPr>
        <p:txBody>
          <a:bodyPr wrap="square" lIns="0" rIns="0" tIns="0" bIns="0" anchor="t">
            <a:spAutoFit/>
          </a:bodyPr>
          <a:lstStyle/>
          <a:p>
            <a:pPr algn="l"/>
            <a:r>
              <a:rPr sz="999" b="0" i="0" spc="100">
                <a:solidFill>
                  <a:srgbClr val="B9C3BD"/>
                </a:solidFill>
                <a:latin typeface="Habibi"/>
              </a:rPr>
              <a:t>CODE</a:t>
            </a:r>
          </a:p>
        </p:txBody>
      </p:sp>
      <p:cxnSp>
        <p:nvCxnSpPr>
          <p:cNvPr id="65" name="Connector 64"/>
          <p:cNvCxnSpPr/>
          <p:nvPr/>
        </p:nvCxnSpPr>
        <p:spPr>
          <a:xfrm>
            <a:off x="4254393" y="4571885"/>
            <a:ext cx="2793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66" name="Isosceles Triangle 65"/>
          <p:cNvSpPr/>
          <p:nvPr/>
        </p:nvSpPr>
        <p:spPr>
          <a:xfrm rot="5400000">
            <a:off x="4470288" y="4527436"/>
            <a:ext cx="6984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4533786" y="4267093"/>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533786" y="4305192"/>
            <a:ext cx="38099" cy="533386"/>
          </a:xfrm>
          <a:prstGeom prst="rect">
            <a:avLst/>
          </a:prstGeom>
          <a:solidFill>
            <a:srgbClr val="6FB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648083" y="4355991"/>
            <a:ext cx="1485862" cy="228594"/>
          </a:xfrm>
          <a:prstGeom prst="rect">
            <a:avLst/>
          </a:prstGeom>
          <a:noFill/>
        </p:spPr>
        <p:txBody>
          <a:bodyPr wrap="square" lIns="0" rIns="0" tIns="0" bIns="0" anchor="t">
            <a:spAutoFit/>
          </a:bodyPr>
          <a:lstStyle/>
          <a:p>
            <a:pPr algn="l"/>
            <a:r>
              <a:rPr sz="1299" b="1" i="0">
                <a:solidFill>
                  <a:srgbClr val="F7F4F3"/>
                </a:solidFill>
                <a:latin typeface="Roboto Slab"/>
              </a:rPr>
              <a:t>remedy</a:t>
            </a:r>
          </a:p>
        </p:txBody>
      </p:sp>
      <p:sp>
        <p:nvSpPr>
          <p:cNvPr id="70" name="TextBox 69"/>
          <p:cNvSpPr txBox="1"/>
          <p:nvPr/>
        </p:nvSpPr>
        <p:spPr>
          <a:xfrm>
            <a:off x="4648083" y="4609984"/>
            <a:ext cx="1485862" cy="190495"/>
          </a:xfrm>
          <a:prstGeom prst="rect">
            <a:avLst/>
          </a:prstGeom>
          <a:noFill/>
        </p:spPr>
        <p:txBody>
          <a:bodyPr wrap="square" lIns="0" rIns="0" tIns="0" bIns="0" anchor="t">
            <a:spAutoFit/>
          </a:bodyPr>
          <a:lstStyle/>
          <a:p>
            <a:pPr algn="l"/>
            <a:r>
              <a:rPr sz="999" b="0" i="0" spc="100">
                <a:solidFill>
                  <a:srgbClr val="6FB3E3"/>
                </a:solidFill>
                <a:latin typeface="Habibi"/>
              </a:rPr>
              <a:t>AGENT · MAP</a:t>
            </a:r>
          </a:p>
        </p:txBody>
      </p:sp>
      <p:cxnSp>
        <p:nvCxnSpPr>
          <p:cNvPr id="71" name="Connector 70"/>
          <p:cNvCxnSpPr/>
          <p:nvPr/>
        </p:nvCxnSpPr>
        <p:spPr>
          <a:xfrm>
            <a:off x="6172045" y="4571885"/>
            <a:ext cx="279393" cy="0"/>
          </a:xfrm>
          <a:prstGeom prst="line">
            <a:avLst/>
          </a:prstGeom>
          <a:ln w="25400">
            <a:solidFill>
              <a:srgbClr val="4A5551"/>
            </a:solidFill>
          </a:ln>
        </p:spPr>
        <p:style>
          <a:lnRef idx="2">
            <a:schemeClr val="accent1"/>
          </a:lnRef>
          <a:fillRef idx="0">
            <a:schemeClr val="accent1"/>
          </a:fillRef>
          <a:effectRef idx="1">
            <a:schemeClr val="accent1"/>
          </a:effectRef>
          <a:fontRef idx="minor">
            <a:schemeClr val="tx1"/>
          </a:fontRef>
        </p:style>
      </p:cxnSp>
      <p:sp>
        <p:nvSpPr>
          <p:cNvPr id="72" name="Isosceles Triangle 71"/>
          <p:cNvSpPr/>
          <p:nvPr/>
        </p:nvSpPr>
        <p:spPr>
          <a:xfrm rot="5400000">
            <a:off x="6387940" y="4527436"/>
            <a:ext cx="69848" cy="88897"/>
          </a:xfrm>
          <a:prstGeom prst="triangle">
            <a:avLst/>
          </a:prstGeom>
          <a:solidFill>
            <a:srgbClr val="4A55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6451438" y="4267093"/>
            <a:ext cx="1638259" cy="609584"/>
          </a:xfrm>
          <a:prstGeom prst="roundRect">
            <a:avLst>
              <a:gd name="adj" fmla="val 12500"/>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451438" y="4305192"/>
            <a:ext cx="38099" cy="533386"/>
          </a:xfrm>
          <a:prstGeom prst="rect">
            <a:avLst/>
          </a:prstGeom>
          <a:solidFill>
            <a:srgbClr val="B9C3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565735" y="4355991"/>
            <a:ext cx="1485862" cy="228594"/>
          </a:xfrm>
          <a:prstGeom prst="rect">
            <a:avLst/>
          </a:prstGeom>
          <a:noFill/>
        </p:spPr>
        <p:txBody>
          <a:bodyPr wrap="square" lIns="0" rIns="0" tIns="0" bIns="0" anchor="t">
            <a:spAutoFit/>
          </a:bodyPr>
          <a:lstStyle/>
          <a:p>
            <a:pPr algn="l"/>
            <a:r>
              <a:rPr sz="1299" b="1" i="0">
                <a:solidFill>
                  <a:srgbClr val="F7F4F3"/>
                </a:solidFill>
                <a:latin typeface="Roboto Slab"/>
              </a:rPr>
              <a:t>followup</a:t>
            </a:r>
          </a:p>
        </p:txBody>
      </p:sp>
      <p:sp>
        <p:nvSpPr>
          <p:cNvPr id="76" name="TextBox 75"/>
          <p:cNvSpPr txBox="1"/>
          <p:nvPr/>
        </p:nvSpPr>
        <p:spPr>
          <a:xfrm>
            <a:off x="6565735" y="4609984"/>
            <a:ext cx="1485862" cy="190495"/>
          </a:xfrm>
          <a:prstGeom prst="rect">
            <a:avLst/>
          </a:prstGeom>
          <a:noFill/>
        </p:spPr>
        <p:txBody>
          <a:bodyPr wrap="square" lIns="0" rIns="0" tIns="0" bIns="0" anchor="t">
            <a:spAutoFit/>
          </a:bodyPr>
          <a:lstStyle/>
          <a:p>
            <a:pPr algn="l"/>
            <a:r>
              <a:rPr sz="849" b="0" i="0" spc="100">
                <a:solidFill>
                  <a:srgbClr val="B9C3BD"/>
                </a:solidFill>
                <a:latin typeface="Habibi"/>
              </a:rPr>
              <a:t>CODE · SIDE EFFECT</a:t>
            </a:r>
          </a:p>
        </p:txBody>
      </p:sp>
      <p:sp>
        <p:nvSpPr>
          <p:cNvPr id="77" name="TextBox 76"/>
          <p:cNvSpPr txBox="1"/>
          <p:nvPr/>
        </p:nvSpPr>
        <p:spPr>
          <a:xfrm>
            <a:off x="8445288" y="3936901"/>
            <a:ext cx="3047923" cy="1523961"/>
          </a:xfrm>
          <a:prstGeom prst="rect">
            <a:avLst/>
          </a:prstGeom>
          <a:noFill/>
        </p:spPr>
        <p:txBody>
          <a:bodyPr wrap="square" lIns="0" rIns="0" tIns="0" bIns="0" anchor="t">
            <a:spAutoFit/>
          </a:bodyPr>
          <a:lstStyle/>
          <a:p>
            <a:pPr algn="l">
              <a:lnSpc>
                <a:spcPct val="140000"/>
              </a:lnSpc>
            </a:pPr>
            <a:r>
              <a:rPr sz="1299" b="0" i="0">
                <a:solidFill>
                  <a:srgbClr val="B9C3BD"/>
                </a:solidFill>
                <a:latin typeface="Lora"/>
              </a:rPr>
              <a:t>severity_check routes to household_decision when the plan's channel is sms_now, otherwise to digest. Deterministic pipes, judgment in agents; every agent output is a validated structured object. A quiet night skips every agent node: zero model calls, $0.</a:t>
            </a:r>
          </a:p>
        </p:txBody>
      </p:sp>
      <p:sp>
        <p:nvSpPr>
          <p:cNvPr id="78" name="Rectangle 77"/>
          <p:cNvSpPr/>
          <p:nvPr/>
        </p:nvSpPr>
        <p:spPr>
          <a:xfrm>
            <a:off x="698482" y="6133946"/>
            <a:ext cx="114297" cy="114297"/>
          </a:xfrm>
          <a:prstGeom prst="rect">
            <a:avLst/>
          </a:prstGeom>
          <a:solidFill>
            <a:srgbClr val="B9C3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88977" y="6095847"/>
            <a:ext cx="1650958" cy="203194"/>
          </a:xfrm>
          <a:prstGeom prst="rect">
            <a:avLst/>
          </a:prstGeom>
          <a:noFill/>
        </p:spPr>
        <p:txBody>
          <a:bodyPr wrap="square" lIns="0" rIns="0" tIns="0" bIns="0" anchor="t">
            <a:spAutoFit/>
          </a:bodyPr>
          <a:lstStyle/>
          <a:p>
            <a:pPr algn="l"/>
            <a:r>
              <a:rPr sz="1199" b="0" i="0" spc="100">
                <a:solidFill>
                  <a:srgbClr val="B9C3BD"/>
                </a:solidFill>
                <a:latin typeface="Habibi"/>
              </a:rPr>
              <a:t>CODE</a:t>
            </a:r>
          </a:p>
        </p:txBody>
      </p:sp>
      <p:sp>
        <p:nvSpPr>
          <p:cNvPr id="80" name="Rectangle 79"/>
          <p:cNvSpPr/>
          <p:nvPr/>
        </p:nvSpPr>
        <p:spPr>
          <a:xfrm>
            <a:off x="1752556" y="6133946"/>
            <a:ext cx="114297" cy="114297"/>
          </a:xfrm>
          <a:prstGeom prst="rect">
            <a:avLst/>
          </a:prstGeom>
          <a:solidFill>
            <a:srgbClr val="6FB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943051" y="6095847"/>
            <a:ext cx="1650958" cy="203194"/>
          </a:xfrm>
          <a:prstGeom prst="rect">
            <a:avLst/>
          </a:prstGeom>
          <a:noFill/>
        </p:spPr>
        <p:txBody>
          <a:bodyPr wrap="square" lIns="0" rIns="0" tIns="0" bIns="0" anchor="t">
            <a:spAutoFit/>
          </a:bodyPr>
          <a:lstStyle/>
          <a:p>
            <a:pPr algn="l"/>
            <a:r>
              <a:rPr sz="1199" b="0" i="0" spc="100">
                <a:solidFill>
                  <a:srgbClr val="B9C3BD"/>
                </a:solidFill>
                <a:latin typeface="Habibi"/>
              </a:rPr>
              <a:t>AGENT</a:t>
            </a:r>
          </a:p>
        </p:txBody>
      </p:sp>
      <p:sp>
        <p:nvSpPr>
          <p:cNvPr id="82" name="Rectangle 81"/>
          <p:cNvSpPr/>
          <p:nvPr/>
        </p:nvSpPr>
        <p:spPr>
          <a:xfrm>
            <a:off x="2895527" y="6133946"/>
            <a:ext cx="114297" cy="114297"/>
          </a:xfrm>
          <a:prstGeom prst="rect">
            <a:avLst/>
          </a:prstGeom>
          <a:solidFill>
            <a:srgbClr val="5DB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086022" y="6095847"/>
            <a:ext cx="1650958" cy="203194"/>
          </a:xfrm>
          <a:prstGeom prst="rect">
            <a:avLst/>
          </a:prstGeom>
          <a:noFill/>
        </p:spPr>
        <p:txBody>
          <a:bodyPr wrap="square" lIns="0" rIns="0" tIns="0" bIns="0" anchor="t">
            <a:spAutoFit/>
          </a:bodyPr>
          <a:lstStyle/>
          <a:p>
            <a:pPr algn="l"/>
            <a:r>
              <a:rPr sz="1199" b="0" i="0" spc="100">
                <a:solidFill>
                  <a:srgbClr val="B9C3BD"/>
                </a:solidFill>
                <a:latin typeface="Habibi"/>
              </a:rPr>
              <a:t>VERIFY</a:t>
            </a:r>
          </a:p>
        </p:txBody>
      </p:sp>
      <p:sp>
        <p:nvSpPr>
          <p:cNvPr id="84" name="Rectangle 83"/>
          <p:cNvSpPr/>
          <p:nvPr/>
        </p:nvSpPr>
        <p:spPr>
          <a:xfrm>
            <a:off x="4127396" y="6133946"/>
            <a:ext cx="114297" cy="114297"/>
          </a:xfrm>
          <a:prstGeom prst="rect">
            <a:avLst/>
          </a:prstGeom>
          <a:solidFill>
            <a:srgbClr val="FCBA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317892" y="6095847"/>
            <a:ext cx="1650958" cy="203194"/>
          </a:xfrm>
          <a:prstGeom prst="rect">
            <a:avLst/>
          </a:prstGeom>
          <a:noFill/>
        </p:spPr>
        <p:txBody>
          <a:bodyPr wrap="square" lIns="0" rIns="0" tIns="0" bIns="0" anchor="t">
            <a:spAutoFit/>
          </a:bodyPr>
          <a:lstStyle/>
          <a:p>
            <a:pPr algn="l"/>
            <a:r>
              <a:rPr sz="1199" b="0" i="0" spc="100">
                <a:solidFill>
                  <a:srgbClr val="B9C3BD"/>
                </a:solidFill>
                <a:latin typeface="Habibi"/>
              </a:rPr>
              <a:t>GATE · HUMAN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F08"/>
        </a:solidFill>
        <a:effectLst/>
      </p:bgPr>
    </p:bg>
    <p:spTree>
      <p:nvGrpSpPr>
        <p:cNvPr id="1" name=""/>
        <p:cNvGrpSpPr/>
        <p:nvPr/>
      </p:nvGrpSpPr>
      <p:grpSpPr/>
      <p:sp>
        <p:nvSpPr>
          <p:cNvPr id="2" name="TextBox 1"/>
          <p:cNvSpPr txBox="1"/>
          <p:nvPr/>
        </p:nvSpPr>
        <p:spPr>
          <a:xfrm>
            <a:off x="698482" y="609584"/>
            <a:ext cx="7619809" cy="253993"/>
          </a:xfrm>
          <a:prstGeom prst="rect">
            <a:avLst/>
          </a:prstGeom>
          <a:noFill/>
        </p:spPr>
        <p:txBody>
          <a:bodyPr wrap="square" lIns="0" rIns="0" tIns="0" bIns="0" anchor="t">
            <a:spAutoFit/>
          </a:bodyPr>
          <a:lstStyle/>
          <a:p>
            <a:pPr algn="l"/>
            <a:r>
              <a:rPr sz="1299" b="0" i="0" spc="200">
                <a:solidFill>
                  <a:srgbClr val="FCBA04"/>
                </a:solidFill>
                <a:latin typeface="Habibi"/>
              </a:rPr>
              <a:t>ON STRANDS AGENTS</a:t>
            </a:r>
          </a:p>
        </p:txBody>
      </p:sp>
      <p:sp>
        <p:nvSpPr>
          <p:cNvPr id="3" name="TextBox 2"/>
          <p:cNvSpPr txBox="1"/>
          <p:nvPr/>
        </p:nvSpPr>
        <p:spPr>
          <a:xfrm>
            <a:off x="698482" y="927076"/>
            <a:ext cx="10159746" cy="571485"/>
          </a:xfrm>
          <a:prstGeom prst="rect">
            <a:avLst/>
          </a:prstGeom>
          <a:noFill/>
        </p:spPr>
        <p:txBody>
          <a:bodyPr wrap="square" lIns="0" rIns="0" tIns="0" bIns="0" anchor="t">
            <a:spAutoFit/>
          </a:bodyPr>
          <a:lstStyle/>
          <a:p>
            <a:pPr algn="l">
              <a:lnSpc>
                <a:spcPct val="110000"/>
              </a:lnSpc>
            </a:pPr>
            <a:r>
              <a:rPr sz="3199" b="1" i="0">
                <a:solidFill>
                  <a:srgbClr val="F7F4F3"/>
                </a:solidFill>
                <a:latin typeface="Roboto Slab"/>
              </a:rPr>
              <a:t>How the graph compiles onto Strands</a:t>
            </a:r>
          </a:p>
        </p:txBody>
      </p:sp>
      <p:sp>
        <p:nvSpPr>
          <p:cNvPr id="4" name="Rounded Rectangle 3"/>
          <p:cNvSpPr/>
          <p:nvPr/>
        </p:nvSpPr>
        <p:spPr>
          <a:xfrm>
            <a:off x="698482" y="1777955"/>
            <a:ext cx="3496645" cy="2031949"/>
          </a:xfrm>
          <a:prstGeom prst="roundRect">
            <a:avLst>
              <a:gd name="adj" fmla="val 4999"/>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1677" y="1955751"/>
            <a:ext cx="3090256" cy="215894"/>
          </a:xfrm>
          <a:prstGeom prst="rect">
            <a:avLst/>
          </a:prstGeom>
          <a:noFill/>
        </p:spPr>
        <p:txBody>
          <a:bodyPr wrap="square" lIns="0" rIns="0" tIns="0" bIns="0" anchor="t">
            <a:spAutoFit/>
          </a:bodyPr>
          <a:lstStyle/>
          <a:p>
            <a:pPr algn="l"/>
            <a:r>
              <a:rPr sz="1199" b="0" i="0" spc="100">
                <a:solidFill>
                  <a:srgbClr val="FCBA04"/>
                </a:solidFill>
                <a:latin typeface="Habibi"/>
              </a:rPr>
              <a:t>GRAPHBUILDER</a:t>
            </a:r>
          </a:p>
        </p:txBody>
      </p:sp>
      <p:sp>
        <p:nvSpPr>
          <p:cNvPr id="6" name="TextBox 5"/>
          <p:cNvSpPr txBox="1"/>
          <p:nvPr/>
        </p:nvSpPr>
        <p:spPr>
          <a:xfrm>
            <a:off x="901677" y="2260543"/>
            <a:ext cx="3090256" cy="1460463"/>
          </a:xfrm>
          <a:prstGeom prst="rect">
            <a:avLst/>
          </a:prstGeom>
          <a:noFill/>
        </p:spPr>
        <p:txBody>
          <a:bodyPr wrap="square" lIns="0" rIns="0" tIns="0" bIns="0" anchor="t">
            <a:spAutoFit/>
          </a:bodyPr>
          <a:lstStyle/>
          <a:p>
            <a:pPr algn="l">
              <a:lnSpc>
                <a:spcPct val="135000"/>
              </a:lnSpc>
            </a:pPr>
            <a:r>
              <a:rPr sz="1299" b="0" i="0">
                <a:solidFill>
                  <a:srgbClr val="F7F4F3"/>
                </a:solidFill>
                <a:latin typeface="Lora"/>
              </a:rPr>
              <a:t>Every node is a Strands MultiAgentBase executor. Edges are derived from data references such as $nodes.matcher.outputs, never declared by hand.</a:t>
            </a:r>
          </a:p>
        </p:txBody>
      </p:sp>
      <p:sp>
        <p:nvSpPr>
          <p:cNvPr id="7" name="Rounded Rectangle 6"/>
          <p:cNvSpPr/>
          <p:nvPr/>
        </p:nvSpPr>
        <p:spPr>
          <a:xfrm>
            <a:off x="4347524" y="1777955"/>
            <a:ext cx="3496645" cy="2031949"/>
          </a:xfrm>
          <a:prstGeom prst="roundRect">
            <a:avLst>
              <a:gd name="adj" fmla="val 4999"/>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50719" y="1955751"/>
            <a:ext cx="3090256" cy="215894"/>
          </a:xfrm>
          <a:prstGeom prst="rect">
            <a:avLst/>
          </a:prstGeom>
          <a:noFill/>
        </p:spPr>
        <p:txBody>
          <a:bodyPr wrap="square" lIns="0" rIns="0" tIns="0" bIns="0" anchor="t">
            <a:spAutoFit/>
          </a:bodyPr>
          <a:lstStyle/>
          <a:p>
            <a:pPr algn="l"/>
            <a:r>
              <a:rPr sz="1199" b="0" i="0" spc="100">
                <a:solidFill>
                  <a:srgbClr val="FCBA04"/>
                </a:solidFill>
                <a:latin typeface="Habibi"/>
              </a:rPr>
              <a:t>AND-JOINS</a:t>
            </a:r>
          </a:p>
        </p:txBody>
      </p:sp>
      <p:sp>
        <p:nvSpPr>
          <p:cNvPr id="9" name="TextBox 8"/>
          <p:cNvSpPr txBox="1"/>
          <p:nvPr/>
        </p:nvSpPr>
        <p:spPr>
          <a:xfrm>
            <a:off x="4550719" y="2260543"/>
            <a:ext cx="3090256" cy="1460463"/>
          </a:xfrm>
          <a:prstGeom prst="rect">
            <a:avLst/>
          </a:prstGeom>
          <a:noFill/>
        </p:spPr>
        <p:txBody>
          <a:bodyPr wrap="square" lIns="0" rIns="0" tIns="0" bIns="0" anchor="t">
            <a:spAutoFit/>
          </a:bodyPr>
          <a:lstStyle/>
          <a:p>
            <a:pPr algn="l">
              <a:lnSpc>
                <a:spcPct val="135000"/>
              </a:lnSpc>
            </a:pPr>
            <a:r>
              <a:rPr sz="1299" b="0" i="0">
                <a:solidFill>
                  <a:srgbClr val="F7F4F3"/>
                </a:solidFill>
                <a:latin typeface="Lora"/>
              </a:rPr>
              <a:t>Strands readiness is OR. gren adds an edge condition so a node runs only once all of its dependencies have completed.</a:t>
            </a:r>
          </a:p>
        </p:txBody>
      </p:sp>
      <p:sp>
        <p:nvSpPr>
          <p:cNvPr id="10" name="Rounded Rectangle 9"/>
          <p:cNvSpPr/>
          <p:nvPr/>
        </p:nvSpPr>
        <p:spPr>
          <a:xfrm>
            <a:off x="7996566" y="1777955"/>
            <a:ext cx="3496645" cy="2031949"/>
          </a:xfrm>
          <a:prstGeom prst="roundRect">
            <a:avLst>
              <a:gd name="adj" fmla="val 4999"/>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9761" y="1955751"/>
            <a:ext cx="3090256" cy="215894"/>
          </a:xfrm>
          <a:prstGeom prst="rect">
            <a:avLst/>
          </a:prstGeom>
          <a:noFill/>
        </p:spPr>
        <p:txBody>
          <a:bodyPr wrap="square" lIns="0" rIns="0" tIns="0" bIns="0" anchor="t">
            <a:spAutoFit/>
          </a:bodyPr>
          <a:lstStyle/>
          <a:p>
            <a:pPr algn="l"/>
            <a:r>
              <a:rPr sz="1199" b="0" i="0" spc="100">
                <a:solidFill>
                  <a:srgbClr val="FCBA04"/>
                </a:solidFill>
                <a:latin typeface="Habibi"/>
              </a:rPr>
              <a:t>GATES ARE INTERRUPTS</a:t>
            </a:r>
          </a:p>
        </p:txBody>
      </p:sp>
      <p:sp>
        <p:nvSpPr>
          <p:cNvPr id="12" name="TextBox 11"/>
          <p:cNvSpPr txBox="1"/>
          <p:nvPr/>
        </p:nvSpPr>
        <p:spPr>
          <a:xfrm>
            <a:off x="8199761" y="2260543"/>
            <a:ext cx="3090256" cy="1460463"/>
          </a:xfrm>
          <a:prstGeom prst="rect">
            <a:avLst/>
          </a:prstGeom>
          <a:noFill/>
        </p:spPr>
        <p:txBody>
          <a:bodyPr wrap="square" lIns="0" rIns="0" tIns="0" bIns="0" anchor="t">
            <a:spAutoFit/>
          </a:bodyPr>
          <a:lstStyle/>
          <a:p>
            <a:pPr algn="l">
              <a:lnSpc>
                <a:spcPct val="135000"/>
              </a:lnSpc>
            </a:pPr>
            <a:r>
              <a:rPr sz="1299" b="0" i="0">
                <a:solidFill>
                  <a:srgbClr val="F7F4F3"/>
                </a:solidFill>
                <a:latin typeface="Lora"/>
              </a:rPr>
              <a:t>A BeforeNodeCallEvent hook raises event.interrupt. The run pauses, the checkpoint sits on disk, the process may exit. Resume replays completed nodes without new model calls.</a:t>
            </a:r>
          </a:p>
        </p:txBody>
      </p:sp>
      <p:sp>
        <p:nvSpPr>
          <p:cNvPr id="13" name="Rounded Rectangle 12"/>
          <p:cNvSpPr/>
          <p:nvPr/>
        </p:nvSpPr>
        <p:spPr>
          <a:xfrm>
            <a:off x="698482" y="3962300"/>
            <a:ext cx="3496645" cy="2031949"/>
          </a:xfrm>
          <a:prstGeom prst="roundRect">
            <a:avLst>
              <a:gd name="adj" fmla="val 4999"/>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1677" y="4140096"/>
            <a:ext cx="3090256" cy="215894"/>
          </a:xfrm>
          <a:prstGeom prst="rect">
            <a:avLst/>
          </a:prstGeom>
          <a:noFill/>
        </p:spPr>
        <p:txBody>
          <a:bodyPr wrap="square" lIns="0" rIns="0" tIns="0" bIns="0" anchor="t">
            <a:spAutoFit/>
          </a:bodyPr>
          <a:lstStyle/>
          <a:p>
            <a:pPr algn="l"/>
            <a:r>
              <a:rPr sz="1199" b="0" i="0" spc="100">
                <a:solidFill>
                  <a:srgbClr val="FCBA04"/>
                </a:solidFill>
                <a:latin typeface="Habibi"/>
              </a:rPr>
              <a:t>VERIFIER WITH KILL AUTHORITY</a:t>
            </a:r>
          </a:p>
        </p:txBody>
      </p:sp>
      <p:sp>
        <p:nvSpPr>
          <p:cNvPr id="15" name="TextBox 14"/>
          <p:cNvSpPr txBox="1"/>
          <p:nvPr/>
        </p:nvSpPr>
        <p:spPr>
          <a:xfrm>
            <a:off x="901677" y="4444888"/>
            <a:ext cx="3090256" cy="1460463"/>
          </a:xfrm>
          <a:prstGeom prst="rect">
            <a:avLst/>
          </a:prstGeom>
          <a:noFill/>
        </p:spPr>
        <p:txBody>
          <a:bodyPr wrap="square" lIns="0" rIns="0" tIns="0" bIns="0" anchor="t">
            <a:spAutoFit/>
          </a:bodyPr>
          <a:lstStyle/>
          <a:p>
            <a:pPr algn="l">
              <a:lnSpc>
                <a:spcPct val="135000"/>
              </a:lnSpc>
            </a:pPr>
            <a:r>
              <a:rPr sz="1299" b="0" i="0">
                <a:solidFill>
                  <a:srgbClr val="F7F4F3"/>
                </a:solidFill>
                <a:latin typeface="Lora"/>
              </a:rPr>
              <a:t>severity_check returns {verdict, reasons, confidence}. A kill resets triage with the reasons as feedback through a conditional back-edge, at most one round.</a:t>
            </a:r>
          </a:p>
        </p:txBody>
      </p:sp>
      <p:sp>
        <p:nvSpPr>
          <p:cNvPr id="16" name="Rounded Rectangle 15"/>
          <p:cNvSpPr/>
          <p:nvPr/>
        </p:nvSpPr>
        <p:spPr>
          <a:xfrm>
            <a:off x="4347524" y="3962300"/>
            <a:ext cx="3496645" cy="2031949"/>
          </a:xfrm>
          <a:prstGeom prst="roundRect">
            <a:avLst>
              <a:gd name="adj" fmla="val 4999"/>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0719" y="4140096"/>
            <a:ext cx="3090256" cy="215894"/>
          </a:xfrm>
          <a:prstGeom prst="rect">
            <a:avLst/>
          </a:prstGeom>
          <a:noFill/>
        </p:spPr>
        <p:txBody>
          <a:bodyPr wrap="square" lIns="0" rIns="0" tIns="0" bIns="0" anchor="t">
            <a:spAutoFit/>
          </a:bodyPr>
          <a:lstStyle/>
          <a:p>
            <a:pPr algn="l"/>
            <a:r>
              <a:rPr sz="1199" b="0" i="0" spc="100">
                <a:solidFill>
                  <a:srgbClr val="FCBA04"/>
                </a:solidFill>
                <a:latin typeface="Habibi"/>
              </a:rPr>
              <a:t>MAP FAN-OUT</a:t>
            </a:r>
          </a:p>
        </p:txBody>
      </p:sp>
      <p:sp>
        <p:nvSpPr>
          <p:cNvPr id="18" name="TextBox 17"/>
          <p:cNvSpPr txBox="1"/>
          <p:nvPr/>
        </p:nvSpPr>
        <p:spPr>
          <a:xfrm>
            <a:off x="4550719" y="4444888"/>
            <a:ext cx="3090256" cy="1460463"/>
          </a:xfrm>
          <a:prstGeom prst="rect">
            <a:avLst/>
          </a:prstGeom>
          <a:noFill/>
        </p:spPr>
        <p:txBody>
          <a:bodyPr wrap="square" lIns="0" rIns="0" tIns="0" bIns="0" anchor="t">
            <a:spAutoFit/>
          </a:bodyPr>
          <a:lstStyle/>
          <a:p>
            <a:pPr algn="l">
              <a:lnSpc>
                <a:spcPct val="135000"/>
              </a:lnSpc>
            </a:pPr>
            <a:r>
              <a:rPr sz="1299" b="0" i="0">
                <a:solidFill>
                  <a:srgbClr val="F7F4F3"/>
                </a:solidFill>
                <a:latin typeface="Lora"/>
              </a:rPr>
              <a:t>matcher, warranty and remedy map over lists with structured_output_model. Retries, fallback model, timeouts and the spend cap are enforced by the engine.</a:t>
            </a:r>
          </a:p>
        </p:txBody>
      </p:sp>
      <p:sp>
        <p:nvSpPr>
          <p:cNvPr id="19" name="Rounded Rectangle 18"/>
          <p:cNvSpPr/>
          <p:nvPr/>
        </p:nvSpPr>
        <p:spPr>
          <a:xfrm>
            <a:off x="7996566" y="3962300"/>
            <a:ext cx="3496645" cy="2031949"/>
          </a:xfrm>
          <a:prstGeom prst="roundRect">
            <a:avLst>
              <a:gd name="adj" fmla="val 4999"/>
            </a:avLst>
          </a:prstGeom>
          <a:solidFill>
            <a:srgbClr val="131F18"/>
          </a:solidFill>
          <a:ln w="12700">
            <a:solidFill>
              <a:srgbClr val="2C3B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99761" y="4140096"/>
            <a:ext cx="3090256" cy="215894"/>
          </a:xfrm>
          <a:prstGeom prst="rect">
            <a:avLst/>
          </a:prstGeom>
          <a:noFill/>
        </p:spPr>
        <p:txBody>
          <a:bodyPr wrap="square" lIns="0" rIns="0" tIns="0" bIns="0" anchor="t">
            <a:spAutoFit/>
          </a:bodyPr>
          <a:lstStyle/>
          <a:p>
            <a:pPr algn="l"/>
            <a:r>
              <a:rPr sz="1199" b="0" i="0" spc="100">
                <a:solidFill>
                  <a:srgbClr val="FCBA04"/>
                </a:solidFill>
                <a:latin typeface="Habibi"/>
              </a:rPr>
              <a:t>SIDE EFFECTS, ONCE</a:t>
            </a:r>
          </a:p>
        </p:txBody>
      </p:sp>
      <p:sp>
        <p:nvSpPr>
          <p:cNvPr id="21" name="TextBox 20"/>
          <p:cNvSpPr txBox="1"/>
          <p:nvPr/>
        </p:nvSpPr>
        <p:spPr>
          <a:xfrm>
            <a:off x="8199761" y="4444888"/>
            <a:ext cx="3090256" cy="1460463"/>
          </a:xfrm>
          <a:prstGeom prst="rect">
            <a:avLst/>
          </a:prstGeom>
          <a:noFill/>
        </p:spPr>
        <p:txBody>
          <a:bodyPr wrap="square" lIns="0" rIns="0" tIns="0" bIns="0" anchor="t">
            <a:spAutoFit/>
          </a:bodyPr>
          <a:lstStyle/>
          <a:p>
            <a:pPr algn="l">
              <a:lnSpc>
                <a:spcPct val="135000"/>
              </a:lnSpc>
            </a:pPr>
            <a:r>
              <a:rPr sz="1299" b="0" i="0">
                <a:solidFill>
                  <a:srgbClr val="F7F4F3"/>
                </a:solidFill>
                <a:latin typeface="Lora"/>
              </a:rPr>
              <a:t>followup declares side_effect and requires_gate. The frozen constraint gate_before_side_effect makes it unreachable without approval; it runs at most once per run.</a:t>
            </a:r>
          </a:p>
        </p:txBody>
      </p:sp>
      <p:sp>
        <p:nvSpPr>
          <p:cNvPr id="22" name="TextBox 21"/>
          <p:cNvSpPr txBox="1"/>
          <p:nvPr/>
        </p:nvSpPr>
        <p:spPr>
          <a:xfrm>
            <a:off x="698482" y="6172045"/>
            <a:ext cx="10794730" cy="444488"/>
          </a:xfrm>
          <a:prstGeom prst="rect">
            <a:avLst/>
          </a:prstGeom>
          <a:noFill/>
        </p:spPr>
        <p:txBody>
          <a:bodyPr wrap="square" lIns="0" rIns="0" tIns="0" bIns="0" anchor="t">
            <a:spAutoFit/>
          </a:bodyPr>
          <a:lstStyle/>
          <a:p>
            <a:pPr algn="l">
              <a:lnSpc>
                <a:spcPct val="135000"/>
              </a:lnSpc>
            </a:pPr>
            <a:r>
              <a:rPr sz="1099" b="0" i="0">
                <a:solidFill>
                  <a:srgbClr val="B9C3BD"/>
                </a:solidFill>
                <a:latin typeface="Lora"/>
              </a:rPr>
              <a:t>Runs on one EC2 instance with automatic HTTPS at guardian.44-214-230-44.sslip.io; Claude on Amazon Bedrock is the provider. The AgentCore Runtime deployment is built and tested locally (deploy/agentcore); SES delivery is a switch. See ARCHITECTURE.md §5.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F08"/>
        </a:solidFill>
        <a:effectLst/>
      </p:bgPr>
    </p:bg>
    <p:spTree>
      <p:nvGrpSpPr>
        <p:cNvPr id="1" name=""/>
        <p:cNvGrpSpPr/>
        <p:nvPr/>
      </p:nvGrpSpPr>
      <p:grpSpPr/>
      <p:sp>
        <p:nvSpPr>
          <p:cNvPr id="2" name="TextBox 1"/>
          <p:cNvSpPr txBox="1"/>
          <p:nvPr/>
        </p:nvSpPr>
        <p:spPr>
          <a:xfrm>
            <a:off x="698482" y="609584"/>
            <a:ext cx="8889777" cy="253993"/>
          </a:xfrm>
          <a:prstGeom prst="rect">
            <a:avLst/>
          </a:prstGeom>
          <a:noFill/>
        </p:spPr>
        <p:txBody>
          <a:bodyPr wrap="square" lIns="0" rIns="0" tIns="0" bIns="0" anchor="t">
            <a:spAutoFit/>
          </a:bodyPr>
          <a:lstStyle/>
          <a:p>
            <a:pPr algn="l"/>
            <a:r>
              <a:rPr sz="1299" b="0" i="0" spc="200">
                <a:solidFill>
                  <a:srgbClr val="FCBA04"/>
                </a:solidFill>
                <a:latin typeface="Habibi"/>
              </a:rPr>
              <a:t>A REAL FIRST SWEEP · 13 SEP 2026 · LIVE FEEDS</a:t>
            </a:r>
          </a:p>
        </p:txBody>
      </p:sp>
      <p:sp>
        <p:nvSpPr>
          <p:cNvPr id="3" name="TextBox 2"/>
          <p:cNvSpPr txBox="1"/>
          <p:nvPr/>
        </p:nvSpPr>
        <p:spPr>
          <a:xfrm>
            <a:off x="698482" y="927076"/>
            <a:ext cx="10159746" cy="571485"/>
          </a:xfrm>
          <a:prstGeom prst="rect">
            <a:avLst/>
          </a:prstGeom>
          <a:noFill/>
        </p:spPr>
        <p:txBody>
          <a:bodyPr wrap="square" lIns="0" rIns="0" tIns="0" bIns="0" anchor="t">
            <a:spAutoFit/>
          </a:bodyPr>
          <a:lstStyle/>
          <a:p>
            <a:pPr algn="l">
              <a:lnSpc>
                <a:spcPct val="110000"/>
              </a:lnSpc>
            </a:pPr>
            <a:r>
              <a:rPr sz="3199" b="1" i="0">
                <a:solidFill>
                  <a:srgbClr val="F7F4F3"/>
                </a:solidFill>
                <a:latin typeface="Roboto Slab"/>
              </a:rPr>
              <a:t>One night on live feeds</a:t>
            </a:r>
          </a:p>
        </p:txBody>
      </p:sp>
      <p:cxnSp>
        <p:nvCxnSpPr>
          <p:cNvPr id="4" name="Connector 3"/>
          <p:cNvCxnSpPr/>
          <p:nvPr/>
        </p:nvCxnSpPr>
        <p:spPr>
          <a:xfrm>
            <a:off x="698482" y="1904952"/>
            <a:ext cx="3395048" cy="0"/>
          </a:xfrm>
          <a:prstGeom prst="line">
            <a:avLst/>
          </a:prstGeom>
          <a:ln w="12700">
            <a:solidFill>
              <a:srgbClr val="2C3B3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98482" y="2082747"/>
            <a:ext cx="3395048" cy="698482"/>
          </a:xfrm>
          <a:prstGeom prst="rect">
            <a:avLst/>
          </a:prstGeom>
          <a:noFill/>
        </p:spPr>
        <p:txBody>
          <a:bodyPr wrap="square" lIns="0" rIns="0" tIns="0" bIns="0" anchor="t">
            <a:spAutoFit/>
          </a:bodyPr>
          <a:lstStyle/>
          <a:p>
            <a:pPr algn="l">
              <a:lnSpc>
                <a:spcPct val="100000"/>
              </a:lnSpc>
            </a:pPr>
            <a:r>
              <a:rPr sz="5199" b="1" i="0">
                <a:solidFill>
                  <a:srgbClr val="F7F4F3"/>
                </a:solidFill>
                <a:latin typeface="Roboto Slab"/>
              </a:rPr>
              <a:t>594</a:t>
            </a:r>
          </a:p>
        </p:txBody>
      </p:sp>
      <p:sp>
        <p:nvSpPr>
          <p:cNvPr id="6" name="TextBox 5"/>
          <p:cNvSpPr txBox="1"/>
          <p:nvPr/>
        </p:nvSpPr>
        <p:spPr>
          <a:xfrm>
            <a:off x="698482" y="2857428"/>
            <a:ext cx="3395048" cy="571485"/>
          </a:xfrm>
          <a:prstGeom prst="rect">
            <a:avLst/>
          </a:prstGeom>
          <a:noFill/>
        </p:spPr>
        <p:txBody>
          <a:bodyPr wrap="square" lIns="0" rIns="0" tIns="0" bIns="0" anchor="t">
            <a:spAutoFit/>
          </a:bodyPr>
          <a:lstStyle/>
          <a:p>
            <a:pPr algn="l">
              <a:lnSpc>
                <a:spcPct val="130000"/>
              </a:lnSpc>
            </a:pPr>
            <a:r>
              <a:rPr sz="1399" b="0" i="0">
                <a:solidFill>
                  <a:srgbClr val="B9C3BD"/>
                </a:solidFill>
                <a:latin typeface="Lora"/>
              </a:rPr>
              <a:t>CPSC recalls pulled, plus 3 NHTSA campaigns</a:t>
            </a:r>
          </a:p>
        </p:txBody>
      </p:sp>
      <p:cxnSp>
        <p:nvCxnSpPr>
          <p:cNvPr id="7" name="Connector 6"/>
          <p:cNvCxnSpPr/>
          <p:nvPr/>
        </p:nvCxnSpPr>
        <p:spPr>
          <a:xfrm>
            <a:off x="4398323" y="1904952"/>
            <a:ext cx="3395048" cy="0"/>
          </a:xfrm>
          <a:prstGeom prst="line">
            <a:avLst/>
          </a:prstGeom>
          <a:ln w="12700">
            <a:solidFill>
              <a:srgbClr val="2C3B3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398323" y="2082747"/>
            <a:ext cx="3395048" cy="698482"/>
          </a:xfrm>
          <a:prstGeom prst="rect">
            <a:avLst/>
          </a:prstGeom>
          <a:noFill/>
        </p:spPr>
        <p:txBody>
          <a:bodyPr wrap="square" lIns="0" rIns="0" tIns="0" bIns="0" anchor="t">
            <a:spAutoFit/>
          </a:bodyPr>
          <a:lstStyle/>
          <a:p>
            <a:pPr algn="l">
              <a:lnSpc>
                <a:spcPct val="100000"/>
              </a:lnSpc>
            </a:pPr>
            <a:r>
              <a:rPr sz="5199" b="1" i="0">
                <a:solidFill>
                  <a:srgbClr val="F7F4F3"/>
                </a:solidFill>
                <a:latin typeface="Roboto Slab"/>
              </a:rPr>
              <a:t>1,200</a:t>
            </a:r>
          </a:p>
        </p:txBody>
      </p:sp>
      <p:sp>
        <p:nvSpPr>
          <p:cNvPr id="9" name="TextBox 8"/>
          <p:cNvSpPr txBox="1"/>
          <p:nvPr/>
        </p:nvSpPr>
        <p:spPr>
          <a:xfrm>
            <a:off x="4398323" y="2857428"/>
            <a:ext cx="3395048" cy="571485"/>
          </a:xfrm>
          <a:prstGeom prst="rect">
            <a:avLst/>
          </a:prstGeom>
          <a:noFill/>
        </p:spPr>
        <p:txBody>
          <a:bodyPr wrap="square" lIns="0" rIns="0" tIns="0" bIns="0" anchor="t">
            <a:spAutoFit/>
          </a:bodyPr>
          <a:lstStyle/>
          <a:p>
            <a:pPr algn="l">
              <a:lnSpc>
                <a:spcPct val="130000"/>
              </a:lnSpc>
            </a:pPr>
            <a:r>
              <a:rPr sz="1399" b="0" i="0">
                <a:solidFill>
                  <a:srgbClr val="B9C3BD"/>
                </a:solidFill>
                <a:latin typeface="Lora"/>
              </a:rPr>
              <a:t>openFDA food enforcement reports pulled</a:t>
            </a:r>
          </a:p>
        </p:txBody>
      </p:sp>
      <p:cxnSp>
        <p:nvCxnSpPr>
          <p:cNvPr id="10" name="Connector 9"/>
          <p:cNvCxnSpPr/>
          <p:nvPr/>
        </p:nvCxnSpPr>
        <p:spPr>
          <a:xfrm>
            <a:off x="8098164" y="1904952"/>
            <a:ext cx="3395048" cy="0"/>
          </a:xfrm>
          <a:prstGeom prst="line">
            <a:avLst/>
          </a:prstGeom>
          <a:ln w="12700">
            <a:solidFill>
              <a:srgbClr val="2C3B33"/>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098164" y="2082747"/>
            <a:ext cx="3395048" cy="698482"/>
          </a:xfrm>
          <a:prstGeom prst="rect">
            <a:avLst/>
          </a:prstGeom>
          <a:noFill/>
        </p:spPr>
        <p:txBody>
          <a:bodyPr wrap="square" lIns="0" rIns="0" tIns="0" bIns="0" anchor="t">
            <a:spAutoFit/>
          </a:bodyPr>
          <a:lstStyle/>
          <a:p>
            <a:pPr algn="l">
              <a:lnSpc>
                <a:spcPct val="100000"/>
              </a:lnSpc>
            </a:pPr>
            <a:r>
              <a:rPr sz="5199" b="1" i="0">
                <a:solidFill>
                  <a:srgbClr val="F7F4F3"/>
                </a:solidFill>
                <a:latin typeface="Roboto Slab"/>
              </a:rPr>
              <a:t>7,143</a:t>
            </a:r>
          </a:p>
        </p:txBody>
      </p:sp>
      <p:sp>
        <p:nvSpPr>
          <p:cNvPr id="12" name="TextBox 11"/>
          <p:cNvSpPr txBox="1"/>
          <p:nvPr/>
        </p:nvSpPr>
        <p:spPr>
          <a:xfrm>
            <a:off x="8098164" y="2857428"/>
            <a:ext cx="3395048" cy="571485"/>
          </a:xfrm>
          <a:prstGeom prst="rect">
            <a:avLst/>
          </a:prstGeom>
          <a:noFill/>
        </p:spPr>
        <p:txBody>
          <a:bodyPr wrap="square" lIns="0" rIns="0" tIns="0" bIns="0" anchor="t">
            <a:spAutoFit/>
          </a:bodyPr>
          <a:lstStyle/>
          <a:p>
            <a:pPr algn="l">
              <a:lnSpc>
                <a:spcPct val="130000"/>
              </a:lnSpc>
            </a:pPr>
            <a:r>
              <a:rPr sz="1399" b="0" i="0">
                <a:solidFill>
                  <a:srgbClr val="B9C3BD"/>
                </a:solidFill>
                <a:latin typeface="Lora"/>
              </a:rPr>
              <a:t>item–recall pairs checked in code</a:t>
            </a:r>
          </a:p>
        </p:txBody>
      </p:sp>
      <p:cxnSp>
        <p:nvCxnSpPr>
          <p:cNvPr id="13" name="Connector 12"/>
          <p:cNvCxnSpPr/>
          <p:nvPr/>
        </p:nvCxnSpPr>
        <p:spPr>
          <a:xfrm>
            <a:off x="698482" y="3809904"/>
            <a:ext cx="3395048" cy="0"/>
          </a:xfrm>
          <a:prstGeom prst="line">
            <a:avLst/>
          </a:prstGeom>
          <a:ln w="12700">
            <a:solidFill>
              <a:srgbClr val="2C3B3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98482" y="3987700"/>
            <a:ext cx="3395048" cy="698482"/>
          </a:xfrm>
          <a:prstGeom prst="rect">
            <a:avLst/>
          </a:prstGeom>
          <a:noFill/>
        </p:spPr>
        <p:txBody>
          <a:bodyPr wrap="square" lIns="0" rIns="0" tIns="0" bIns="0" anchor="t">
            <a:spAutoFit/>
          </a:bodyPr>
          <a:lstStyle/>
          <a:p>
            <a:pPr algn="l">
              <a:lnSpc>
                <a:spcPct val="100000"/>
              </a:lnSpc>
            </a:pPr>
            <a:r>
              <a:rPr sz="5199" b="1" i="0">
                <a:solidFill>
                  <a:srgbClr val="F7F4F3"/>
                </a:solidFill>
                <a:latin typeface="Roboto Slab"/>
              </a:rPr>
              <a:t>5 + 3</a:t>
            </a:r>
          </a:p>
        </p:txBody>
      </p:sp>
      <p:sp>
        <p:nvSpPr>
          <p:cNvPr id="15" name="TextBox 14"/>
          <p:cNvSpPr txBox="1"/>
          <p:nvPr/>
        </p:nvSpPr>
        <p:spPr>
          <a:xfrm>
            <a:off x="698482" y="4762380"/>
            <a:ext cx="3395048" cy="571485"/>
          </a:xfrm>
          <a:prstGeom prst="rect">
            <a:avLst/>
          </a:prstGeom>
          <a:noFill/>
        </p:spPr>
        <p:txBody>
          <a:bodyPr wrap="square" lIns="0" rIns="0" tIns="0" bIns="0" anchor="t">
            <a:spAutoFit/>
          </a:bodyPr>
          <a:lstStyle/>
          <a:p>
            <a:pPr algn="l">
              <a:lnSpc>
                <a:spcPct val="130000"/>
              </a:lnSpc>
            </a:pPr>
            <a:r>
              <a:rPr sz="1399" b="0" i="0">
                <a:solidFill>
                  <a:srgbClr val="B9C3BD"/>
                </a:solidFill>
                <a:latin typeface="Lora"/>
              </a:rPr>
              <a:t>exact matches, plus ambiguous pairs adjudicated by the model</a:t>
            </a:r>
          </a:p>
        </p:txBody>
      </p:sp>
      <p:cxnSp>
        <p:nvCxnSpPr>
          <p:cNvPr id="16" name="Connector 15"/>
          <p:cNvCxnSpPr/>
          <p:nvPr/>
        </p:nvCxnSpPr>
        <p:spPr>
          <a:xfrm>
            <a:off x="4398323" y="3809904"/>
            <a:ext cx="3395048" cy="0"/>
          </a:xfrm>
          <a:prstGeom prst="line">
            <a:avLst/>
          </a:prstGeom>
          <a:ln w="12700">
            <a:solidFill>
              <a:srgbClr val="2C3B3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98323" y="3987700"/>
            <a:ext cx="3395048" cy="698482"/>
          </a:xfrm>
          <a:prstGeom prst="rect">
            <a:avLst/>
          </a:prstGeom>
          <a:noFill/>
        </p:spPr>
        <p:txBody>
          <a:bodyPr wrap="square" lIns="0" rIns="0" tIns="0" bIns="0" anchor="t">
            <a:spAutoFit/>
          </a:bodyPr>
          <a:lstStyle/>
          <a:p>
            <a:pPr algn="l">
              <a:lnSpc>
                <a:spcPct val="100000"/>
              </a:lnSpc>
            </a:pPr>
            <a:r>
              <a:rPr sz="5199" b="1" i="0">
                <a:solidFill>
                  <a:srgbClr val="F7F4F3"/>
                </a:solidFill>
                <a:latin typeface="Roboto Slab"/>
              </a:rPr>
              <a:t>235 s</a:t>
            </a:r>
          </a:p>
        </p:txBody>
      </p:sp>
      <p:sp>
        <p:nvSpPr>
          <p:cNvPr id="18" name="TextBox 17"/>
          <p:cNvSpPr txBox="1"/>
          <p:nvPr/>
        </p:nvSpPr>
        <p:spPr>
          <a:xfrm>
            <a:off x="4398323" y="4762380"/>
            <a:ext cx="3395048" cy="571485"/>
          </a:xfrm>
          <a:prstGeom prst="rect">
            <a:avLst/>
          </a:prstGeom>
          <a:noFill/>
        </p:spPr>
        <p:txBody>
          <a:bodyPr wrap="square" lIns="0" rIns="0" tIns="0" bIns="0" anchor="t">
            <a:spAutoFit/>
          </a:bodyPr>
          <a:lstStyle/>
          <a:p>
            <a:pPr algn="l">
              <a:lnSpc>
                <a:spcPct val="130000"/>
              </a:lnSpc>
            </a:pPr>
            <a:r>
              <a:rPr sz="1399" b="0" i="0">
                <a:solidFill>
                  <a:srgbClr val="B9C3BD"/>
                </a:solidFill>
                <a:latin typeface="Lora"/>
              </a:rPr>
              <a:t>from start to the human gate</a:t>
            </a:r>
          </a:p>
        </p:txBody>
      </p:sp>
      <p:cxnSp>
        <p:nvCxnSpPr>
          <p:cNvPr id="19" name="Connector 18"/>
          <p:cNvCxnSpPr/>
          <p:nvPr/>
        </p:nvCxnSpPr>
        <p:spPr>
          <a:xfrm>
            <a:off x="8098164" y="3809904"/>
            <a:ext cx="3395048" cy="0"/>
          </a:xfrm>
          <a:prstGeom prst="line">
            <a:avLst/>
          </a:prstGeom>
          <a:ln w="12700">
            <a:solidFill>
              <a:srgbClr val="2C3B33"/>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098164" y="3987700"/>
            <a:ext cx="3395048" cy="698482"/>
          </a:xfrm>
          <a:prstGeom prst="rect">
            <a:avLst/>
          </a:prstGeom>
          <a:noFill/>
        </p:spPr>
        <p:txBody>
          <a:bodyPr wrap="square" lIns="0" rIns="0" tIns="0" bIns="0" anchor="t">
            <a:spAutoFit/>
          </a:bodyPr>
          <a:lstStyle/>
          <a:p>
            <a:pPr algn="l">
              <a:lnSpc>
                <a:spcPct val="100000"/>
              </a:lnSpc>
            </a:pPr>
            <a:r>
              <a:rPr sz="5199" b="1" i="0">
                <a:solidFill>
                  <a:srgbClr val="F7F4F3"/>
                </a:solidFill>
                <a:latin typeface="Roboto Slab"/>
              </a:rPr>
              <a:t>$0.41</a:t>
            </a:r>
          </a:p>
        </p:txBody>
      </p:sp>
      <p:sp>
        <p:nvSpPr>
          <p:cNvPr id="21" name="TextBox 20"/>
          <p:cNvSpPr txBox="1"/>
          <p:nvPr/>
        </p:nvSpPr>
        <p:spPr>
          <a:xfrm>
            <a:off x="8098164" y="4762380"/>
            <a:ext cx="3395048" cy="571485"/>
          </a:xfrm>
          <a:prstGeom prst="rect">
            <a:avLst/>
          </a:prstGeom>
          <a:noFill/>
        </p:spPr>
        <p:txBody>
          <a:bodyPr wrap="square" lIns="0" rIns="0" tIns="0" bIns="0" anchor="t">
            <a:spAutoFit/>
          </a:bodyPr>
          <a:lstStyle/>
          <a:p>
            <a:pPr algn="l">
              <a:lnSpc>
                <a:spcPct val="130000"/>
              </a:lnSpc>
            </a:pPr>
            <a:r>
              <a:rPr sz="1399" b="0" i="0">
                <a:solidFill>
                  <a:srgbClr val="B9C3BD"/>
                </a:solidFill>
                <a:latin typeface="Lora"/>
              </a:rPr>
              <a:t>model spend for the night</a:t>
            </a:r>
          </a:p>
        </p:txBody>
      </p:sp>
      <p:sp>
        <p:nvSpPr>
          <p:cNvPr id="22" name="TextBox 21"/>
          <p:cNvSpPr txBox="1"/>
          <p:nvPr/>
        </p:nvSpPr>
        <p:spPr>
          <a:xfrm>
            <a:off x="698482" y="5905352"/>
            <a:ext cx="9524761" cy="634984"/>
          </a:xfrm>
          <a:prstGeom prst="rect">
            <a:avLst/>
          </a:prstGeom>
          <a:noFill/>
        </p:spPr>
        <p:txBody>
          <a:bodyPr wrap="square" lIns="0" rIns="0" tIns="0" bIns="0" anchor="t">
            <a:spAutoFit/>
          </a:bodyPr>
          <a:lstStyle/>
          <a:p>
            <a:pPr algn="l">
              <a:lnSpc>
                <a:spcPct val="140000"/>
              </a:lnSpc>
            </a:pPr>
            <a:r>
              <a:rPr sz="1299" b="0" i="0">
                <a:solidFill>
                  <a:srgbClr val="B9C3BD"/>
                </a:solidFill>
                <a:latin typeface="Lora"/>
              </a:rPr>
              <a:t>Approving from the dashboard drafted the refund request to the recall's real contact address and scheduled the follow-up. 40 pytest tests run the graph end to end on the mock provider: pause at the gate, approve, decline, quiet night, verifier kill and repair, snoozes and late approvals.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F08"/>
        </a:solidFill>
        <a:effectLst/>
      </p:bgPr>
    </p:bg>
    <p:spTree>
      <p:nvGrpSpPr>
        <p:cNvPr id="1" name=""/>
        <p:cNvGrpSpPr/>
        <p:nvPr/>
      </p:nvGrpSpPr>
      <p:grpSpPr/>
      <p:pic>
        <p:nvPicPr>
          <p:cNvPr id="2" name="Picture 1" descr="logo-nightwatch.png"/>
          <p:cNvPicPr>
            <a:picLocks noChangeAspect="1"/>
          </p:cNvPicPr>
          <p:nvPr/>
        </p:nvPicPr>
        <p:blipFill>
          <a:blip r:embed="rId2"/>
          <a:stretch>
            <a:fillRect/>
          </a:stretch>
        </p:blipFill>
        <p:spPr>
          <a:xfrm>
            <a:off x="4984625" y="952476"/>
            <a:ext cx="609584" cy="609584"/>
          </a:xfrm>
          <a:prstGeom prst="rect">
            <a:avLst/>
          </a:prstGeom>
        </p:spPr>
      </p:pic>
      <p:sp>
        <p:nvSpPr>
          <p:cNvPr id="3" name="TextBox 2"/>
          <p:cNvSpPr txBox="1"/>
          <p:nvPr/>
        </p:nvSpPr>
        <p:spPr>
          <a:xfrm>
            <a:off x="5746605" y="952476"/>
            <a:ext cx="2539936" cy="609584"/>
          </a:xfrm>
          <a:prstGeom prst="rect">
            <a:avLst/>
          </a:prstGeom>
          <a:noFill/>
        </p:spPr>
        <p:txBody>
          <a:bodyPr wrap="square" lIns="0" rIns="0" tIns="0" bIns="0" anchor="ctr">
            <a:spAutoFit/>
          </a:bodyPr>
          <a:lstStyle/>
          <a:p>
            <a:pPr algn="l"/>
            <a:r>
              <a:rPr sz="2799" b="1" i="0">
                <a:solidFill>
                  <a:srgbClr val="F7F4F3"/>
                </a:solidFill>
                <a:latin typeface="Roboto Slab"/>
              </a:rPr>
              <a:t>Guardian</a:t>
            </a:r>
          </a:p>
        </p:txBody>
      </p:sp>
      <p:sp>
        <p:nvSpPr>
          <p:cNvPr id="4" name="TextBox 3"/>
          <p:cNvSpPr txBox="1"/>
          <p:nvPr/>
        </p:nvSpPr>
        <p:spPr>
          <a:xfrm>
            <a:off x="1523961" y="2095447"/>
            <a:ext cx="9143771" cy="1650958"/>
          </a:xfrm>
          <a:prstGeom prst="rect">
            <a:avLst/>
          </a:prstGeom>
          <a:noFill/>
        </p:spPr>
        <p:txBody>
          <a:bodyPr wrap="square" lIns="0" rIns="0" tIns="0" bIns="0" anchor="t">
            <a:spAutoFit/>
          </a:bodyPr>
          <a:lstStyle/>
          <a:p>
            <a:pPr algn="ctr">
              <a:lnSpc>
                <a:spcPct val="125000"/>
              </a:lnSpc>
            </a:pPr>
            <a:r>
              <a:rPr sz="2999" b="0" i="1">
                <a:solidFill>
                  <a:srgbClr val="F7F4F3"/>
                </a:solidFill>
                <a:latin typeface="Lora"/>
              </a:rPr>
              <a:t>The agent's best output is silence. The product's headline metric is how rarely it has to talk to you.</a:t>
            </a:r>
          </a:p>
        </p:txBody>
      </p:sp>
      <p:sp>
        <p:nvSpPr>
          <p:cNvPr id="5" name="TextBox 4"/>
          <p:cNvSpPr txBox="1"/>
          <p:nvPr/>
        </p:nvSpPr>
        <p:spPr>
          <a:xfrm>
            <a:off x="698482" y="4317892"/>
            <a:ext cx="10794730" cy="317492"/>
          </a:xfrm>
          <a:prstGeom prst="rect">
            <a:avLst/>
          </a:prstGeom>
          <a:noFill/>
        </p:spPr>
        <p:txBody>
          <a:bodyPr wrap="square" lIns="0" rIns="0" tIns="0" bIns="0" anchor="t">
            <a:spAutoFit/>
          </a:bodyPr>
          <a:lstStyle/>
          <a:p>
            <a:pPr algn="ctr"/>
            <a:r>
              <a:rPr sz="1599" b="0" i="0">
                <a:solidFill>
                  <a:srgbClr val="6FB3E3"/>
                </a:solidFill>
                <a:latin typeface="Consolas"/>
              </a:rPr>
              <a:t>github.com/KrishGup/Recall-and-Warranty-Guardian</a:t>
            </a:r>
          </a:p>
        </p:txBody>
      </p:sp>
      <p:sp>
        <p:nvSpPr>
          <p:cNvPr id="6" name="TextBox 5"/>
          <p:cNvSpPr txBox="1"/>
          <p:nvPr/>
        </p:nvSpPr>
        <p:spPr>
          <a:xfrm>
            <a:off x="698482" y="4698882"/>
            <a:ext cx="10794730" cy="317492"/>
          </a:xfrm>
          <a:prstGeom prst="rect">
            <a:avLst/>
          </a:prstGeom>
          <a:noFill/>
        </p:spPr>
        <p:txBody>
          <a:bodyPr wrap="square" lIns="0" rIns="0" tIns="0" bIns="0" anchor="t">
            <a:spAutoFit/>
          </a:bodyPr>
          <a:lstStyle/>
          <a:p>
            <a:pPr algn="ctr"/>
            <a:r>
              <a:rPr sz="1599" b="0" i="0">
                <a:solidFill>
                  <a:srgbClr val="6FB3E3"/>
                </a:solidFill>
                <a:latin typeface="Consolas"/>
              </a:rPr>
              <a:t>guardian.44-214-230-44.sslip.io</a:t>
            </a:r>
          </a:p>
        </p:txBody>
      </p:sp>
      <p:sp>
        <p:nvSpPr>
          <p:cNvPr id="7" name="TextBox 6"/>
          <p:cNvSpPr txBox="1"/>
          <p:nvPr/>
        </p:nvSpPr>
        <p:spPr>
          <a:xfrm>
            <a:off x="698482" y="5206869"/>
            <a:ext cx="10794730" cy="253993"/>
          </a:xfrm>
          <a:prstGeom prst="rect">
            <a:avLst/>
          </a:prstGeom>
          <a:noFill/>
        </p:spPr>
        <p:txBody>
          <a:bodyPr wrap="square" lIns="0" rIns="0" tIns="0" bIns="0" anchor="t">
            <a:spAutoFit/>
          </a:bodyPr>
          <a:lstStyle/>
          <a:p>
            <a:pPr algn="ctr"/>
            <a:r>
              <a:rPr sz="1299" b="0" i="0" spc="200">
                <a:solidFill>
                  <a:srgbClr val="FCBA04"/>
                </a:solidFill>
                <a:latin typeface="Habibi"/>
              </a:rPr>
              <a:t>APACHE-2.0 · STRANDS AGENTS SDK · EVERYDAY AGENTS TRACK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