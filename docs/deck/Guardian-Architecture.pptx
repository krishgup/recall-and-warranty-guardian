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78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of Recall and Warranty Guardian, for the Agents for Humans hackathon.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distribution, not information. The solution is a background agent that matches and files, and speaks only for a decision.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chance and paperwork. After: one message, one tap, and a follow-up the household does not have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capabilities, all on the same runtime. The first four are the product. The workbench is how a person audits the agent.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 on the left, the two gren graphs in the middle, the household store and the API below, the dashboard and the household on the right, AWS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nightly sweep is thirteen nodes. Code does the deterministic work. Agents judge. The verifier can reject. The gate pauses.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gren is a thin compiler and a strict engine on top of Strands. The engine owns retries, budgets, gates, and side effects. The model never does.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components make the agent: the runtime, the two graphs, the feeds, the matcher, the policy, and the models.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more components: the household layer, the store, the notifier, the API, the dashboard, and the two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one to seven: from the timer to the verifier. Steps four, six, and seven are the only model calls.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eight to thirteen: the gate, the answer, the remedy, and the follow-up. Step eleven is the last model call.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household store is the product state. The run store is the audit trail. S3 keeps both across instance replacements.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 is the product. It must survive a process exit, a late answer, and a second click. The engine enforces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caps stack: the run, the day, and the account alert. The largest saving is the quiet night with zero calls.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risks that matter are Bedrock authorization and a double send. One has a fallback. The other is impossible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decisions. Each one trades a little generality for a bound the household can trust.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groups: the account, the models, and the machine. The only blocker outside our control is the Bedrock 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deploy_ec2.py uploads a release and the runtime environment to the state bucket. The instance installs itself from them. Caddy terminates TLS. A timer runs the sweep. The store mirrors back to the bucket.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steps. No SSH key exists anywhere. Logs and commands go through SSM.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works. Two AWS gates stand between the live server and a full run on Bedrock.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pic>
        <p:nvPicPr>
          <p:cNvPr id="2" name="Picture 1" descr="logo-nightwatch.png"/>
          <p:cNvPicPr>
            <a:picLocks noChangeAspect="1"/>
          </p:cNvPicPr>
          <p:nvPr/>
        </p:nvPicPr>
        <p:blipFill>
          <a:blip r:embed="rId2"/>
          <a:stretch>
            <a:fillRect/>
          </a:stretch>
        </p:blipFill>
        <p:spPr>
          <a:xfrm>
            <a:off x="698482" y="609584"/>
            <a:ext cx="457188" cy="457188"/>
          </a:xfrm>
          <a:prstGeom prst="rect">
            <a:avLst/>
          </a:prstGeom>
        </p:spPr>
      </p:pic>
      <p:sp>
        <p:nvSpPr>
          <p:cNvPr id="3" name="TextBox 2"/>
          <p:cNvSpPr txBox="1"/>
          <p:nvPr/>
        </p:nvSpPr>
        <p:spPr>
          <a:xfrm>
            <a:off x="1308066" y="609584"/>
            <a:ext cx="2539936" cy="457188"/>
          </a:xfrm>
          <a:prstGeom prst="rect">
            <a:avLst/>
          </a:prstGeom>
          <a:noFill/>
        </p:spPr>
        <p:txBody>
          <a:bodyPr wrap="square" lIns="0" rIns="0" tIns="0" bIns="0" anchor="ctr">
            <a:spAutoFit/>
          </a:bodyPr>
          <a:lstStyle/>
          <a:p>
            <a:pPr algn="l"/>
            <a:r>
              <a:rPr sz="2199" b="1" i="0">
                <a:solidFill>
                  <a:srgbClr val="F7F4F3"/>
                </a:solidFill>
                <a:latin typeface="Roboto Slab"/>
              </a:rPr>
              <a:t>Guardian</a:t>
            </a:r>
          </a:p>
        </p:txBody>
      </p:sp>
      <p:sp>
        <p:nvSpPr>
          <p:cNvPr id="4" name="TextBox 3"/>
          <p:cNvSpPr txBox="1"/>
          <p:nvPr/>
        </p:nvSpPr>
        <p:spPr>
          <a:xfrm>
            <a:off x="698482" y="1904952"/>
            <a:ext cx="9524761" cy="1904952"/>
          </a:xfrm>
          <a:prstGeom prst="rect">
            <a:avLst/>
          </a:prstGeom>
          <a:noFill/>
        </p:spPr>
        <p:txBody>
          <a:bodyPr wrap="square" lIns="0" rIns="0" tIns="0" bIns="0" anchor="t">
            <a:spAutoFit/>
          </a:bodyPr>
          <a:lstStyle/>
          <a:p>
            <a:pPr algn="l">
              <a:lnSpc>
                <a:spcPct val="102000"/>
              </a:lnSpc>
            </a:pPr>
            <a:r>
              <a:rPr sz="6399" b="1" i="0">
                <a:solidFill>
                  <a:srgbClr val="F7F4F3"/>
                </a:solidFill>
                <a:latin typeface="Roboto Slab"/>
              </a:rPr>
              <a:t>Recall &amp; Warranty Guardian</a:t>
            </a:r>
          </a:p>
        </p:txBody>
      </p:sp>
      <p:sp>
        <p:nvSpPr>
          <p:cNvPr id="5" name="TextBox 4"/>
          <p:cNvSpPr txBox="1"/>
          <p:nvPr/>
        </p:nvSpPr>
        <p:spPr>
          <a:xfrm>
            <a:off x="698482" y="3809904"/>
            <a:ext cx="8254793" cy="761980"/>
          </a:xfrm>
          <a:prstGeom prst="rect">
            <a:avLst/>
          </a:prstGeom>
          <a:noFill/>
        </p:spPr>
        <p:txBody>
          <a:bodyPr wrap="square" lIns="0" rIns="0" tIns="0" bIns="0" anchor="t">
            <a:spAutoFit/>
          </a:bodyPr>
          <a:lstStyle/>
          <a:p>
            <a:pPr algn="l">
              <a:lnSpc>
                <a:spcPct val="130000"/>
              </a:lnSpc>
            </a:pPr>
            <a:r>
              <a:rPr sz="1999" b="0" i="0">
                <a:solidFill>
                  <a:srgbClr val="F7F4F3"/>
                </a:solidFill>
                <a:latin typeface="Lora"/>
              </a:rPr>
              <a:t>Architecture. A background agent for one household: gren graphs on the Strands Agents SDK, Claude on Amazon Bedrock, one human gate.</a:t>
            </a:r>
          </a:p>
        </p:txBody>
      </p:sp>
      <p:sp>
        <p:nvSpPr>
          <p:cNvPr id="6" name="TextBox 5"/>
          <p:cNvSpPr txBox="1"/>
          <p:nvPr/>
        </p:nvSpPr>
        <p:spPr>
          <a:xfrm>
            <a:off x="698482" y="4635384"/>
            <a:ext cx="8254793" cy="380990"/>
          </a:xfrm>
          <a:prstGeom prst="rect">
            <a:avLst/>
          </a:prstGeom>
          <a:noFill/>
        </p:spPr>
        <p:txBody>
          <a:bodyPr wrap="square" lIns="0" rIns="0" tIns="0" bIns="0" anchor="t">
            <a:spAutoFit/>
          </a:bodyPr>
          <a:lstStyle/>
          <a:p>
            <a:pPr algn="l"/>
            <a:r>
              <a:rPr sz="1699" b="0" i="1">
                <a:solidFill>
                  <a:srgbClr val="B9C3BD"/>
                </a:solidFill>
                <a:latin typeface="Lora"/>
              </a:rPr>
              <a:t>The best output of the agent is silence.</a:t>
            </a:r>
          </a:p>
        </p:txBody>
      </p:sp>
      <p:cxnSp>
        <p:nvCxnSpPr>
          <p:cNvPr id="7" name="Connector 6"/>
          <p:cNvCxnSpPr/>
          <p:nvPr/>
        </p:nvCxnSpPr>
        <p:spPr>
          <a:xfrm>
            <a:off x="698482" y="5683107"/>
            <a:ext cx="10794730" cy="0"/>
          </a:xfrm>
          <a:prstGeom prst="line">
            <a:avLst/>
          </a:prstGeom>
          <a:ln w="12700">
            <a:solidFill>
              <a:srgbClr val="2C3B3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98482" y="5873603"/>
            <a:ext cx="10794730" cy="253993"/>
          </a:xfrm>
          <a:prstGeom prst="rect">
            <a:avLst/>
          </a:prstGeom>
          <a:noFill/>
        </p:spPr>
        <p:txBody>
          <a:bodyPr wrap="square" lIns="0" rIns="0" tIns="0" bIns="0" anchor="t">
            <a:spAutoFit/>
          </a:bodyPr>
          <a:lstStyle/>
          <a:p>
            <a:pPr algn="l"/>
            <a:r>
              <a:rPr sz="1299" b="0" i="0" spc="200">
                <a:solidFill>
                  <a:srgbClr val="FCBA04"/>
                </a:solidFill>
                <a:latin typeface="Habibi"/>
              </a:rPr>
              <a:t>AGENTS FOR HUMANS · EVERYDAY AGENTS · STRANDS AGENTS SDK · APACHE-2.0</a:t>
            </a:r>
          </a:p>
        </p:txBody>
      </p:sp>
      <p:sp>
        <p:nvSpPr>
          <p:cNvPr id="9" name="TextBox 8"/>
          <p:cNvSpPr txBox="1"/>
          <p:nvPr/>
        </p:nvSpPr>
        <p:spPr>
          <a:xfrm>
            <a:off x="698482" y="6191095"/>
            <a:ext cx="10794730" cy="253993"/>
          </a:xfrm>
          <a:prstGeom prst="rect">
            <a:avLst/>
          </a:prstGeom>
          <a:noFill/>
        </p:spPr>
        <p:txBody>
          <a:bodyPr wrap="square" lIns="0" rIns="0" tIns="0" bIns="0" anchor="t">
            <a:spAutoFit/>
          </a:bodyPr>
          <a:lstStyle/>
          <a:p>
            <a:pPr algn="l"/>
            <a:r>
              <a:rPr sz="1299" b="0" i="0">
                <a:solidFill>
                  <a:srgbClr val="B9C3BD"/>
                </a:solidFill>
                <a:latin typeface="Consolas"/>
              </a:rPr>
              <a:t>github.com/KrishGup/Recall-and-Warranty-Guardian  ·  live: guardian.44-214-230-44.sslip.io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PROBLEM AND SOLUTION</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Recalls reach everyone and match nobody</a:t>
            </a:r>
          </a:p>
        </p:txBody>
      </p:sp>
      <p:cxnSp>
        <p:nvCxnSpPr>
          <p:cNvPr id="4" name="Connector 3"/>
          <p:cNvCxnSpPr/>
          <p:nvPr/>
        </p:nvCxnSpPr>
        <p:spPr>
          <a:xfrm>
            <a:off x="698482" y="1904952"/>
            <a:ext cx="524496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8482" y="2044648"/>
            <a:ext cx="5244968" cy="228594"/>
          </a:xfrm>
          <a:prstGeom prst="rect">
            <a:avLst/>
          </a:prstGeom>
          <a:noFill/>
        </p:spPr>
        <p:txBody>
          <a:bodyPr wrap="square" lIns="0" rIns="0" tIns="0" bIns="0" anchor="t">
            <a:spAutoFit/>
          </a:bodyPr>
          <a:lstStyle/>
          <a:p>
            <a:pPr algn="l"/>
            <a:r>
              <a:rPr sz="1199" b="0" i="0" spc="200">
                <a:solidFill>
                  <a:srgbClr val="2274A5"/>
                </a:solidFill>
                <a:latin typeface="Habibi"/>
              </a:rPr>
              <a:t>PROBLEM</a:t>
            </a:r>
          </a:p>
        </p:txBody>
      </p:sp>
      <p:sp>
        <p:nvSpPr>
          <p:cNvPr id="6" name="Rectangle 5"/>
          <p:cNvSpPr/>
          <p:nvPr/>
        </p:nvSpPr>
        <p:spPr>
          <a:xfrm>
            <a:off x="698482" y="247834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8977" y="2387540"/>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Regulators publish thousands of recalls each year. CPSC, NHTSA, and openFDA each have their own feed.</a:t>
            </a:r>
          </a:p>
        </p:txBody>
      </p:sp>
      <p:sp>
        <p:nvSpPr>
          <p:cNvPr id="8" name="Rectangle 7"/>
          <p:cNvSpPr/>
          <p:nvPr/>
        </p:nvSpPr>
        <p:spPr>
          <a:xfrm>
            <a:off x="698482" y="302849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2937690"/>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The notices go to everyone. Nobody matches them to the products in one home.</a:t>
            </a:r>
          </a:p>
        </p:txBody>
      </p:sp>
      <p:sp>
        <p:nvSpPr>
          <p:cNvPr id="10" name="Rectangle 9"/>
          <p:cNvSpPr/>
          <p:nvPr/>
        </p:nvSpPr>
        <p:spPr>
          <a:xfrm>
            <a:off x="698482" y="357864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977" y="3487840"/>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The remedies are free. Most of them stay unclaimed. Warranties expire with claims never filed.</a:t>
            </a:r>
          </a:p>
        </p:txBody>
      </p:sp>
      <p:sp>
        <p:nvSpPr>
          <p:cNvPr id="12" name="Rectangle 11"/>
          <p:cNvSpPr/>
          <p:nvPr/>
        </p:nvSpPr>
        <p:spPr>
          <a:xfrm>
            <a:off x="698482" y="412879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977" y="4037991"/>
            <a:ext cx="5054473" cy="653779"/>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A person does not want another app to check. A person wants one message, one decision, only when it matters.</a:t>
            </a:r>
          </a:p>
        </p:txBody>
      </p:sp>
      <p:cxnSp>
        <p:nvCxnSpPr>
          <p:cNvPr id="14" name="Connector 13"/>
          <p:cNvCxnSpPr/>
          <p:nvPr/>
        </p:nvCxnSpPr>
        <p:spPr>
          <a:xfrm>
            <a:off x="6248243" y="1904952"/>
            <a:ext cx="524496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48243" y="2044648"/>
            <a:ext cx="5244968" cy="228594"/>
          </a:xfrm>
          <a:prstGeom prst="rect">
            <a:avLst/>
          </a:prstGeom>
          <a:noFill/>
        </p:spPr>
        <p:txBody>
          <a:bodyPr wrap="square" lIns="0" rIns="0" tIns="0" bIns="0" anchor="t">
            <a:spAutoFit/>
          </a:bodyPr>
          <a:lstStyle/>
          <a:p>
            <a:pPr algn="l"/>
            <a:r>
              <a:rPr sz="1199" b="0" i="0" spc="200">
                <a:solidFill>
                  <a:srgbClr val="2274A5"/>
                </a:solidFill>
                <a:latin typeface="Habibi"/>
              </a:rPr>
              <a:t>SOLUTION</a:t>
            </a:r>
          </a:p>
        </p:txBody>
      </p:sp>
      <p:sp>
        <p:nvSpPr>
          <p:cNvPr id="16" name="Rectangle 15"/>
          <p:cNvSpPr/>
          <p:nvPr/>
        </p:nvSpPr>
        <p:spPr>
          <a:xfrm>
            <a:off x="6248243" y="247834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8739" y="2387540"/>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Guardian builds an inventory of the household from forwarded receipts, order emails, and VINs.</a:t>
            </a:r>
          </a:p>
        </p:txBody>
      </p:sp>
      <p:sp>
        <p:nvSpPr>
          <p:cNvPr id="18" name="Rectangle 17"/>
          <p:cNvSpPr/>
          <p:nvPr/>
        </p:nvSpPr>
        <p:spPr>
          <a:xfrm>
            <a:off x="6248243" y="302849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8739" y="2937690"/>
            <a:ext cx="5054473" cy="653779"/>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Each night, a Strands graph pulls the new recalls, matches them in code, and gives only the ambiguous pairs to a model.</a:t>
            </a:r>
          </a:p>
        </p:txBody>
      </p:sp>
      <p:sp>
        <p:nvSpPr>
          <p:cNvPr id="20" name="Rectangle 19"/>
          <p:cNvSpPr/>
          <p:nvPr/>
        </p:nvSpPr>
        <p:spPr>
          <a:xfrm>
            <a:off x="6248243" y="3796570"/>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8739" y="3705767"/>
            <a:ext cx="5054473" cy="653779"/>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A triage agent and an adversarial verifier decide what deserves an interrupt. The graph stops at one human gate.</a:t>
            </a:r>
          </a:p>
        </p:txBody>
      </p:sp>
      <p:sp>
        <p:nvSpPr>
          <p:cNvPr id="22" name="Rectangle 21"/>
          <p:cNvSpPr/>
          <p:nvPr/>
        </p:nvSpPr>
        <p:spPr>
          <a:xfrm>
            <a:off x="6248243" y="456464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8739" y="4473844"/>
            <a:ext cx="5054473" cy="653779"/>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After one approval, a side-effect node sends the remedy request with the receipt attached. Then it schedules a follow-up.</a:t>
            </a:r>
          </a:p>
        </p:txBody>
      </p:sp>
      <p:cxnSp>
        <p:nvCxnSpPr>
          <p:cNvPr id="24" name="Connector 23"/>
          <p:cNvCxnSpPr/>
          <p:nvPr/>
        </p:nvCxnSpPr>
        <p:spPr>
          <a:xfrm>
            <a:off x="698482" y="5206869"/>
            <a:ext cx="10794730"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98482" y="5371965"/>
            <a:ext cx="3395048" cy="571485"/>
          </a:xfrm>
          <a:prstGeom prst="rect">
            <a:avLst/>
          </a:prstGeom>
          <a:noFill/>
        </p:spPr>
        <p:txBody>
          <a:bodyPr wrap="square" lIns="0" rIns="0" tIns="0" bIns="0" anchor="t">
            <a:spAutoFit/>
          </a:bodyPr>
          <a:lstStyle/>
          <a:p>
            <a:pPr algn="l">
              <a:lnSpc>
                <a:spcPct val="100000"/>
              </a:lnSpc>
            </a:pPr>
            <a:r>
              <a:rPr sz="3999" b="1" i="0">
                <a:solidFill>
                  <a:srgbClr val="000F08"/>
                </a:solidFill>
                <a:latin typeface="Roboto Slab"/>
              </a:rPr>
              <a:t>594</a:t>
            </a:r>
          </a:p>
        </p:txBody>
      </p:sp>
      <p:sp>
        <p:nvSpPr>
          <p:cNvPr id="26" name="TextBox 25"/>
          <p:cNvSpPr txBox="1"/>
          <p:nvPr/>
        </p:nvSpPr>
        <p:spPr>
          <a:xfrm>
            <a:off x="698482" y="5968850"/>
            <a:ext cx="3395048" cy="380990"/>
          </a:xfrm>
          <a:prstGeom prst="rect">
            <a:avLst/>
          </a:prstGeom>
          <a:noFill/>
        </p:spPr>
        <p:txBody>
          <a:bodyPr wrap="square" lIns="0" rIns="0" tIns="0" bIns="0" anchor="t">
            <a:spAutoFit/>
          </a:bodyPr>
          <a:lstStyle/>
          <a:p>
            <a:pPr algn="l">
              <a:lnSpc>
                <a:spcPct val="125000"/>
              </a:lnSpc>
            </a:pPr>
            <a:r>
              <a:rPr sz="1199" b="0" i="0">
                <a:solidFill>
                  <a:srgbClr val="4A5551"/>
                </a:solidFill>
                <a:latin typeface="Lora"/>
              </a:rPr>
              <a:t>CPSC recalls in one 400-day window</a:t>
            </a:r>
          </a:p>
        </p:txBody>
      </p:sp>
      <p:sp>
        <p:nvSpPr>
          <p:cNvPr id="27" name="TextBox 26"/>
          <p:cNvSpPr txBox="1"/>
          <p:nvPr/>
        </p:nvSpPr>
        <p:spPr>
          <a:xfrm>
            <a:off x="4398323" y="5371965"/>
            <a:ext cx="3395048" cy="571485"/>
          </a:xfrm>
          <a:prstGeom prst="rect">
            <a:avLst/>
          </a:prstGeom>
          <a:noFill/>
        </p:spPr>
        <p:txBody>
          <a:bodyPr wrap="square" lIns="0" rIns="0" tIns="0" bIns="0" anchor="t">
            <a:spAutoFit/>
          </a:bodyPr>
          <a:lstStyle/>
          <a:p>
            <a:pPr algn="l">
              <a:lnSpc>
                <a:spcPct val="100000"/>
              </a:lnSpc>
            </a:pPr>
            <a:r>
              <a:rPr sz="3999" b="1" i="0">
                <a:solidFill>
                  <a:srgbClr val="000F08"/>
                </a:solidFill>
                <a:latin typeface="Roboto Slab"/>
              </a:rPr>
              <a:t>1,200</a:t>
            </a:r>
          </a:p>
        </p:txBody>
      </p:sp>
      <p:sp>
        <p:nvSpPr>
          <p:cNvPr id="28" name="TextBox 27"/>
          <p:cNvSpPr txBox="1"/>
          <p:nvPr/>
        </p:nvSpPr>
        <p:spPr>
          <a:xfrm>
            <a:off x="4398323" y="5968850"/>
            <a:ext cx="3395048" cy="380990"/>
          </a:xfrm>
          <a:prstGeom prst="rect">
            <a:avLst/>
          </a:prstGeom>
          <a:noFill/>
        </p:spPr>
        <p:txBody>
          <a:bodyPr wrap="square" lIns="0" rIns="0" tIns="0" bIns="0" anchor="t">
            <a:spAutoFit/>
          </a:bodyPr>
          <a:lstStyle/>
          <a:p>
            <a:pPr algn="l">
              <a:lnSpc>
                <a:spcPct val="125000"/>
              </a:lnSpc>
            </a:pPr>
            <a:r>
              <a:rPr sz="1199" b="0" i="0">
                <a:solidFill>
                  <a:srgbClr val="4A5551"/>
                </a:solidFill>
                <a:latin typeface="Lora"/>
              </a:rPr>
              <a:t>openFDA enforcement reports in the same window</a:t>
            </a:r>
          </a:p>
        </p:txBody>
      </p:sp>
      <p:sp>
        <p:nvSpPr>
          <p:cNvPr id="29" name="TextBox 28"/>
          <p:cNvSpPr txBox="1"/>
          <p:nvPr/>
        </p:nvSpPr>
        <p:spPr>
          <a:xfrm>
            <a:off x="8098164" y="5371965"/>
            <a:ext cx="3395048" cy="571485"/>
          </a:xfrm>
          <a:prstGeom prst="rect">
            <a:avLst/>
          </a:prstGeom>
          <a:noFill/>
        </p:spPr>
        <p:txBody>
          <a:bodyPr wrap="square" lIns="0" rIns="0" tIns="0" bIns="0" anchor="t">
            <a:spAutoFit/>
          </a:bodyPr>
          <a:lstStyle/>
          <a:p>
            <a:pPr algn="l">
              <a:lnSpc>
                <a:spcPct val="100000"/>
              </a:lnSpc>
            </a:pPr>
            <a:r>
              <a:rPr sz="3999" b="1" i="0">
                <a:solidFill>
                  <a:srgbClr val="000F08"/>
                </a:solidFill>
                <a:latin typeface="Roboto Slab"/>
              </a:rPr>
              <a:t>0</a:t>
            </a:r>
          </a:p>
        </p:txBody>
      </p:sp>
      <p:sp>
        <p:nvSpPr>
          <p:cNvPr id="30" name="TextBox 29"/>
          <p:cNvSpPr txBox="1"/>
          <p:nvPr/>
        </p:nvSpPr>
        <p:spPr>
          <a:xfrm>
            <a:off x="8098164" y="5968850"/>
            <a:ext cx="3395048" cy="380990"/>
          </a:xfrm>
          <a:prstGeom prst="rect">
            <a:avLst/>
          </a:prstGeom>
          <a:noFill/>
        </p:spPr>
        <p:txBody>
          <a:bodyPr wrap="square" lIns="0" rIns="0" tIns="0" bIns="0" anchor="t">
            <a:spAutoFit/>
          </a:bodyPr>
          <a:lstStyle/>
          <a:p>
            <a:pPr algn="l">
              <a:lnSpc>
                <a:spcPct val="125000"/>
              </a:lnSpc>
            </a:pPr>
            <a:r>
              <a:rPr sz="1199" b="0" i="0">
                <a:solidFill>
                  <a:srgbClr val="4A5551"/>
                </a:solidFill>
                <a:latin typeface="Lora"/>
              </a:rPr>
              <a:t>model calls on a quiet night</a:t>
            </a:r>
          </a:p>
        </p:txBody>
      </p:sp>
      <p:sp>
        <p:nvSpPr>
          <p:cNvPr id="31" name="TextBox 30"/>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EXPECTED OUTCOMES</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What changes for the household</a:t>
            </a:r>
          </a:p>
        </p:txBody>
      </p:sp>
      <p:cxnSp>
        <p:nvCxnSpPr>
          <p:cNvPr id="4" name="Connector 3"/>
          <p:cNvCxnSpPr/>
          <p:nvPr/>
        </p:nvCxnSpPr>
        <p:spPr>
          <a:xfrm>
            <a:off x="698482" y="1904952"/>
            <a:ext cx="524496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8482" y="2044648"/>
            <a:ext cx="5244968" cy="228594"/>
          </a:xfrm>
          <a:prstGeom prst="rect">
            <a:avLst/>
          </a:prstGeom>
          <a:noFill/>
        </p:spPr>
        <p:txBody>
          <a:bodyPr wrap="square" lIns="0" rIns="0" tIns="0" bIns="0" anchor="t">
            <a:spAutoFit/>
          </a:bodyPr>
          <a:lstStyle/>
          <a:p>
            <a:pPr algn="l"/>
            <a:r>
              <a:rPr sz="1199" b="0" i="0" spc="200">
                <a:solidFill>
                  <a:srgbClr val="2274A5"/>
                </a:solidFill>
                <a:latin typeface="Habibi"/>
              </a:rPr>
              <a:t>BEFORE</a:t>
            </a:r>
          </a:p>
        </p:txBody>
      </p:sp>
      <p:sp>
        <p:nvSpPr>
          <p:cNvPr id="6" name="Rectangle 5"/>
          <p:cNvSpPr/>
          <p:nvPr/>
        </p:nvSpPr>
        <p:spPr>
          <a:xfrm>
            <a:off x="698482" y="247834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8977" y="2387540"/>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The household hears about a recall by chance, or never.</a:t>
            </a:r>
          </a:p>
        </p:txBody>
      </p:sp>
      <p:sp>
        <p:nvSpPr>
          <p:cNvPr id="8" name="Rectangle 7"/>
          <p:cNvSpPr/>
          <p:nvPr/>
        </p:nvSpPr>
        <p:spPr>
          <a:xfrm>
            <a:off x="698482" y="302849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2937690"/>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A recall notice needs a manual search of the model number, the UPC, and the purchase date.</a:t>
            </a:r>
          </a:p>
        </p:txBody>
      </p:sp>
      <p:sp>
        <p:nvSpPr>
          <p:cNvPr id="10" name="Rectangle 9"/>
          <p:cNvSpPr/>
          <p:nvPr/>
        </p:nvSpPr>
        <p:spPr>
          <a:xfrm>
            <a:off x="698482" y="357864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977" y="3487840"/>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A remedy request needs the receipt, the contact address, and a letter. Most people stop here.</a:t>
            </a:r>
          </a:p>
        </p:txBody>
      </p:sp>
      <p:sp>
        <p:nvSpPr>
          <p:cNvPr id="12" name="Rectangle 11"/>
          <p:cNvSpPr/>
          <p:nvPr/>
        </p:nvSpPr>
        <p:spPr>
          <a:xfrm>
            <a:off x="698482" y="412879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977" y="4037991"/>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Nobody tracks the warranty window of a blender bought in 2016.</a:t>
            </a:r>
          </a:p>
        </p:txBody>
      </p:sp>
      <p:cxnSp>
        <p:nvCxnSpPr>
          <p:cNvPr id="14" name="Connector 13"/>
          <p:cNvCxnSpPr/>
          <p:nvPr/>
        </p:nvCxnSpPr>
        <p:spPr>
          <a:xfrm>
            <a:off x="6248243" y="1904952"/>
            <a:ext cx="524496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48243" y="2044648"/>
            <a:ext cx="5244968" cy="228594"/>
          </a:xfrm>
          <a:prstGeom prst="rect">
            <a:avLst/>
          </a:prstGeom>
          <a:noFill/>
        </p:spPr>
        <p:txBody>
          <a:bodyPr wrap="square" lIns="0" rIns="0" tIns="0" bIns="0" anchor="t">
            <a:spAutoFit/>
          </a:bodyPr>
          <a:lstStyle/>
          <a:p>
            <a:pPr algn="l"/>
            <a:r>
              <a:rPr sz="1199" b="0" i="0" spc="200">
                <a:solidFill>
                  <a:srgbClr val="2274A5"/>
                </a:solidFill>
                <a:latin typeface="Habibi"/>
              </a:rPr>
              <a:t>AFTER</a:t>
            </a:r>
          </a:p>
        </p:txBody>
      </p:sp>
      <p:sp>
        <p:nvSpPr>
          <p:cNvPr id="16" name="Rectangle 15"/>
          <p:cNvSpPr/>
          <p:nvPr/>
        </p:nvSpPr>
        <p:spPr>
          <a:xfrm>
            <a:off x="6248243" y="2478343"/>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8739" y="2387540"/>
            <a:ext cx="5054473" cy="653779"/>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Every night, the inventory is compared with the new recalls. The household sees a quiet score, not a feed.</a:t>
            </a:r>
          </a:p>
        </p:txBody>
      </p:sp>
      <p:sp>
        <p:nvSpPr>
          <p:cNvPr id="18" name="Rectangle 17"/>
          <p:cNvSpPr/>
          <p:nvPr/>
        </p:nvSpPr>
        <p:spPr>
          <a:xfrm>
            <a:off x="6248243" y="3246419"/>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8739" y="3155617"/>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A critical hazard becomes one SMS with one decision. A standard hazard goes to a weekly digest.</a:t>
            </a:r>
          </a:p>
        </p:txBody>
      </p:sp>
      <p:sp>
        <p:nvSpPr>
          <p:cNvPr id="20" name="Rectangle 19"/>
          <p:cNvSpPr/>
          <p:nvPr/>
        </p:nvSpPr>
        <p:spPr>
          <a:xfrm>
            <a:off x="6248243" y="3796570"/>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8739" y="3705767"/>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One tap files the remedy request with the receipt. A follow-up runs after 10 business days.</a:t>
            </a:r>
          </a:p>
        </p:txBody>
      </p:sp>
      <p:sp>
        <p:nvSpPr>
          <p:cNvPr id="22" name="Rectangle 21"/>
          <p:cNvSpPr/>
          <p:nvPr/>
        </p:nvSpPr>
        <p:spPr>
          <a:xfrm>
            <a:off x="6248243" y="4346720"/>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8739" y="4255917"/>
            <a:ext cx="5054473" cy="435853"/>
          </a:xfrm>
          <a:prstGeom prst="rect">
            <a:avLst/>
          </a:prstGeom>
          <a:noFill/>
        </p:spPr>
        <p:txBody>
          <a:bodyPr wrap="square" lIns="0" rIns="0" tIns="0" bIns="0" anchor="t">
            <a:spAutoFit/>
          </a:bodyPr>
          <a:lstStyle/>
          <a:p>
            <a:pPr algn="l">
              <a:lnSpc>
                <a:spcPct val="130000"/>
              </a:lnSpc>
            </a:pPr>
            <a:r>
              <a:rPr sz="1299" b="0" i="0">
                <a:solidFill>
                  <a:srgbClr val="000F08"/>
                </a:solidFill>
                <a:latin typeface="Lora"/>
              </a:rPr>
              <a:t>A warranty that ends soon triggers one question: is anything wrong with it?</a:t>
            </a:r>
          </a:p>
        </p:txBody>
      </p:sp>
      <p:cxnSp>
        <p:nvCxnSpPr>
          <p:cNvPr id="24" name="Connector 23"/>
          <p:cNvCxnSpPr/>
          <p:nvPr/>
        </p:nvCxnSpPr>
        <p:spPr>
          <a:xfrm>
            <a:off x="698482" y="5206869"/>
            <a:ext cx="10794730"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98482" y="5371965"/>
            <a:ext cx="3395048" cy="571485"/>
          </a:xfrm>
          <a:prstGeom prst="rect">
            <a:avLst/>
          </a:prstGeom>
          <a:noFill/>
        </p:spPr>
        <p:txBody>
          <a:bodyPr wrap="square" lIns="0" rIns="0" tIns="0" bIns="0" anchor="t">
            <a:spAutoFit/>
          </a:bodyPr>
          <a:lstStyle/>
          <a:p>
            <a:pPr algn="l">
              <a:lnSpc>
                <a:spcPct val="100000"/>
              </a:lnSpc>
            </a:pPr>
            <a:r>
              <a:rPr sz="3999" b="1" i="0">
                <a:solidFill>
                  <a:srgbClr val="000F08"/>
                </a:solidFill>
                <a:latin typeface="Roboto Slab"/>
              </a:rPr>
              <a:t>1</a:t>
            </a:r>
          </a:p>
        </p:txBody>
      </p:sp>
      <p:sp>
        <p:nvSpPr>
          <p:cNvPr id="26" name="TextBox 25"/>
          <p:cNvSpPr txBox="1"/>
          <p:nvPr/>
        </p:nvSpPr>
        <p:spPr>
          <a:xfrm>
            <a:off x="698482" y="5968850"/>
            <a:ext cx="3395048" cy="380990"/>
          </a:xfrm>
          <a:prstGeom prst="rect">
            <a:avLst/>
          </a:prstGeom>
          <a:noFill/>
        </p:spPr>
        <p:txBody>
          <a:bodyPr wrap="square" lIns="0" rIns="0" tIns="0" bIns="0" anchor="t">
            <a:spAutoFit/>
          </a:bodyPr>
          <a:lstStyle/>
          <a:p>
            <a:pPr algn="l">
              <a:lnSpc>
                <a:spcPct val="125000"/>
              </a:lnSpc>
            </a:pPr>
            <a:r>
              <a:rPr sz="1199" b="0" i="0">
                <a:solidFill>
                  <a:srgbClr val="4A5551"/>
                </a:solidFill>
                <a:latin typeface="Lora"/>
              </a:rPr>
              <a:t>message for each affected item</a:t>
            </a:r>
          </a:p>
        </p:txBody>
      </p:sp>
      <p:sp>
        <p:nvSpPr>
          <p:cNvPr id="27" name="TextBox 26"/>
          <p:cNvSpPr txBox="1"/>
          <p:nvPr/>
        </p:nvSpPr>
        <p:spPr>
          <a:xfrm>
            <a:off x="4398323" y="5371965"/>
            <a:ext cx="3395048" cy="571485"/>
          </a:xfrm>
          <a:prstGeom prst="rect">
            <a:avLst/>
          </a:prstGeom>
          <a:noFill/>
        </p:spPr>
        <p:txBody>
          <a:bodyPr wrap="square" lIns="0" rIns="0" tIns="0" bIns="0" anchor="t">
            <a:spAutoFit/>
          </a:bodyPr>
          <a:lstStyle/>
          <a:p>
            <a:pPr algn="l">
              <a:lnSpc>
                <a:spcPct val="100000"/>
              </a:lnSpc>
            </a:pPr>
            <a:r>
              <a:rPr sz="3999" b="1" i="0">
                <a:solidFill>
                  <a:srgbClr val="000F08"/>
                </a:solidFill>
                <a:latin typeface="Roboto Slab"/>
              </a:rPr>
              <a:t>72 h</a:t>
            </a:r>
          </a:p>
        </p:txBody>
      </p:sp>
      <p:sp>
        <p:nvSpPr>
          <p:cNvPr id="28" name="TextBox 27"/>
          <p:cNvSpPr txBox="1"/>
          <p:nvPr/>
        </p:nvSpPr>
        <p:spPr>
          <a:xfrm>
            <a:off x="4398323" y="5968850"/>
            <a:ext cx="3395048" cy="380990"/>
          </a:xfrm>
          <a:prstGeom prst="rect">
            <a:avLst/>
          </a:prstGeom>
          <a:noFill/>
        </p:spPr>
        <p:txBody>
          <a:bodyPr wrap="square" lIns="0" rIns="0" tIns="0" bIns="0" anchor="t">
            <a:spAutoFit/>
          </a:bodyPr>
          <a:lstStyle/>
          <a:p>
            <a:pPr algn="l">
              <a:lnSpc>
                <a:spcPct val="125000"/>
              </a:lnSpc>
            </a:pPr>
            <a:r>
              <a:rPr sz="1199" b="0" i="0">
                <a:solidFill>
                  <a:srgbClr val="4A5551"/>
                </a:solidFill>
                <a:latin typeface="Lora"/>
              </a:rPr>
              <a:t>a gate holds a decision, then it expires</a:t>
            </a:r>
          </a:p>
        </p:txBody>
      </p:sp>
      <p:sp>
        <p:nvSpPr>
          <p:cNvPr id="29" name="TextBox 28"/>
          <p:cNvSpPr txBox="1"/>
          <p:nvPr/>
        </p:nvSpPr>
        <p:spPr>
          <a:xfrm>
            <a:off x="8098164" y="5371965"/>
            <a:ext cx="3395048" cy="571485"/>
          </a:xfrm>
          <a:prstGeom prst="rect">
            <a:avLst/>
          </a:prstGeom>
          <a:noFill/>
        </p:spPr>
        <p:txBody>
          <a:bodyPr wrap="square" lIns="0" rIns="0" tIns="0" bIns="0" anchor="t">
            <a:spAutoFit/>
          </a:bodyPr>
          <a:lstStyle/>
          <a:p>
            <a:pPr algn="l">
              <a:lnSpc>
                <a:spcPct val="100000"/>
              </a:lnSpc>
            </a:pPr>
            <a:r>
              <a:rPr sz="3999" b="1" i="0">
                <a:solidFill>
                  <a:srgbClr val="000F08"/>
                </a:solidFill>
                <a:latin typeface="Roboto Slab"/>
              </a:rPr>
              <a:t>10 d</a:t>
            </a:r>
          </a:p>
        </p:txBody>
      </p:sp>
      <p:sp>
        <p:nvSpPr>
          <p:cNvPr id="30" name="TextBox 29"/>
          <p:cNvSpPr txBox="1"/>
          <p:nvPr/>
        </p:nvSpPr>
        <p:spPr>
          <a:xfrm>
            <a:off x="8098164" y="5968850"/>
            <a:ext cx="3395048" cy="380990"/>
          </a:xfrm>
          <a:prstGeom prst="rect">
            <a:avLst/>
          </a:prstGeom>
          <a:noFill/>
        </p:spPr>
        <p:txBody>
          <a:bodyPr wrap="square" lIns="0" rIns="0" tIns="0" bIns="0" anchor="t">
            <a:spAutoFit/>
          </a:bodyPr>
          <a:lstStyle/>
          <a:p>
            <a:pPr algn="l">
              <a:lnSpc>
                <a:spcPct val="125000"/>
              </a:lnSpc>
            </a:pPr>
            <a:r>
              <a:rPr sz="1199" b="0" i="0">
                <a:solidFill>
                  <a:srgbClr val="4A5551"/>
                </a:solidFill>
                <a:latin typeface="Lora"/>
              </a:rPr>
              <a:t>business days to the follow-up</a:t>
            </a:r>
          </a:p>
        </p:txBody>
      </p:sp>
      <p:sp>
        <p:nvSpPr>
          <p:cNvPr id="31" name="TextBox 30"/>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AGENT CAPABILITIES</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Four modes, one graph runtime</a:t>
            </a:r>
          </a:p>
        </p:txBody>
      </p:sp>
      <p:graphicFrame>
        <p:nvGraphicFramePr>
          <p:cNvPr id="4" name="Table 3"/>
          <p:cNvGraphicFramePr>
            <a:graphicFrameLocks noGrp="1"/>
          </p:cNvGraphicFramePr>
          <p:nvPr/>
        </p:nvGraphicFramePr>
        <p:xfrm>
          <a:off x="698482" y="1777955"/>
          <a:ext cx="10794728" cy="4509019"/>
        </p:xfrm>
        <a:graphic>
          <a:graphicData uri="http://schemas.openxmlformats.org/drawingml/2006/table">
            <a:tbl>
              <a:tblPr firstRow="1">
                <a:tableStyleId>{5C22544A-7EE6-4342-B048-85BDC9FD1C3A}</a:tableStyleId>
              </a:tblPr>
              <a:tblGrid>
                <a:gridCol w="1904952"/>
                <a:gridCol w="2095447"/>
                <a:gridCol w="3936901"/>
                <a:gridCol w="2857428"/>
              </a:tblGrid>
              <a:tr h="292092">
                <a:tc>
                  <a:txBody>
                    <a:bodyPr wrap="square"/>
                    <a:lstStyle/>
                    <a:p>
                      <a:pPr algn="l"/>
                      <a:r>
                        <a:rPr sz="1049" b="0">
                          <a:solidFill>
                            <a:srgbClr val="F7F4F3"/>
                          </a:solidFill>
                          <a:latin typeface="Habibi"/>
                        </a:rPr>
                        <a:t>MODE</a:t>
                      </a:r>
                    </a:p>
                  </a:txBody>
                  <a:tcPr marL="88897" marR="88897" marT="50798" marB="38099" anchor="t">
                    <a:solidFill>
                      <a:srgbClr val="000F08"/>
                    </a:solidFill>
                  </a:tcPr>
                </a:tc>
                <a:tc>
                  <a:txBody>
                    <a:bodyPr wrap="square"/>
                    <a:lstStyle/>
                    <a:p>
                      <a:pPr algn="l"/>
                      <a:r>
                        <a:rPr sz="1049" b="0">
                          <a:solidFill>
                            <a:srgbClr val="F7F4F3"/>
                          </a:solidFill>
                          <a:latin typeface="Habibi"/>
                        </a:rPr>
                        <a:t>TRIGGER</a:t>
                      </a:r>
                    </a:p>
                  </a:txBody>
                  <a:tcPr marL="88897" marR="88897" marT="50798" marB="38099" anchor="t">
                    <a:solidFill>
                      <a:srgbClr val="000F08"/>
                    </a:solidFill>
                  </a:tcPr>
                </a:tc>
                <a:tc>
                  <a:txBody>
                    <a:bodyPr wrap="square"/>
                    <a:lstStyle/>
                    <a:p>
                      <a:pPr algn="l"/>
                      <a:r>
                        <a:rPr sz="1049" b="0">
                          <a:solidFill>
                            <a:srgbClr val="F7F4F3"/>
                          </a:solidFill>
                          <a:latin typeface="Habibi"/>
                        </a:rPr>
                        <a:t>WHAT IT DOES</a:t>
                      </a:r>
                    </a:p>
                  </a:txBody>
                  <a:tcPr marL="88897" marR="88897" marT="50798" marB="38099" anchor="t">
                    <a:solidFill>
                      <a:srgbClr val="000F08"/>
                    </a:solidFill>
                  </a:tcPr>
                </a:tc>
                <a:tc>
                  <a:txBody>
                    <a:bodyPr wrap="square"/>
                    <a:lstStyle/>
                    <a:p>
                      <a:pPr algn="l"/>
                      <a:r>
                        <a:rPr sz="1049" b="0">
                          <a:solidFill>
                            <a:srgbClr val="F7F4F3"/>
                          </a:solidFill>
                          <a:latin typeface="Habibi"/>
                        </a:rPr>
                        <a:t>OUTPUT</a:t>
                      </a:r>
                    </a:p>
                  </a:txBody>
                  <a:tcPr marL="88897" marR="88897" marT="50798" marB="38099" anchor="t">
                    <a:solidFill>
                      <a:srgbClr val="000F08"/>
                    </a:solidFill>
                  </a:tcPr>
                </a:tc>
              </a:tr>
              <a:tr h="861038">
                <a:tc>
                  <a:txBody>
                    <a:bodyPr wrap="square"/>
                    <a:lstStyle/>
                    <a:p>
                      <a:pPr algn="l"/>
                      <a:r>
                        <a:rPr sz="1149" b="1">
                          <a:solidFill>
                            <a:srgbClr val="000F08"/>
                          </a:solidFill>
                          <a:latin typeface="Roboto Slab"/>
                        </a:rPr>
                        <a:t>Nightly sweep</a:t>
                      </a:r>
                    </a:p>
                  </a:txBody>
                  <a:tcPr marL="88897" marR="88897" marT="50798" marB="38099" anchor="t">
                    <a:solidFill>
                      <a:srgbClr val="FFFFFF"/>
                    </a:solidFill>
                  </a:tcPr>
                </a:tc>
                <a:tc>
                  <a:txBody>
                    <a:bodyPr wrap="square"/>
                    <a:lstStyle/>
                    <a:p>
                      <a:pPr algn="l"/>
                      <a:r>
                        <a:rPr sz="1149" b="0">
                          <a:solidFill>
                            <a:srgbClr val="000F08"/>
                          </a:solidFill>
                          <a:latin typeface="Lora"/>
                        </a:rPr>
                        <a:t>systemd timer at 06:00 UTC, the dashboard logo, or guardian sweep</a:t>
                      </a:r>
                    </a:p>
                  </a:txBody>
                  <a:tcPr marL="88897" marR="88897" marT="50798" marB="38099" anchor="t">
                    <a:solidFill>
                      <a:srgbClr val="FFFFFF"/>
                    </a:solidFill>
                  </a:tcPr>
                </a:tc>
                <a:tc>
                  <a:txBody>
                    <a:bodyPr wrap="square"/>
                    <a:lstStyle/>
                    <a:p>
                      <a:pPr algn="l"/>
                      <a:r>
                        <a:rPr sz="1149" b="0">
                          <a:solidFill>
                            <a:srgbClr val="000F08"/>
                          </a:solidFill>
                          <a:latin typeface="Lora"/>
                        </a:rPr>
                        <a:t>Pulls CPSC, NHTSA, and openFDA. Matches in code (UPC, VIN, model, lexical, sold window). A model adjudicates the ambiguous pairs. Triage plans the night. A verifier checks the plan.</a:t>
                      </a:r>
                    </a:p>
                  </a:txBody>
                  <a:tcPr marL="88897" marR="88897" marT="50798" marB="38099" anchor="t">
                    <a:solidFill>
                      <a:srgbClr val="FFFFFF"/>
                    </a:solidFill>
                  </a:tcPr>
                </a:tc>
                <a:tc>
                  <a:txBody>
                    <a:bodyPr wrap="square"/>
                    <a:lstStyle/>
                    <a:p>
                      <a:pPr algn="l"/>
                      <a:r>
                        <a:rPr sz="1149" b="0">
                          <a:solidFill>
                            <a:srgbClr val="000F08"/>
                          </a:solidFill>
                          <a:latin typeface="Lora"/>
                        </a:rPr>
                        <a:t>Decisions for the household, a digest, a sweep record, the activity log</a:t>
                      </a:r>
                    </a:p>
                  </a:txBody>
                  <a:tcPr marL="88897" marR="88897" marT="50798" marB="38099" anchor="t">
                    <a:solidFill>
                      <a:srgbClr val="FFFFFF"/>
                    </a:solidFill>
                  </a:tcPr>
                </a:tc>
              </a:tr>
              <a:tr h="671178">
                <a:tc>
                  <a:txBody>
                    <a:bodyPr wrap="square"/>
                    <a:lstStyle/>
                    <a:p>
                      <a:pPr algn="l"/>
                      <a:r>
                        <a:rPr sz="1149" b="1">
                          <a:solidFill>
                            <a:srgbClr val="000F08"/>
                          </a:solidFill>
                          <a:latin typeface="Roboto Slab"/>
                        </a:rPr>
                        <a:t>Intake</a:t>
                      </a:r>
                    </a:p>
                  </a:txBody>
                  <a:tcPr marL="88897" marR="88897" marT="50798" marB="38099" anchor="t">
                    <a:solidFill>
                      <a:srgbClr val="EFEBE9"/>
                    </a:solidFill>
                  </a:tcPr>
                </a:tc>
                <a:tc>
                  <a:txBody>
                    <a:bodyPr wrap="square"/>
                    <a:lstStyle/>
                    <a:p>
                      <a:pPr algn="l"/>
                      <a:r>
                        <a:rPr sz="1149" b="0">
                          <a:solidFill>
                            <a:srgbClr val="000F08"/>
                          </a:solidFill>
                          <a:latin typeface="Lora"/>
                        </a:rPr>
                        <a:t>A forwarded receipt, a pasted order email, or a VIN</a:t>
                      </a:r>
                    </a:p>
                  </a:txBody>
                  <a:tcPr marL="88897" marR="88897" marT="50798" marB="38099" anchor="t">
                    <a:solidFill>
                      <a:srgbClr val="EFEBE9"/>
                    </a:solidFill>
                  </a:tcPr>
                </a:tc>
                <a:tc>
                  <a:txBody>
                    <a:bodyPr wrap="square"/>
                    <a:lstStyle/>
                    <a:p>
                      <a:pPr algn="l"/>
                      <a:r>
                        <a:rPr sz="1149" b="0">
                          <a:solidFill>
                            <a:srgbClr val="000F08"/>
                          </a:solidFill>
                          <a:latin typeface="Lora"/>
                        </a:rPr>
                        <a:t>Redacts card numbers. Extracts brand, model, UPC, purchase date, retailer, price, and warranty term. Decodes a VIN with NHTSA vPIC.</a:t>
                      </a:r>
                    </a:p>
                  </a:txBody>
                  <a:tcPr marL="88897" marR="88897" marT="50798" marB="38099" anchor="t">
                    <a:solidFill>
                      <a:srgbClr val="EFEBE9"/>
                    </a:solidFill>
                  </a:tcPr>
                </a:tc>
                <a:tc>
                  <a:txBody>
                    <a:bodyPr wrap="square"/>
                    <a:lstStyle/>
                    <a:p>
                      <a:pPr algn="l"/>
                      <a:r>
                        <a:rPr sz="1149" b="0">
                          <a:solidFill>
                            <a:srgbClr val="000F08"/>
                          </a:solidFill>
                          <a:latin typeface="Lora"/>
                        </a:rPr>
                        <a:t>One inventory item with a warranty window</a:t>
                      </a:r>
                    </a:p>
                  </a:txBody>
                  <a:tcPr marL="88897" marR="88897" marT="50798" marB="38099" anchor="t">
                    <a:solidFill>
                      <a:srgbClr val="EFEBE9"/>
                    </a:solidFill>
                  </a:tcPr>
                </a:tc>
              </a:tr>
              <a:tr h="861038">
                <a:tc>
                  <a:txBody>
                    <a:bodyPr wrap="square"/>
                    <a:lstStyle/>
                    <a:p>
                      <a:pPr algn="l"/>
                      <a:r>
                        <a:rPr sz="1149" b="1">
                          <a:solidFill>
                            <a:srgbClr val="000F08"/>
                          </a:solidFill>
                          <a:latin typeface="Roboto Slab"/>
                        </a:rPr>
                        <a:t>Household decision</a:t>
                      </a:r>
                    </a:p>
                  </a:txBody>
                  <a:tcPr marL="88897" marR="88897" marT="50798" marB="38099" anchor="t">
                    <a:solidFill>
                      <a:srgbClr val="FFFFFF"/>
                    </a:solidFill>
                  </a:tcPr>
                </a:tc>
                <a:tc>
                  <a:txBody>
                    <a:bodyPr wrap="square"/>
                    <a:lstStyle/>
                    <a:p>
                      <a:pPr algn="l"/>
                      <a:r>
                        <a:rPr sz="1149" b="0">
                          <a:solidFill>
                            <a:srgbClr val="000F08"/>
                          </a:solidFill>
                          <a:latin typeface="Lora"/>
                        </a:rPr>
                        <a:t>The gate pauses the run. An SMS link or the dashboard opens the card.</a:t>
                      </a:r>
                    </a:p>
                  </a:txBody>
                  <a:tcPr marL="88897" marR="88897" marT="50798" marB="38099" anchor="t">
                    <a:solidFill>
                      <a:srgbClr val="FFFFFF"/>
                    </a:solidFill>
                  </a:tcPr>
                </a:tc>
                <a:tc>
                  <a:txBody>
                    <a:bodyPr wrap="square"/>
                    <a:lstStyle/>
                    <a:p>
                      <a:pPr algn="l"/>
                      <a:r>
                        <a:rPr sz="1149" b="0">
                          <a:solidFill>
                            <a:srgbClr val="000F08"/>
                          </a:solidFill>
                          <a:latin typeface="Lora"/>
                        </a:rPr>
                        <a:t>Shows one card for each affected item: request remedy, no longer own, not mine, snooze. Batches the answers. Releases the gate on the first approval.</a:t>
                      </a:r>
                    </a:p>
                  </a:txBody>
                  <a:tcPr marL="88897" marR="88897" marT="50798" marB="38099" anchor="t">
                    <a:solidFill>
                      <a:srgbClr val="FFFFFF"/>
                    </a:solidFill>
                  </a:tcPr>
                </a:tc>
                <a:tc>
                  <a:txBody>
                    <a:bodyPr wrap="square"/>
                    <a:lstStyle/>
                    <a:p>
                      <a:pPr algn="l"/>
                      <a:r>
                        <a:rPr sz="1149" b="0">
                          <a:solidFill>
                            <a:srgbClr val="000F08"/>
                          </a:solidFill>
                          <a:latin typeface="Lora"/>
                        </a:rPr>
                        <a:t>A gate approval with the answers as JSON</a:t>
                      </a:r>
                    </a:p>
                  </a:txBody>
                  <a:tcPr marL="88897" marR="88897" marT="50798" marB="38099" anchor="t">
                    <a:solidFill>
                      <a:srgbClr val="FFFFFF"/>
                    </a:solidFill>
                  </a:tcPr>
                </a:tc>
              </a:tr>
              <a:tr h="671178">
                <a:tc>
                  <a:txBody>
                    <a:bodyPr wrap="square"/>
                    <a:lstStyle/>
                    <a:p>
                      <a:pPr algn="l"/>
                      <a:r>
                        <a:rPr sz="1149" b="1">
                          <a:solidFill>
                            <a:srgbClr val="000F08"/>
                          </a:solidFill>
                          <a:latin typeface="Roboto Slab"/>
                        </a:rPr>
                        <a:t>Remedy and follow-up</a:t>
                      </a:r>
                    </a:p>
                  </a:txBody>
                  <a:tcPr marL="88897" marR="88897" marT="50798" marB="38099" anchor="t">
                    <a:solidFill>
                      <a:srgbClr val="EFEBE9"/>
                    </a:solidFill>
                  </a:tcPr>
                </a:tc>
                <a:tc>
                  <a:txBody>
                    <a:bodyPr wrap="square"/>
                    <a:lstStyle/>
                    <a:p>
                      <a:pPr algn="l"/>
                      <a:r>
                        <a:rPr sz="1149" b="0">
                          <a:solidFill>
                            <a:srgbClr val="000F08"/>
                          </a:solidFill>
                          <a:latin typeface="Lora"/>
                        </a:rPr>
                        <a:t>An approved decision</a:t>
                      </a:r>
                    </a:p>
                  </a:txBody>
                  <a:tcPr marL="88897" marR="88897" marT="50798" marB="38099" anchor="t">
                    <a:solidFill>
                      <a:srgbClr val="EFEBE9"/>
                    </a:solidFill>
                  </a:tcPr>
                </a:tc>
                <a:tc>
                  <a:txBody>
                    <a:bodyPr wrap="square"/>
                    <a:lstStyle/>
                    <a:p>
                      <a:pPr algn="l"/>
                      <a:r>
                        <a:rPr sz="1149" b="0">
                          <a:solidFill>
                            <a:srgbClr val="000F08"/>
                          </a:solidFill>
                          <a:latin typeface="Lora"/>
                        </a:rPr>
                        <a:t>Writes the request from the remedy text and the contact address of the recall. Sends it one time. Records the action. Schedules the follow-up.</a:t>
                      </a:r>
                    </a:p>
                  </a:txBody>
                  <a:tcPr marL="88897" marR="88897" marT="50798" marB="38099" anchor="t">
                    <a:solidFill>
                      <a:srgbClr val="EFEBE9"/>
                    </a:solidFill>
                  </a:tcPr>
                </a:tc>
                <a:tc>
                  <a:txBody>
                    <a:bodyPr wrap="square"/>
                    <a:lstStyle/>
                    <a:p>
                      <a:pPr algn="l"/>
                      <a:r>
                        <a:rPr sz="1149" b="0">
                          <a:solidFill>
                            <a:srgbClr val="000F08"/>
                          </a:solidFill>
                          <a:latin typeface="Lora"/>
                        </a:rPr>
                        <a:t>An email (SES or outbox), an action record, a follow-up date</a:t>
                      </a:r>
                    </a:p>
                  </a:txBody>
                  <a:tcPr marL="88897" marR="88897" marT="50798" marB="38099" anchor="t">
                    <a:solidFill>
                      <a:srgbClr val="EFEBE9"/>
                    </a:solidFill>
                  </a:tcPr>
                </a:tc>
              </a:tr>
              <a:tr h="481317">
                <a:tc>
                  <a:txBody>
                    <a:bodyPr wrap="square"/>
                    <a:lstStyle/>
                    <a:p>
                      <a:pPr algn="l"/>
                      <a:r>
                        <a:rPr sz="1149" b="1">
                          <a:solidFill>
                            <a:srgbClr val="000F08"/>
                          </a:solidFill>
                          <a:latin typeface="Roboto Slab"/>
                        </a:rPr>
                        <a:t>Warranty check-in</a:t>
                      </a:r>
                    </a:p>
                  </a:txBody>
                  <a:tcPr marL="88897" marR="88897" marT="50798" marB="38099" anchor="t">
                    <a:solidFill>
                      <a:srgbClr val="FFFFFF"/>
                    </a:solidFill>
                  </a:tcPr>
                </a:tc>
                <a:tc>
                  <a:txBody>
                    <a:bodyPr wrap="square"/>
                    <a:lstStyle/>
                    <a:p>
                      <a:pPr algn="l"/>
                      <a:r>
                        <a:rPr sz="1149" b="0">
                          <a:solidFill>
                            <a:srgbClr val="000F08"/>
                          </a:solidFill>
                          <a:latin typeface="Lora"/>
                        </a:rPr>
                        <a:t>A warranty window that ends within the threshold</a:t>
                      </a:r>
                    </a:p>
                  </a:txBody>
                  <a:tcPr marL="88897" marR="88897" marT="50798" marB="38099" anchor="t">
                    <a:solidFill>
                      <a:srgbClr val="FFFFFF"/>
                    </a:solidFill>
                  </a:tcPr>
                </a:tc>
                <a:tc>
                  <a:txBody>
                    <a:bodyPr wrap="square"/>
                    <a:lstStyle/>
                    <a:p>
                      <a:pPr algn="l"/>
                      <a:r>
                        <a:rPr sz="1149" b="0">
                          <a:solidFill>
                            <a:srgbClr val="000F08"/>
                          </a:solidFill>
                          <a:latin typeface="Lora"/>
                        </a:rPr>
                        <a:t>Asks one question at the right time. A reported problem becomes a claim decision.</a:t>
                      </a:r>
                    </a:p>
                  </a:txBody>
                  <a:tcPr marL="88897" marR="88897" marT="50798" marB="38099" anchor="t">
                    <a:solidFill>
                      <a:srgbClr val="FFFFFF"/>
                    </a:solidFill>
                  </a:tcPr>
                </a:tc>
                <a:tc>
                  <a:txBody>
                    <a:bodyPr wrap="square"/>
                    <a:lstStyle/>
                    <a:p>
                      <a:pPr algn="l"/>
                      <a:r>
                        <a:rPr sz="1149" b="0">
                          <a:solidFill>
                            <a:srgbClr val="000F08"/>
                          </a:solidFill>
                          <a:latin typeface="Lora"/>
                        </a:rPr>
                        <a:t>A decision card, or silence</a:t>
                      </a:r>
                    </a:p>
                  </a:txBody>
                  <a:tcPr marL="88897" marR="88897" marT="50798" marB="38099" anchor="t">
                    <a:solidFill>
                      <a:srgbClr val="FFFFFF"/>
                    </a:solidFill>
                  </a:tcPr>
                </a:tc>
              </a:tr>
              <a:tr h="671178">
                <a:tc>
                  <a:txBody>
                    <a:bodyPr wrap="square"/>
                    <a:lstStyle/>
                    <a:p>
                      <a:pPr algn="l"/>
                      <a:r>
                        <a:rPr sz="1149" b="1">
                          <a:solidFill>
                            <a:srgbClr val="000F08"/>
                          </a:solidFill>
                          <a:latin typeface="Roboto Slab"/>
                        </a:rPr>
                        <a:t>Agent flow</a:t>
                      </a:r>
                    </a:p>
                  </a:txBody>
                  <a:tcPr marL="88897" marR="88897" marT="50798" marB="38099" anchor="t">
                    <a:solidFill>
                      <a:srgbClr val="EFEBE9"/>
                    </a:solidFill>
                  </a:tcPr>
                </a:tc>
                <a:tc>
                  <a:txBody>
                    <a:bodyPr wrap="square"/>
                    <a:lstStyle/>
                    <a:p>
                      <a:pPr algn="l"/>
                      <a:r>
                        <a:rPr sz="1149" b="0">
                          <a:solidFill>
                            <a:srgbClr val="000F08"/>
                          </a:solidFill>
                          <a:latin typeface="Lora"/>
                        </a:rPr>
                        <a:t>Any run, live or past</a:t>
                      </a:r>
                    </a:p>
                  </a:txBody>
                  <a:tcPr marL="88897" marR="88897" marT="50798" marB="38099" anchor="t">
                    <a:solidFill>
                      <a:srgbClr val="EFEBE9"/>
                    </a:solidFill>
                  </a:tcPr>
                </a:tc>
                <a:tc>
                  <a:txBody>
                    <a:bodyPr wrap="square"/>
                    <a:lstStyle/>
                    <a:p>
                      <a:pPr algn="l"/>
                      <a:r>
                        <a:rPr sz="1149" b="0">
                          <a:solidFill>
                            <a:srgbClr val="000F08"/>
                          </a:solidFill>
                          <a:latin typeface="Lora"/>
                        </a:rPr>
                        <a:t>Shows the run as the graph executed it: canvas, timeline, events, metrics, gate, spec, and each node. Forks a run from any node.</a:t>
                      </a:r>
                    </a:p>
                  </a:txBody>
                  <a:tcPr marL="88897" marR="88897" marT="50798" marB="38099" anchor="t">
                    <a:solidFill>
                      <a:srgbClr val="EFEBE9"/>
                    </a:solidFill>
                  </a:tcPr>
                </a:tc>
                <a:tc>
                  <a:txBody>
                    <a:bodyPr wrap="square"/>
                    <a:lstStyle/>
                    <a:p>
                      <a:pPr algn="l"/>
                      <a:r>
                        <a:rPr sz="1149" b="0">
                          <a:solidFill>
                            <a:srgbClr val="000F08"/>
                          </a:solidFill>
                          <a:latin typeface="Lora"/>
                        </a:rPr>
                        <a:t>The trace workbench in the dashboard</a:t>
                      </a:r>
                    </a:p>
                  </a:txBody>
                  <a:tcPr marL="88897" marR="88897" marT="50798" marB="38099" anchor="t">
                    <a:solidFill>
                      <a:srgbClr val="EFEBE9"/>
                    </a:solidFill>
                  </a:tcPr>
                </a:tc>
              </a:tr>
            </a:tbl>
          </a:graphicData>
        </a:graphic>
      </p:graphicFrame>
      <p:sp>
        <p:nvSpPr>
          <p:cNvPr id="5" name="TextBox 4"/>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FCBA04"/>
                </a:solidFill>
                <a:latin typeface="Habibi"/>
              </a:rPr>
              <a:t>SOLUTION ARCHITECTURE</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F7F4F3"/>
                </a:solidFill>
                <a:latin typeface="Roboto Slab"/>
              </a:rPr>
              <a:t>One household, two graphs, one human gate</a:t>
            </a:r>
          </a:p>
        </p:txBody>
      </p:sp>
      <p:sp>
        <p:nvSpPr>
          <p:cNvPr id="4" name="Rounded Rectangle 3"/>
          <p:cNvSpPr/>
          <p:nvPr/>
        </p:nvSpPr>
        <p:spPr>
          <a:xfrm>
            <a:off x="698482" y="1841453"/>
            <a:ext cx="2412939" cy="1269968"/>
          </a:xfrm>
          <a:prstGeom prst="roundRect">
            <a:avLst>
              <a:gd name="adj" fmla="val 5999"/>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179" y="1955751"/>
            <a:ext cx="2133546" cy="228594"/>
          </a:xfrm>
          <a:prstGeom prst="rect">
            <a:avLst/>
          </a:prstGeom>
          <a:noFill/>
        </p:spPr>
        <p:txBody>
          <a:bodyPr wrap="square" lIns="0" rIns="0" tIns="0" bIns="0" anchor="t">
            <a:spAutoFit/>
          </a:bodyPr>
          <a:lstStyle/>
          <a:p>
            <a:pPr algn="l"/>
            <a:r>
              <a:rPr sz="1299" b="1" i="0">
                <a:solidFill>
                  <a:srgbClr val="F7F4F3"/>
                </a:solidFill>
                <a:latin typeface="Roboto Slab"/>
              </a:rPr>
              <a:t>Inputs</a:t>
            </a:r>
          </a:p>
        </p:txBody>
      </p:sp>
      <p:sp>
        <p:nvSpPr>
          <p:cNvPr id="6" name="TextBox 5"/>
          <p:cNvSpPr txBox="1"/>
          <p:nvPr/>
        </p:nvSpPr>
        <p:spPr>
          <a:xfrm>
            <a:off x="838179" y="2209744"/>
            <a:ext cx="2133546" cy="825479"/>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Recall feeds: CPSC, NHTSA by vehicle, openFDA. Receipts, order emails, and VINs from the household.</a:t>
            </a:r>
          </a:p>
        </p:txBody>
      </p:sp>
      <p:cxnSp>
        <p:nvCxnSpPr>
          <p:cNvPr id="7" name="Connector 6"/>
          <p:cNvCxnSpPr/>
          <p:nvPr/>
        </p:nvCxnSpPr>
        <p:spPr>
          <a:xfrm>
            <a:off x="3111422" y="2476438"/>
            <a:ext cx="304792"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8" name="Isosceles Triangle 7"/>
          <p:cNvSpPr/>
          <p:nvPr/>
        </p:nvSpPr>
        <p:spPr>
          <a:xfrm rot="5400000">
            <a:off x="3416214" y="2431989"/>
            <a:ext cx="7619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92412" y="1841453"/>
            <a:ext cx="4825879" cy="1269968"/>
          </a:xfrm>
          <a:prstGeom prst="roundRect">
            <a:avLst>
              <a:gd name="adj" fmla="val 6999"/>
            </a:avLst>
          </a:prstGeom>
          <a:solidFill>
            <a:srgbClr val="131F18"/>
          </a:solidFill>
          <a:ln w="19050">
            <a:solidFill>
              <a:srgbClr val="6FB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2109" y="1955751"/>
            <a:ext cx="4546486" cy="215894"/>
          </a:xfrm>
          <a:prstGeom prst="rect">
            <a:avLst/>
          </a:prstGeom>
          <a:noFill/>
        </p:spPr>
        <p:txBody>
          <a:bodyPr wrap="square" lIns="0" rIns="0" tIns="0" bIns="0" anchor="t">
            <a:spAutoFit/>
          </a:bodyPr>
          <a:lstStyle/>
          <a:p>
            <a:pPr algn="l"/>
            <a:r>
              <a:rPr sz="1299" b="1" i="0">
                <a:solidFill>
                  <a:srgbClr val="F7F4F3"/>
                </a:solidFill>
                <a:latin typeface="Roboto Slab"/>
              </a:rPr>
              <a:t>gren on Strands Agents</a:t>
            </a:r>
          </a:p>
        </p:txBody>
      </p:sp>
      <p:sp>
        <p:nvSpPr>
          <p:cNvPr id="11" name="TextBox 10"/>
          <p:cNvSpPr txBox="1"/>
          <p:nvPr/>
        </p:nvSpPr>
        <p:spPr>
          <a:xfrm>
            <a:off x="3632109" y="2197045"/>
            <a:ext cx="4546486" cy="190495"/>
          </a:xfrm>
          <a:prstGeom prst="rect">
            <a:avLst/>
          </a:prstGeom>
          <a:noFill/>
        </p:spPr>
        <p:txBody>
          <a:bodyPr wrap="square" lIns="0" rIns="0" tIns="0" bIns="0" anchor="t">
            <a:spAutoFit/>
          </a:bodyPr>
          <a:lstStyle/>
          <a:p>
            <a:pPr algn="l"/>
            <a:r>
              <a:rPr sz="1099" b="0" i="0" spc="100">
                <a:solidFill>
                  <a:srgbClr val="6FB3E3"/>
                </a:solidFill>
                <a:latin typeface="Habibi"/>
              </a:rPr>
              <a:t>TWO GRAPHS · ONE ENGINE · BUDGETS · RETRIES · QUORUM · GATES AS INTERRUPTS</a:t>
            </a:r>
          </a:p>
        </p:txBody>
      </p:sp>
      <p:sp>
        <p:nvSpPr>
          <p:cNvPr id="12" name="Rounded Rectangle 11"/>
          <p:cNvSpPr/>
          <p:nvPr/>
        </p:nvSpPr>
        <p:spPr>
          <a:xfrm>
            <a:off x="3632109" y="2425639"/>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32109" y="2463738"/>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6406" y="2514537"/>
            <a:ext cx="1485862" cy="228594"/>
          </a:xfrm>
          <a:prstGeom prst="rect">
            <a:avLst/>
          </a:prstGeom>
          <a:noFill/>
        </p:spPr>
        <p:txBody>
          <a:bodyPr wrap="square" lIns="0" rIns="0" tIns="0" bIns="0" anchor="t">
            <a:spAutoFit/>
          </a:bodyPr>
          <a:lstStyle/>
          <a:p>
            <a:pPr algn="l"/>
            <a:r>
              <a:rPr sz="1149" b="1" i="0">
                <a:solidFill>
                  <a:srgbClr val="F7F4F3"/>
                </a:solidFill>
                <a:latin typeface="Roboto Slab"/>
              </a:rPr>
              <a:t>nightly-sweep</a:t>
            </a:r>
          </a:p>
        </p:txBody>
      </p:sp>
      <p:sp>
        <p:nvSpPr>
          <p:cNvPr id="15" name="TextBox 14"/>
          <p:cNvSpPr txBox="1"/>
          <p:nvPr/>
        </p:nvSpPr>
        <p:spPr>
          <a:xfrm>
            <a:off x="3746406" y="2768530"/>
            <a:ext cx="1485862" cy="190495"/>
          </a:xfrm>
          <a:prstGeom prst="rect">
            <a:avLst/>
          </a:prstGeom>
          <a:noFill/>
        </p:spPr>
        <p:txBody>
          <a:bodyPr wrap="square" lIns="0" rIns="0" tIns="0" bIns="0" anchor="t">
            <a:spAutoFit/>
          </a:bodyPr>
          <a:lstStyle/>
          <a:p>
            <a:pPr algn="l"/>
            <a:r>
              <a:rPr sz="849" b="0" i="0" spc="100">
                <a:solidFill>
                  <a:srgbClr val="6FB3E3"/>
                </a:solidFill>
                <a:latin typeface="Habibi"/>
              </a:rPr>
              <a:t>13 NODES · GATE</a:t>
            </a:r>
          </a:p>
        </p:txBody>
      </p:sp>
      <p:sp>
        <p:nvSpPr>
          <p:cNvPr id="16" name="Rounded Rectangle 15"/>
          <p:cNvSpPr/>
          <p:nvPr/>
        </p:nvSpPr>
        <p:spPr>
          <a:xfrm>
            <a:off x="5422764" y="2425639"/>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22764" y="2463738"/>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7061" y="2514537"/>
            <a:ext cx="1485862" cy="228594"/>
          </a:xfrm>
          <a:prstGeom prst="rect">
            <a:avLst/>
          </a:prstGeom>
          <a:noFill/>
        </p:spPr>
        <p:txBody>
          <a:bodyPr wrap="square" lIns="0" rIns="0" tIns="0" bIns="0" anchor="t">
            <a:spAutoFit/>
          </a:bodyPr>
          <a:lstStyle/>
          <a:p>
            <a:pPr algn="l"/>
            <a:r>
              <a:rPr sz="1299" b="1" i="0">
                <a:solidFill>
                  <a:srgbClr val="F7F4F3"/>
                </a:solidFill>
                <a:latin typeface="Roboto Slab"/>
              </a:rPr>
              <a:t>intake</a:t>
            </a:r>
          </a:p>
        </p:txBody>
      </p:sp>
      <p:sp>
        <p:nvSpPr>
          <p:cNvPr id="19" name="TextBox 18"/>
          <p:cNvSpPr txBox="1"/>
          <p:nvPr/>
        </p:nvSpPr>
        <p:spPr>
          <a:xfrm>
            <a:off x="5537061" y="2768530"/>
            <a:ext cx="1485862" cy="190495"/>
          </a:xfrm>
          <a:prstGeom prst="rect">
            <a:avLst/>
          </a:prstGeom>
          <a:noFill/>
        </p:spPr>
        <p:txBody>
          <a:bodyPr wrap="square" lIns="0" rIns="0" tIns="0" bIns="0" anchor="t">
            <a:spAutoFit/>
          </a:bodyPr>
          <a:lstStyle/>
          <a:p>
            <a:pPr algn="l"/>
            <a:r>
              <a:rPr sz="999" b="0" i="0" spc="100">
                <a:solidFill>
                  <a:srgbClr val="6FB3E3"/>
                </a:solidFill>
                <a:latin typeface="Habibi"/>
              </a:rPr>
              <a:t>3 NODES</a:t>
            </a:r>
          </a:p>
        </p:txBody>
      </p:sp>
      <p:sp>
        <p:nvSpPr>
          <p:cNvPr id="20" name="TextBox 19"/>
          <p:cNvSpPr txBox="1"/>
          <p:nvPr/>
        </p:nvSpPr>
        <p:spPr>
          <a:xfrm>
            <a:off x="7276918" y="2425639"/>
            <a:ext cx="901677" cy="609584"/>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Structured output on every agent node. Artifacts and events for every run.</a:t>
            </a:r>
          </a:p>
        </p:txBody>
      </p:sp>
      <p:cxnSp>
        <p:nvCxnSpPr>
          <p:cNvPr id="21" name="Connector 20"/>
          <p:cNvCxnSpPr/>
          <p:nvPr/>
        </p:nvCxnSpPr>
        <p:spPr>
          <a:xfrm>
            <a:off x="8318292" y="2476438"/>
            <a:ext cx="304792" cy="0"/>
          </a:xfrm>
          <a:prstGeom prst="line">
            <a:avLst/>
          </a:prstGeom>
          <a:ln w="25400">
            <a:solidFill>
              <a:srgbClr val="FCBA04"/>
            </a:solidFill>
            <a:prstDash val="dash"/>
          </a:ln>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5400000">
            <a:off x="8623084" y="2431989"/>
            <a:ext cx="76198" cy="88897"/>
          </a:xfrm>
          <a:prstGeom prst="triangle">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99282" y="1841453"/>
            <a:ext cx="2793930" cy="1269968"/>
          </a:xfrm>
          <a:prstGeom prst="roundRect">
            <a:avLst>
              <a:gd name="adj" fmla="val 5999"/>
            </a:avLst>
          </a:prstGeom>
          <a:solidFill>
            <a:srgbClr val="131F18"/>
          </a:solidFill>
          <a:ln w="15875">
            <a:solidFill>
              <a:srgbClr val="FCBA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38979" y="1955751"/>
            <a:ext cx="2514537" cy="228594"/>
          </a:xfrm>
          <a:prstGeom prst="rect">
            <a:avLst/>
          </a:prstGeom>
          <a:noFill/>
        </p:spPr>
        <p:txBody>
          <a:bodyPr wrap="square" lIns="0" rIns="0" tIns="0" bIns="0" anchor="t">
            <a:spAutoFit/>
          </a:bodyPr>
          <a:lstStyle/>
          <a:p>
            <a:pPr algn="l"/>
            <a:r>
              <a:rPr sz="1299" b="1" i="0">
                <a:solidFill>
                  <a:srgbClr val="FCBA04"/>
                </a:solidFill>
                <a:latin typeface="Roboto Slab"/>
              </a:rPr>
              <a:t>Household</a:t>
            </a:r>
          </a:p>
        </p:txBody>
      </p:sp>
      <p:sp>
        <p:nvSpPr>
          <p:cNvPr id="25" name="TextBox 24"/>
          <p:cNvSpPr txBox="1"/>
          <p:nvPr/>
        </p:nvSpPr>
        <p:spPr>
          <a:xfrm>
            <a:off x="8838979" y="2209744"/>
            <a:ext cx="2514537" cy="825479"/>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One SMS with one decision, or the dashboard card. The answer resumes the run.</a:t>
            </a:r>
          </a:p>
        </p:txBody>
      </p:sp>
      <p:cxnSp>
        <p:nvCxnSpPr>
          <p:cNvPr id="26" name="Connector 25"/>
          <p:cNvCxnSpPr/>
          <p:nvPr/>
        </p:nvCxnSpPr>
        <p:spPr>
          <a:xfrm>
            <a:off x="5905352" y="3136821"/>
            <a:ext cx="0" cy="457189"/>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10800000">
            <a:off x="5860903" y="3517812"/>
            <a:ext cx="88897" cy="76198"/>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94250" y="3301917"/>
            <a:ext cx="2539936" cy="190495"/>
          </a:xfrm>
          <a:prstGeom prst="rect">
            <a:avLst/>
          </a:prstGeom>
          <a:noFill/>
        </p:spPr>
        <p:txBody>
          <a:bodyPr wrap="square" lIns="0" rIns="0" tIns="0" bIns="0" anchor="t">
            <a:spAutoFit/>
          </a:bodyPr>
          <a:lstStyle/>
          <a:p>
            <a:pPr algn="l"/>
            <a:r>
              <a:rPr sz="1099" b="0" i="0" spc="100">
                <a:solidFill>
                  <a:srgbClr val="B9C3BD"/>
                </a:solidFill>
                <a:latin typeface="Habibi"/>
              </a:rPr>
              <a:t>EVENTS · STATE · ARTIFACTS</a:t>
            </a:r>
          </a:p>
        </p:txBody>
      </p:sp>
      <p:sp>
        <p:nvSpPr>
          <p:cNvPr id="29" name="Rounded Rectangle 28"/>
          <p:cNvSpPr/>
          <p:nvPr/>
        </p:nvSpPr>
        <p:spPr>
          <a:xfrm>
            <a:off x="698482" y="3619409"/>
            <a:ext cx="3301917" cy="1206469"/>
          </a:xfrm>
          <a:prstGeom prst="roundRect">
            <a:avLst>
              <a:gd name="adj" fmla="val 6315"/>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179" y="3733706"/>
            <a:ext cx="3022524" cy="228594"/>
          </a:xfrm>
          <a:prstGeom prst="rect">
            <a:avLst/>
          </a:prstGeom>
          <a:noFill/>
        </p:spPr>
        <p:txBody>
          <a:bodyPr wrap="square" lIns="0" rIns="0" tIns="0" bIns="0" anchor="t">
            <a:spAutoFit/>
          </a:bodyPr>
          <a:lstStyle/>
          <a:p>
            <a:pPr algn="l"/>
            <a:r>
              <a:rPr sz="1299" b="1" i="0">
                <a:solidFill>
                  <a:srgbClr val="F7F4F3"/>
                </a:solidFill>
                <a:latin typeface="Roboto Slab"/>
              </a:rPr>
              <a:t>Household store</a:t>
            </a:r>
          </a:p>
        </p:txBody>
      </p:sp>
      <p:sp>
        <p:nvSpPr>
          <p:cNvPr id="31" name="TextBox 30"/>
          <p:cNvSpPr txBox="1"/>
          <p:nvPr/>
        </p:nvSpPr>
        <p:spPr>
          <a:xfrm>
            <a:off x="838179" y="3987700"/>
            <a:ext cx="3022524" cy="761980"/>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items, recalls, matches, decisions, activity, sweeps, outbox. JSON files shaped like the DynamoDB plan. Run store: state, events, artifacts.</a:t>
            </a:r>
          </a:p>
        </p:txBody>
      </p:sp>
      <p:cxnSp>
        <p:nvCxnSpPr>
          <p:cNvPr id="32" name="Connector 31"/>
          <p:cNvCxnSpPr/>
          <p:nvPr/>
        </p:nvCxnSpPr>
        <p:spPr>
          <a:xfrm>
            <a:off x="4000399" y="4222644"/>
            <a:ext cx="3047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rot="5400000">
            <a:off x="4305192" y="4178195"/>
            <a:ext cx="7619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81390" y="3619409"/>
            <a:ext cx="3301917" cy="1206469"/>
          </a:xfrm>
          <a:prstGeom prst="roundRect">
            <a:avLst>
              <a:gd name="adj" fmla="val 6315"/>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21086" y="3733706"/>
            <a:ext cx="3022524" cy="228594"/>
          </a:xfrm>
          <a:prstGeom prst="rect">
            <a:avLst/>
          </a:prstGeom>
          <a:noFill/>
        </p:spPr>
        <p:txBody>
          <a:bodyPr wrap="square" lIns="0" rIns="0" tIns="0" bIns="0" anchor="t">
            <a:spAutoFit/>
          </a:bodyPr>
          <a:lstStyle/>
          <a:p>
            <a:pPr algn="l"/>
            <a:r>
              <a:rPr sz="1299" b="1" i="0">
                <a:solidFill>
                  <a:srgbClr val="F7F4F3"/>
                </a:solidFill>
                <a:latin typeface="Roboto Slab"/>
              </a:rPr>
              <a:t>Guardian API</a:t>
            </a:r>
          </a:p>
        </p:txBody>
      </p:sp>
      <p:sp>
        <p:nvSpPr>
          <p:cNvPr id="36" name="TextBox 35"/>
          <p:cNvSpPr txBox="1"/>
          <p:nvPr/>
        </p:nvSpPr>
        <p:spPr>
          <a:xfrm>
            <a:off x="4521086" y="3987700"/>
            <a:ext cx="3022524" cy="761980"/>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FastAPI and SSE. Turns gates into decisions, records answers, resumes the run. Mounts the gren run API at /gren. Token-gated writes.</a:t>
            </a:r>
          </a:p>
        </p:txBody>
      </p:sp>
      <p:cxnSp>
        <p:nvCxnSpPr>
          <p:cNvPr id="37" name="Connector 36"/>
          <p:cNvCxnSpPr/>
          <p:nvPr/>
        </p:nvCxnSpPr>
        <p:spPr>
          <a:xfrm>
            <a:off x="7683307" y="4222644"/>
            <a:ext cx="3047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38" name="Isosceles Triangle 37"/>
          <p:cNvSpPr/>
          <p:nvPr/>
        </p:nvSpPr>
        <p:spPr>
          <a:xfrm rot="5400000">
            <a:off x="7988100" y="4178195"/>
            <a:ext cx="7619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64298" y="3619409"/>
            <a:ext cx="3428914" cy="1206469"/>
          </a:xfrm>
          <a:prstGeom prst="roundRect">
            <a:avLst>
              <a:gd name="adj" fmla="val 6315"/>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03994" y="3733706"/>
            <a:ext cx="3149521" cy="228594"/>
          </a:xfrm>
          <a:prstGeom prst="rect">
            <a:avLst/>
          </a:prstGeom>
          <a:noFill/>
        </p:spPr>
        <p:txBody>
          <a:bodyPr wrap="square" lIns="0" rIns="0" tIns="0" bIns="0" anchor="t">
            <a:spAutoFit/>
          </a:bodyPr>
          <a:lstStyle/>
          <a:p>
            <a:pPr algn="l"/>
            <a:r>
              <a:rPr sz="1299" b="1" i="0">
                <a:solidFill>
                  <a:srgbClr val="F7F4F3"/>
                </a:solidFill>
                <a:latin typeface="Roboto Slab"/>
              </a:rPr>
              <a:t>Dashboard</a:t>
            </a:r>
          </a:p>
        </p:txBody>
      </p:sp>
      <p:sp>
        <p:nvSpPr>
          <p:cNvPr id="41" name="TextBox 40"/>
          <p:cNvSpPr txBox="1"/>
          <p:nvPr/>
        </p:nvSpPr>
        <p:spPr>
          <a:xfrm>
            <a:off x="8203994" y="3987700"/>
            <a:ext cx="3149521" cy="761980"/>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Vite and React. Home, Decisions, Inventory, Activity, Settings, Agent flow: the trace workbench with graph, timeline, events, gate, inspector, fork.</a:t>
            </a:r>
          </a:p>
        </p:txBody>
      </p:sp>
      <p:cxnSp>
        <p:nvCxnSpPr>
          <p:cNvPr id="42" name="Connector 41"/>
          <p:cNvCxnSpPr/>
          <p:nvPr/>
        </p:nvCxnSpPr>
        <p:spPr>
          <a:xfrm flipV="1">
            <a:off x="9778755" y="3136821"/>
            <a:ext cx="0" cy="457189"/>
          </a:xfrm>
          <a:prstGeom prst="line">
            <a:avLst/>
          </a:prstGeom>
          <a:ln w="25400">
            <a:solidFill>
              <a:srgbClr val="FCBA04"/>
            </a:solidFill>
            <a:prstDash val="dash"/>
          </a:ln>
        </p:spPr>
        <p:style>
          <a:lnRef idx="2">
            <a:schemeClr val="accent1"/>
          </a:lnRef>
          <a:fillRef idx="0">
            <a:schemeClr val="accent1"/>
          </a:fillRef>
          <a:effectRef idx="1">
            <a:schemeClr val="accent1"/>
          </a:effectRef>
          <a:fontRef idx="minor">
            <a:schemeClr val="tx1"/>
          </a:fontRef>
        </p:style>
      </p:cxnSp>
      <p:sp>
        <p:nvSpPr>
          <p:cNvPr id="43" name="Isosceles Triangle 42"/>
          <p:cNvSpPr/>
          <p:nvPr/>
        </p:nvSpPr>
        <p:spPr>
          <a:xfrm>
            <a:off x="9734306" y="3136821"/>
            <a:ext cx="88897" cy="76198"/>
          </a:xfrm>
          <a:prstGeom prst="triangle">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98482" y="5079873"/>
            <a:ext cx="10794730" cy="1117572"/>
          </a:xfrm>
          <a:prstGeom prst="roundRect">
            <a:avLst>
              <a:gd name="adj" fmla="val 7954"/>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8179" y="5168770"/>
            <a:ext cx="1269968" cy="190495"/>
          </a:xfrm>
          <a:prstGeom prst="rect">
            <a:avLst/>
          </a:prstGeom>
          <a:noFill/>
        </p:spPr>
        <p:txBody>
          <a:bodyPr wrap="square" lIns="0" rIns="0" tIns="0" bIns="0" anchor="t">
            <a:spAutoFit/>
          </a:bodyPr>
          <a:lstStyle/>
          <a:p>
            <a:pPr algn="l"/>
            <a:r>
              <a:rPr sz="1099" b="0" i="0" spc="100">
                <a:solidFill>
                  <a:srgbClr val="FCBA04"/>
                </a:solidFill>
                <a:latin typeface="Habibi"/>
              </a:rPr>
              <a:t>AWS</a:t>
            </a:r>
          </a:p>
        </p:txBody>
      </p:sp>
      <p:sp>
        <p:nvSpPr>
          <p:cNvPr id="46" name="TextBox 45"/>
          <p:cNvSpPr txBox="1"/>
          <p:nvPr/>
        </p:nvSpPr>
        <p:spPr>
          <a:xfrm>
            <a:off x="838179" y="5397365"/>
            <a:ext cx="1981150" cy="215894"/>
          </a:xfrm>
          <a:prstGeom prst="rect">
            <a:avLst/>
          </a:prstGeom>
          <a:noFill/>
        </p:spPr>
        <p:txBody>
          <a:bodyPr wrap="square" lIns="0" rIns="0" tIns="0" bIns="0" anchor="t">
            <a:spAutoFit/>
          </a:bodyPr>
          <a:lstStyle/>
          <a:p>
            <a:pPr algn="l"/>
            <a:r>
              <a:rPr sz="1199" b="1" i="0">
                <a:solidFill>
                  <a:srgbClr val="F7F4F3"/>
                </a:solidFill>
                <a:latin typeface="Roboto Slab"/>
              </a:rPr>
              <a:t>Amazon Bedrock</a:t>
            </a:r>
          </a:p>
        </p:txBody>
      </p:sp>
      <p:sp>
        <p:nvSpPr>
          <p:cNvPr id="47" name="TextBox 46"/>
          <p:cNvSpPr txBox="1"/>
          <p:nvPr/>
        </p:nvSpPr>
        <p:spPr>
          <a:xfrm>
            <a:off x="838179" y="5651358"/>
            <a:ext cx="1981150" cy="507987"/>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Claude Haiku 4.5, Sonnet 5, Opus 5 through global inference profiles.</a:t>
            </a:r>
          </a:p>
        </p:txBody>
      </p:sp>
      <p:sp>
        <p:nvSpPr>
          <p:cNvPr id="48" name="TextBox 47"/>
          <p:cNvSpPr txBox="1"/>
          <p:nvPr/>
        </p:nvSpPr>
        <p:spPr>
          <a:xfrm>
            <a:off x="2971725" y="5397365"/>
            <a:ext cx="1981150" cy="215894"/>
          </a:xfrm>
          <a:prstGeom prst="rect">
            <a:avLst/>
          </a:prstGeom>
          <a:noFill/>
        </p:spPr>
        <p:txBody>
          <a:bodyPr wrap="square" lIns="0" rIns="0" tIns="0" bIns="0" anchor="t">
            <a:spAutoFit/>
          </a:bodyPr>
          <a:lstStyle/>
          <a:p>
            <a:pPr algn="l"/>
            <a:r>
              <a:rPr sz="1199" b="1" i="0">
                <a:solidFill>
                  <a:srgbClr val="F7F4F3"/>
                </a:solidFill>
                <a:latin typeface="Roboto Slab"/>
              </a:rPr>
              <a:t>Amazon S3</a:t>
            </a:r>
          </a:p>
        </p:txBody>
      </p:sp>
      <p:sp>
        <p:nvSpPr>
          <p:cNvPr id="49" name="TextBox 48"/>
          <p:cNvSpPr txBox="1"/>
          <p:nvPr/>
        </p:nvSpPr>
        <p:spPr>
          <a:xfrm>
            <a:off x="2971725" y="5651358"/>
            <a:ext cx="1981150" cy="507987"/>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The state bucket: both stores mirror after each change. Releases and config.</a:t>
            </a:r>
          </a:p>
        </p:txBody>
      </p:sp>
      <p:sp>
        <p:nvSpPr>
          <p:cNvPr id="50" name="TextBox 49"/>
          <p:cNvSpPr txBox="1"/>
          <p:nvPr/>
        </p:nvSpPr>
        <p:spPr>
          <a:xfrm>
            <a:off x="5105272" y="5397365"/>
            <a:ext cx="1981150" cy="215894"/>
          </a:xfrm>
          <a:prstGeom prst="rect">
            <a:avLst/>
          </a:prstGeom>
          <a:noFill/>
        </p:spPr>
        <p:txBody>
          <a:bodyPr wrap="square" lIns="0" rIns="0" tIns="0" bIns="0" anchor="t">
            <a:spAutoFit/>
          </a:bodyPr>
          <a:lstStyle/>
          <a:p>
            <a:pPr algn="l"/>
            <a:r>
              <a:rPr sz="1199" b="1" i="0">
                <a:solidFill>
                  <a:srgbClr val="F7F4F3"/>
                </a:solidFill>
                <a:latin typeface="Roboto Slab"/>
              </a:rPr>
              <a:t>Amazon SES</a:t>
            </a:r>
          </a:p>
        </p:txBody>
      </p:sp>
      <p:sp>
        <p:nvSpPr>
          <p:cNvPr id="51" name="TextBox 50"/>
          <p:cNvSpPr txBox="1"/>
          <p:nvPr/>
        </p:nvSpPr>
        <p:spPr>
          <a:xfrm>
            <a:off x="5105272" y="5651358"/>
            <a:ext cx="1981150" cy="507987"/>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The remedy email with the receipt attached. Outbox until the sender is verified.</a:t>
            </a:r>
          </a:p>
        </p:txBody>
      </p:sp>
      <p:sp>
        <p:nvSpPr>
          <p:cNvPr id="52" name="TextBox 51"/>
          <p:cNvSpPr txBox="1"/>
          <p:nvPr/>
        </p:nvSpPr>
        <p:spPr>
          <a:xfrm>
            <a:off x="7238819" y="5397365"/>
            <a:ext cx="1981150" cy="215894"/>
          </a:xfrm>
          <a:prstGeom prst="rect">
            <a:avLst/>
          </a:prstGeom>
          <a:noFill/>
        </p:spPr>
        <p:txBody>
          <a:bodyPr wrap="square" lIns="0" rIns="0" tIns="0" bIns="0" anchor="t">
            <a:spAutoFit/>
          </a:bodyPr>
          <a:lstStyle/>
          <a:p>
            <a:pPr algn="l"/>
            <a:r>
              <a:rPr sz="1199" b="1" i="0">
                <a:solidFill>
                  <a:srgbClr val="F7F4F3"/>
                </a:solidFill>
                <a:latin typeface="Roboto Slab"/>
              </a:rPr>
              <a:t>EC2 + Caddy</a:t>
            </a:r>
          </a:p>
        </p:txBody>
      </p:sp>
      <p:sp>
        <p:nvSpPr>
          <p:cNvPr id="53" name="TextBox 52"/>
          <p:cNvSpPr txBox="1"/>
          <p:nvPr/>
        </p:nvSpPr>
        <p:spPr>
          <a:xfrm>
            <a:off x="7238819" y="5651358"/>
            <a:ext cx="1981150" cy="507987"/>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One instance, automatic HTTPS, a systemd timer at 06:00 UTC. Live.</a:t>
            </a:r>
          </a:p>
        </p:txBody>
      </p:sp>
      <p:sp>
        <p:nvSpPr>
          <p:cNvPr id="54" name="TextBox 53"/>
          <p:cNvSpPr txBox="1"/>
          <p:nvPr/>
        </p:nvSpPr>
        <p:spPr>
          <a:xfrm>
            <a:off x="9372365" y="5397365"/>
            <a:ext cx="1981150" cy="215894"/>
          </a:xfrm>
          <a:prstGeom prst="rect">
            <a:avLst/>
          </a:prstGeom>
          <a:noFill/>
        </p:spPr>
        <p:txBody>
          <a:bodyPr wrap="square" lIns="0" rIns="0" tIns="0" bIns="0" anchor="t">
            <a:spAutoFit/>
          </a:bodyPr>
          <a:lstStyle/>
          <a:p>
            <a:pPr algn="l"/>
            <a:r>
              <a:rPr sz="1199" b="1" i="0">
                <a:solidFill>
                  <a:srgbClr val="F7F4F3"/>
                </a:solidFill>
                <a:latin typeface="Roboto Slab"/>
              </a:rPr>
              <a:t>Bedrock AgentCore</a:t>
            </a:r>
          </a:p>
        </p:txBody>
      </p:sp>
      <p:sp>
        <p:nvSpPr>
          <p:cNvPr id="55" name="TextBox 54"/>
          <p:cNvSpPr txBox="1"/>
          <p:nvPr/>
        </p:nvSpPr>
        <p:spPr>
          <a:xfrm>
            <a:off x="9372365" y="5651358"/>
            <a:ext cx="1981150" cy="507987"/>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Runtime entrypoint built and tested locally. Next: needs the account quotas.</a:t>
            </a:r>
          </a:p>
        </p:txBody>
      </p:sp>
      <p:cxnSp>
        <p:nvCxnSpPr>
          <p:cNvPr id="56" name="Connector 55"/>
          <p:cNvCxnSpPr/>
          <p:nvPr/>
        </p:nvCxnSpPr>
        <p:spPr>
          <a:xfrm>
            <a:off x="2349441" y="4825879"/>
            <a:ext cx="0" cy="253994"/>
          </a:xfrm>
          <a:prstGeom prst="line">
            <a:avLst/>
          </a:prstGeom>
          <a:ln w="19050">
            <a:solidFill>
              <a:srgbClr val="4A5551"/>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032349" y="4825879"/>
            <a:ext cx="0" cy="253994"/>
          </a:xfrm>
          <a:prstGeom prst="line">
            <a:avLst/>
          </a:prstGeom>
          <a:ln w="19050">
            <a:solidFill>
              <a:srgbClr val="4A5551"/>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461263" y="4825879"/>
            <a:ext cx="0" cy="253994"/>
          </a:xfrm>
          <a:prstGeom prst="line">
            <a:avLst/>
          </a:prstGeom>
          <a:ln w="19050">
            <a:solidFill>
              <a:srgbClr val="4A5551"/>
            </a:solidFill>
            <a:prstDash val="dash"/>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B9C3BD"/>
                </a:solidFill>
                <a:latin typeface="Habibi"/>
              </a:rPr>
              <a:t>GUARDIAN · ARCHITECTURE · 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609584"/>
            <a:ext cx="7619809" cy="253993"/>
          </a:xfrm>
          <a:prstGeom prst="rect">
            <a:avLst/>
          </a:prstGeom>
          <a:noFill/>
        </p:spPr>
        <p:txBody>
          <a:bodyPr wrap="square" lIns="0" rIns="0" tIns="0" bIns="0" anchor="t">
            <a:spAutoFit/>
          </a:bodyPr>
          <a:lstStyle/>
          <a:p>
            <a:pPr algn="l"/>
            <a:r>
              <a:rPr sz="1299" b="0" i="0" spc="200">
                <a:solidFill>
                  <a:srgbClr val="FCBA04"/>
                </a:solidFill>
                <a:latin typeface="Habibi"/>
              </a:rPr>
              <a:t>SOLUTION ARCHITECTURE · THE NIGHTLY SWEEP</a:t>
            </a:r>
          </a:p>
        </p:txBody>
      </p:sp>
      <p:sp>
        <p:nvSpPr>
          <p:cNvPr id="3" name="TextBox 2"/>
          <p:cNvSpPr txBox="1"/>
          <p:nvPr/>
        </p:nvSpPr>
        <p:spPr>
          <a:xfrm>
            <a:off x="698482" y="927076"/>
            <a:ext cx="10159746" cy="571485"/>
          </a:xfrm>
          <a:prstGeom prst="rect">
            <a:avLst/>
          </a:prstGeom>
          <a:noFill/>
        </p:spPr>
        <p:txBody>
          <a:bodyPr wrap="square" lIns="0" rIns="0" tIns="0" bIns="0" anchor="t">
            <a:spAutoFit/>
          </a:bodyPr>
          <a:lstStyle/>
          <a:p>
            <a:pPr algn="l">
              <a:lnSpc>
                <a:spcPct val="110000"/>
              </a:lnSpc>
            </a:pPr>
            <a:r>
              <a:rPr sz="3199" b="1" i="0">
                <a:solidFill>
                  <a:srgbClr val="F7F4F3"/>
                </a:solidFill>
                <a:latin typeface="Roboto Slab"/>
              </a:rPr>
              <a:t>The nightly sweep: 13 nodes on Strands Agents</a:t>
            </a:r>
          </a:p>
        </p:txBody>
      </p:sp>
      <p:sp>
        <p:nvSpPr>
          <p:cNvPr id="4" name="Rounded Rectangle 3"/>
          <p:cNvSpPr/>
          <p:nvPr/>
        </p:nvSpPr>
        <p:spPr>
          <a:xfrm>
            <a:off x="698482" y="2012899"/>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98482" y="2050998"/>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779" y="2101797"/>
            <a:ext cx="1485862" cy="228594"/>
          </a:xfrm>
          <a:prstGeom prst="rect">
            <a:avLst/>
          </a:prstGeom>
          <a:noFill/>
        </p:spPr>
        <p:txBody>
          <a:bodyPr wrap="square" lIns="0" rIns="0" tIns="0" bIns="0" anchor="t">
            <a:spAutoFit/>
          </a:bodyPr>
          <a:lstStyle/>
          <a:p>
            <a:pPr algn="l"/>
            <a:r>
              <a:rPr sz="1149" b="1" i="0">
                <a:solidFill>
                  <a:srgbClr val="F7F4F3"/>
                </a:solidFill>
                <a:latin typeface="Roboto Slab"/>
              </a:rPr>
              <a:t>feeds_refresh</a:t>
            </a:r>
          </a:p>
        </p:txBody>
      </p:sp>
      <p:sp>
        <p:nvSpPr>
          <p:cNvPr id="7" name="TextBox 6"/>
          <p:cNvSpPr txBox="1"/>
          <p:nvPr/>
        </p:nvSpPr>
        <p:spPr>
          <a:xfrm>
            <a:off x="812779" y="2355791"/>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a:t>
            </a:r>
          </a:p>
        </p:txBody>
      </p:sp>
      <p:sp>
        <p:nvSpPr>
          <p:cNvPr id="8" name="Rounded Rectangle 7"/>
          <p:cNvSpPr/>
          <p:nvPr/>
        </p:nvSpPr>
        <p:spPr>
          <a:xfrm>
            <a:off x="698482" y="2711382"/>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8482" y="2749481"/>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779" y="2800279"/>
            <a:ext cx="1485862" cy="228594"/>
          </a:xfrm>
          <a:prstGeom prst="rect">
            <a:avLst/>
          </a:prstGeom>
          <a:noFill/>
        </p:spPr>
        <p:txBody>
          <a:bodyPr wrap="square" lIns="0" rIns="0" tIns="0" bIns="0" anchor="t">
            <a:spAutoFit/>
          </a:bodyPr>
          <a:lstStyle/>
          <a:p>
            <a:pPr algn="l"/>
            <a:r>
              <a:rPr sz="1299" b="1" i="0">
                <a:solidFill>
                  <a:srgbClr val="F7F4F3"/>
                </a:solidFill>
                <a:latin typeface="Roboto Slab"/>
              </a:rPr>
              <a:t>expiry_scan</a:t>
            </a:r>
          </a:p>
        </p:txBody>
      </p:sp>
      <p:sp>
        <p:nvSpPr>
          <p:cNvPr id="11" name="TextBox 10"/>
          <p:cNvSpPr txBox="1"/>
          <p:nvPr/>
        </p:nvSpPr>
        <p:spPr>
          <a:xfrm>
            <a:off x="812779" y="3054273"/>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a:t>
            </a:r>
          </a:p>
        </p:txBody>
      </p:sp>
      <p:cxnSp>
        <p:nvCxnSpPr>
          <p:cNvPr id="12" name="Connector 11"/>
          <p:cNvCxnSpPr/>
          <p:nvPr/>
        </p:nvCxnSpPr>
        <p:spPr>
          <a:xfrm>
            <a:off x="2336741"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2552636"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616134" y="2012899"/>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6134" y="2050998"/>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30431" y="2101797"/>
            <a:ext cx="1485862" cy="228594"/>
          </a:xfrm>
          <a:prstGeom prst="rect">
            <a:avLst/>
          </a:prstGeom>
          <a:noFill/>
        </p:spPr>
        <p:txBody>
          <a:bodyPr wrap="square" lIns="0" rIns="0" tIns="0" bIns="0" anchor="t">
            <a:spAutoFit/>
          </a:bodyPr>
          <a:lstStyle/>
          <a:p>
            <a:pPr algn="l"/>
            <a:r>
              <a:rPr sz="1149" b="1" i="0">
                <a:solidFill>
                  <a:srgbClr val="F7F4F3"/>
                </a:solidFill>
                <a:latin typeface="Roboto Slab"/>
              </a:rPr>
              <a:t>candidate_gen</a:t>
            </a:r>
          </a:p>
        </p:txBody>
      </p:sp>
      <p:sp>
        <p:nvSpPr>
          <p:cNvPr id="17" name="TextBox 16"/>
          <p:cNvSpPr txBox="1"/>
          <p:nvPr/>
        </p:nvSpPr>
        <p:spPr>
          <a:xfrm>
            <a:off x="2730431" y="2355791"/>
            <a:ext cx="1485862" cy="190495"/>
          </a:xfrm>
          <a:prstGeom prst="rect">
            <a:avLst/>
          </a:prstGeom>
          <a:noFill/>
        </p:spPr>
        <p:txBody>
          <a:bodyPr wrap="square" lIns="0" rIns="0" tIns="0" bIns="0" anchor="t">
            <a:spAutoFit/>
          </a:bodyPr>
          <a:lstStyle/>
          <a:p>
            <a:pPr algn="l"/>
            <a:r>
              <a:rPr sz="849" b="0" i="0" spc="100">
                <a:solidFill>
                  <a:srgbClr val="B9C3BD"/>
                </a:solidFill>
                <a:latin typeface="Habibi"/>
              </a:rPr>
              <a:t>CODE · STAGES 1–3</a:t>
            </a:r>
          </a:p>
        </p:txBody>
      </p:sp>
      <p:sp>
        <p:nvSpPr>
          <p:cNvPr id="18" name="Rounded Rectangle 17"/>
          <p:cNvSpPr/>
          <p:nvPr/>
        </p:nvSpPr>
        <p:spPr>
          <a:xfrm>
            <a:off x="2616134" y="2711382"/>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16134" y="2749481"/>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0431" y="2800279"/>
            <a:ext cx="1485862" cy="228594"/>
          </a:xfrm>
          <a:prstGeom prst="rect">
            <a:avLst/>
          </a:prstGeom>
          <a:noFill/>
        </p:spPr>
        <p:txBody>
          <a:bodyPr wrap="square" lIns="0" rIns="0" tIns="0" bIns="0" anchor="t">
            <a:spAutoFit/>
          </a:bodyPr>
          <a:lstStyle/>
          <a:p>
            <a:pPr algn="l"/>
            <a:r>
              <a:rPr sz="1299" b="1" i="0">
                <a:solidFill>
                  <a:srgbClr val="F7F4F3"/>
                </a:solidFill>
                <a:latin typeface="Roboto Slab"/>
              </a:rPr>
              <a:t>warranty</a:t>
            </a:r>
          </a:p>
        </p:txBody>
      </p:sp>
      <p:sp>
        <p:nvSpPr>
          <p:cNvPr id="21" name="TextBox 20"/>
          <p:cNvSpPr txBox="1"/>
          <p:nvPr/>
        </p:nvSpPr>
        <p:spPr>
          <a:xfrm>
            <a:off x="2730431" y="3054273"/>
            <a:ext cx="1485862" cy="190495"/>
          </a:xfrm>
          <a:prstGeom prst="rect">
            <a:avLst/>
          </a:prstGeom>
          <a:noFill/>
        </p:spPr>
        <p:txBody>
          <a:bodyPr wrap="square" lIns="0" rIns="0" tIns="0" bIns="0" anchor="t">
            <a:spAutoFit/>
          </a:bodyPr>
          <a:lstStyle/>
          <a:p>
            <a:pPr algn="l"/>
            <a:r>
              <a:rPr sz="999" b="0" i="0" spc="100">
                <a:solidFill>
                  <a:srgbClr val="6FB3E3"/>
                </a:solidFill>
                <a:latin typeface="Habibi"/>
              </a:rPr>
              <a:t>AGENT · MAP</a:t>
            </a:r>
          </a:p>
        </p:txBody>
      </p:sp>
      <p:cxnSp>
        <p:nvCxnSpPr>
          <p:cNvPr id="22" name="Connector 21"/>
          <p:cNvCxnSpPr/>
          <p:nvPr/>
        </p:nvCxnSpPr>
        <p:spPr>
          <a:xfrm>
            <a:off x="4254393"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4470288"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533786" y="2362140"/>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33786" y="2400239"/>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8083" y="2451038"/>
            <a:ext cx="1485862" cy="228594"/>
          </a:xfrm>
          <a:prstGeom prst="rect">
            <a:avLst/>
          </a:prstGeom>
          <a:noFill/>
        </p:spPr>
        <p:txBody>
          <a:bodyPr wrap="square" lIns="0" rIns="0" tIns="0" bIns="0" anchor="t">
            <a:spAutoFit/>
          </a:bodyPr>
          <a:lstStyle/>
          <a:p>
            <a:pPr algn="l"/>
            <a:r>
              <a:rPr sz="1299" b="1" i="0">
                <a:solidFill>
                  <a:srgbClr val="F7F4F3"/>
                </a:solidFill>
                <a:latin typeface="Roboto Slab"/>
              </a:rPr>
              <a:t>matcher</a:t>
            </a:r>
          </a:p>
        </p:txBody>
      </p:sp>
      <p:sp>
        <p:nvSpPr>
          <p:cNvPr id="27" name="TextBox 26"/>
          <p:cNvSpPr txBox="1"/>
          <p:nvPr/>
        </p:nvSpPr>
        <p:spPr>
          <a:xfrm>
            <a:off x="4648083" y="2705032"/>
            <a:ext cx="1485862" cy="190495"/>
          </a:xfrm>
          <a:prstGeom prst="rect">
            <a:avLst/>
          </a:prstGeom>
          <a:noFill/>
        </p:spPr>
        <p:txBody>
          <a:bodyPr wrap="square" lIns="0" rIns="0" tIns="0" bIns="0" anchor="t">
            <a:spAutoFit/>
          </a:bodyPr>
          <a:lstStyle/>
          <a:p>
            <a:pPr algn="l"/>
            <a:r>
              <a:rPr sz="999" b="0" i="0" spc="100">
                <a:solidFill>
                  <a:srgbClr val="6FB3E3"/>
                </a:solidFill>
                <a:latin typeface="Habibi"/>
              </a:rPr>
              <a:t>AGENT · MAP</a:t>
            </a:r>
          </a:p>
        </p:txBody>
      </p:sp>
      <p:cxnSp>
        <p:nvCxnSpPr>
          <p:cNvPr id="28" name="Connector 27"/>
          <p:cNvCxnSpPr/>
          <p:nvPr/>
        </p:nvCxnSpPr>
        <p:spPr>
          <a:xfrm>
            <a:off x="6172045"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6387940"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51438" y="2362140"/>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51438" y="2400239"/>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65735" y="2451038"/>
            <a:ext cx="1485862" cy="228594"/>
          </a:xfrm>
          <a:prstGeom prst="rect">
            <a:avLst/>
          </a:prstGeom>
          <a:noFill/>
        </p:spPr>
        <p:txBody>
          <a:bodyPr wrap="square" lIns="0" rIns="0" tIns="0" bIns="0" anchor="t">
            <a:spAutoFit/>
          </a:bodyPr>
          <a:lstStyle/>
          <a:p>
            <a:pPr algn="l"/>
            <a:r>
              <a:rPr sz="1299" b="1" i="0">
                <a:solidFill>
                  <a:srgbClr val="F7F4F3"/>
                </a:solidFill>
                <a:latin typeface="Roboto Slab"/>
              </a:rPr>
              <a:t>verdicts</a:t>
            </a:r>
          </a:p>
        </p:txBody>
      </p:sp>
      <p:sp>
        <p:nvSpPr>
          <p:cNvPr id="33" name="TextBox 32"/>
          <p:cNvSpPr txBox="1"/>
          <p:nvPr/>
        </p:nvSpPr>
        <p:spPr>
          <a:xfrm>
            <a:off x="6565735" y="2705032"/>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a:t>
            </a:r>
          </a:p>
        </p:txBody>
      </p:sp>
      <p:cxnSp>
        <p:nvCxnSpPr>
          <p:cNvPr id="34" name="Connector 33"/>
          <p:cNvCxnSpPr/>
          <p:nvPr/>
        </p:nvCxnSpPr>
        <p:spPr>
          <a:xfrm>
            <a:off x="8089697"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5400000">
            <a:off x="8305592"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369090" y="2362140"/>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69090" y="2400239"/>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83387" y="2451038"/>
            <a:ext cx="1485862" cy="228594"/>
          </a:xfrm>
          <a:prstGeom prst="rect">
            <a:avLst/>
          </a:prstGeom>
          <a:noFill/>
        </p:spPr>
        <p:txBody>
          <a:bodyPr wrap="square" lIns="0" rIns="0" tIns="0" bIns="0" anchor="t">
            <a:spAutoFit/>
          </a:bodyPr>
          <a:lstStyle/>
          <a:p>
            <a:pPr algn="l"/>
            <a:r>
              <a:rPr sz="1299" b="1" i="0">
                <a:solidFill>
                  <a:srgbClr val="F7F4F3"/>
                </a:solidFill>
                <a:latin typeface="Roboto Slab"/>
              </a:rPr>
              <a:t>triage</a:t>
            </a:r>
          </a:p>
        </p:txBody>
      </p:sp>
      <p:sp>
        <p:nvSpPr>
          <p:cNvPr id="39" name="TextBox 38"/>
          <p:cNvSpPr txBox="1"/>
          <p:nvPr/>
        </p:nvSpPr>
        <p:spPr>
          <a:xfrm>
            <a:off x="8483387" y="2705032"/>
            <a:ext cx="1485862" cy="190495"/>
          </a:xfrm>
          <a:prstGeom prst="rect">
            <a:avLst/>
          </a:prstGeom>
          <a:noFill/>
        </p:spPr>
        <p:txBody>
          <a:bodyPr wrap="square" lIns="0" rIns="0" tIns="0" bIns="0" anchor="t">
            <a:spAutoFit/>
          </a:bodyPr>
          <a:lstStyle/>
          <a:p>
            <a:pPr algn="l"/>
            <a:r>
              <a:rPr sz="999" b="0" i="0" spc="100">
                <a:solidFill>
                  <a:srgbClr val="6FB3E3"/>
                </a:solidFill>
                <a:latin typeface="Habibi"/>
              </a:rPr>
              <a:t>AGENT</a:t>
            </a:r>
          </a:p>
        </p:txBody>
      </p:sp>
      <p:cxnSp>
        <p:nvCxnSpPr>
          <p:cNvPr id="40" name="Connector 39"/>
          <p:cNvCxnSpPr/>
          <p:nvPr/>
        </p:nvCxnSpPr>
        <p:spPr>
          <a:xfrm>
            <a:off x="10007349"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41" name="Isosceles Triangle 40"/>
          <p:cNvSpPr/>
          <p:nvPr/>
        </p:nvSpPr>
        <p:spPr>
          <a:xfrm rot="5400000">
            <a:off x="10223244"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286742" y="2362140"/>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286742" y="2400239"/>
            <a:ext cx="38099" cy="533386"/>
          </a:xfrm>
          <a:prstGeom prst="rect">
            <a:avLst/>
          </a:prstGeom>
          <a:solidFill>
            <a:srgbClr val="5DB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01039" y="2451038"/>
            <a:ext cx="1485862" cy="228594"/>
          </a:xfrm>
          <a:prstGeom prst="rect">
            <a:avLst/>
          </a:prstGeom>
          <a:noFill/>
        </p:spPr>
        <p:txBody>
          <a:bodyPr wrap="square" lIns="0" rIns="0" tIns="0" bIns="0" anchor="t">
            <a:spAutoFit/>
          </a:bodyPr>
          <a:lstStyle/>
          <a:p>
            <a:pPr algn="l"/>
            <a:r>
              <a:rPr sz="1149" b="1" i="0">
                <a:solidFill>
                  <a:srgbClr val="F7F4F3"/>
                </a:solidFill>
                <a:latin typeface="Roboto Slab"/>
              </a:rPr>
              <a:t>severity_check</a:t>
            </a:r>
          </a:p>
        </p:txBody>
      </p:sp>
      <p:sp>
        <p:nvSpPr>
          <p:cNvPr id="45" name="TextBox 44"/>
          <p:cNvSpPr txBox="1"/>
          <p:nvPr/>
        </p:nvSpPr>
        <p:spPr>
          <a:xfrm>
            <a:off x="10401039" y="2705032"/>
            <a:ext cx="1485862" cy="190495"/>
          </a:xfrm>
          <a:prstGeom prst="rect">
            <a:avLst/>
          </a:prstGeom>
          <a:noFill/>
        </p:spPr>
        <p:txBody>
          <a:bodyPr wrap="square" lIns="0" rIns="0" tIns="0" bIns="0" anchor="t">
            <a:spAutoFit/>
          </a:bodyPr>
          <a:lstStyle/>
          <a:p>
            <a:pPr algn="l"/>
            <a:r>
              <a:rPr sz="999" b="0" i="0" spc="100">
                <a:solidFill>
                  <a:srgbClr val="5DBB86"/>
                </a:solidFill>
                <a:latin typeface="Habibi"/>
              </a:rPr>
              <a:t>VERIFY · KILL</a:t>
            </a:r>
          </a:p>
        </p:txBody>
      </p:sp>
      <p:cxnSp>
        <p:nvCxnSpPr>
          <p:cNvPr id="46" name="Connector 45"/>
          <p:cNvCxnSpPr/>
          <p:nvPr/>
        </p:nvCxnSpPr>
        <p:spPr>
          <a:xfrm flipV="1">
            <a:off x="11105872" y="2133546"/>
            <a:ext cx="0" cy="228594"/>
          </a:xfrm>
          <a:prstGeom prst="line">
            <a:avLst/>
          </a:prstGeom>
          <a:ln w="25400">
            <a:solidFill>
              <a:srgbClr val="E4746A"/>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9188220" y="2133546"/>
            <a:ext cx="1917652" cy="0"/>
          </a:xfrm>
          <a:prstGeom prst="line">
            <a:avLst/>
          </a:prstGeom>
          <a:ln w="25400">
            <a:solidFill>
              <a:srgbClr val="E4746A"/>
            </a:solidFill>
            <a:prstDash val="dash"/>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188220" y="2133546"/>
            <a:ext cx="0" cy="203195"/>
          </a:xfrm>
          <a:prstGeom prst="line">
            <a:avLst/>
          </a:prstGeom>
          <a:ln w="25400">
            <a:solidFill>
              <a:srgbClr val="E4746A"/>
            </a:solidFill>
            <a:prstDash val="dash"/>
          </a:ln>
        </p:spPr>
        <p:style>
          <a:lnRef idx="2">
            <a:schemeClr val="accent1"/>
          </a:lnRef>
          <a:fillRef idx="0">
            <a:schemeClr val="accent1"/>
          </a:fillRef>
          <a:effectRef idx="1">
            <a:schemeClr val="accent1"/>
          </a:effectRef>
          <a:fontRef idx="minor">
            <a:schemeClr val="tx1"/>
          </a:fontRef>
        </p:style>
      </p:cxnSp>
      <p:sp>
        <p:nvSpPr>
          <p:cNvPr id="49" name="Isosceles Triangle 48"/>
          <p:cNvSpPr/>
          <p:nvPr/>
        </p:nvSpPr>
        <p:spPr>
          <a:xfrm rot="10800000">
            <a:off x="9143771" y="2273243"/>
            <a:ext cx="88897" cy="76198"/>
          </a:xfrm>
          <a:prstGeom prst="triangle">
            <a:avLst/>
          </a:prstGeom>
          <a:solidFill>
            <a:srgbClr val="E47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35744" y="1879553"/>
            <a:ext cx="3822604" cy="203194"/>
          </a:xfrm>
          <a:prstGeom prst="rect">
            <a:avLst/>
          </a:prstGeom>
          <a:noFill/>
        </p:spPr>
        <p:txBody>
          <a:bodyPr wrap="square" lIns="0" rIns="0" tIns="0" bIns="0" anchor="t">
            <a:spAutoFit/>
          </a:bodyPr>
          <a:lstStyle/>
          <a:p>
            <a:pPr algn="ctr"/>
            <a:r>
              <a:rPr sz="1199" b="0" i="0" spc="100">
                <a:solidFill>
                  <a:srgbClr val="E4746A"/>
                </a:solidFill>
                <a:latin typeface="Habibi"/>
              </a:rPr>
              <a:t>REPAIR ×1</a:t>
            </a:r>
          </a:p>
        </p:txBody>
      </p:sp>
      <p:sp>
        <p:nvSpPr>
          <p:cNvPr id="51" name="Rounded Rectangle 50"/>
          <p:cNvSpPr/>
          <p:nvPr/>
        </p:nvSpPr>
        <p:spPr>
          <a:xfrm>
            <a:off x="698482" y="3917852"/>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8482" y="3955951"/>
            <a:ext cx="38099" cy="533386"/>
          </a:xfrm>
          <a:prstGeom prst="rect">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2779" y="4006749"/>
            <a:ext cx="1485862" cy="228594"/>
          </a:xfrm>
          <a:prstGeom prst="rect">
            <a:avLst/>
          </a:prstGeom>
          <a:noFill/>
        </p:spPr>
        <p:txBody>
          <a:bodyPr wrap="square" lIns="0" rIns="0" tIns="0" bIns="0" anchor="t">
            <a:spAutoFit/>
          </a:bodyPr>
          <a:lstStyle/>
          <a:p>
            <a:pPr algn="l"/>
            <a:r>
              <a:rPr sz="999" b="1" i="0">
                <a:solidFill>
                  <a:srgbClr val="F7F4F3"/>
                </a:solidFill>
                <a:latin typeface="Roboto Slab"/>
              </a:rPr>
              <a:t>household_decision</a:t>
            </a:r>
          </a:p>
        </p:txBody>
      </p:sp>
      <p:sp>
        <p:nvSpPr>
          <p:cNvPr id="54" name="TextBox 53"/>
          <p:cNvSpPr txBox="1"/>
          <p:nvPr/>
        </p:nvSpPr>
        <p:spPr>
          <a:xfrm>
            <a:off x="812779" y="4260743"/>
            <a:ext cx="1485862" cy="190495"/>
          </a:xfrm>
          <a:prstGeom prst="rect">
            <a:avLst/>
          </a:prstGeom>
          <a:noFill/>
        </p:spPr>
        <p:txBody>
          <a:bodyPr wrap="square" lIns="0" rIns="0" tIns="0" bIns="0" anchor="t">
            <a:spAutoFit/>
          </a:bodyPr>
          <a:lstStyle/>
          <a:p>
            <a:pPr algn="l"/>
            <a:r>
              <a:rPr sz="999" b="0" i="0" spc="100">
                <a:solidFill>
                  <a:srgbClr val="FCBA04"/>
                </a:solidFill>
                <a:latin typeface="Habibi"/>
              </a:rPr>
              <a:t>GATE · HUMAN</a:t>
            </a:r>
          </a:p>
        </p:txBody>
      </p:sp>
      <p:sp>
        <p:nvSpPr>
          <p:cNvPr id="55" name="Rounded Rectangle 54"/>
          <p:cNvSpPr/>
          <p:nvPr/>
        </p:nvSpPr>
        <p:spPr>
          <a:xfrm>
            <a:off x="698482" y="4616334"/>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8482" y="4654433"/>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2779" y="4705232"/>
            <a:ext cx="1485862" cy="228594"/>
          </a:xfrm>
          <a:prstGeom prst="rect">
            <a:avLst/>
          </a:prstGeom>
          <a:noFill/>
        </p:spPr>
        <p:txBody>
          <a:bodyPr wrap="square" lIns="0" rIns="0" tIns="0" bIns="0" anchor="t">
            <a:spAutoFit/>
          </a:bodyPr>
          <a:lstStyle/>
          <a:p>
            <a:pPr algn="l"/>
            <a:r>
              <a:rPr sz="1299" b="1" i="0">
                <a:solidFill>
                  <a:srgbClr val="F7F4F3"/>
                </a:solidFill>
                <a:latin typeface="Roboto Slab"/>
              </a:rPr>
              <a:t>digest</a:t>
            </a:r>
          </a:p>
        </p:txBody>
      </p:sp>
      <p:sp>
        <p:nvSpPr>
          <p:cNvPr id="58" name="TextBox 57"/>
          <p:cNvSpPr txBox="1"/>
          <p:nvPr/>
        </p:nvSpPr>
        <p:spPr>
          <a:xfrm>
            <a:off x="812779" y="4959226"/>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 · WEEKLY</a:t>
            </a:r>
          </a:p>
        </p:txBody>
      </p:sp>
      <p:cxnSp>
        <p:nvCxnSpPr>
          <p:cNvPr id="59" name="Connector 58"/>
          <p:cNvCxnSpPr/>
          <p:nvPr/>
        </p:nvCxnSpPr>
        <p:spPr>
          <a:xfrm>
            <a:off x="2336741" y="4571885"/>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60" name="Isosceles Triangle 59"/>
          <p:cNvSpPr/>
          <p:nvPr/>
        </p:nvSpPr>
        <p:spPr>
          <a:xfrm rot="5400000">
            <a:off x="2552636" y="4527436"/>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2616134" y="4267093"/>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616134" y="4305192"/>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730431" y="4355991"/>
            <a:ext cx="1485862" cy="228594"/>
          </a:xfrm>
          <a:prstGeom prst="rect">
            <a:avLst/>
          </a:prstGeom>
          <a:noFill/>
        </p:spPr>
        <p:txBody>
          <a:bodyPr wrap="square" lIns="0" rIns="0" tIns="0" bIns="0" anchor="t">
            <a:spAutoFit/>
          </a:bodyPr>
          <a:lstStyle/>
          <a:p>
            <a:pPr algn="l"/>
            <a:r>
              <a:rPr sz="1299" b="1" i="0">
                <a:solidFill>
                  <a:srgbClr val="F7F4F3"/>
                </a:solidFill>
                <a:latin typeface="Roboto Slab"/>
              </a:rPr>
              <a:t>answers</a:t>
            </a:r>
          </a:p>
        </p:txBody>
      </p:sp>
      <p:sp>
        <p:nvSpPr>
          <p:cNvPr id="64" name="TextBox 63"/>
          <p:cNvSpPr txBox="1"/>
          <p:nvPr/>
        </p:nvSpPr>
        <p:spPr>
          <a:xfrm>
            <a:off x="2730431" y="4609984"/>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a:t>
            </a:r>
          </a:p>
        </p:txBody>
      </p:sp>
      <p:cxnSp>
        <p:nvCxnSpPr>
          <p:cNvPr id="65" name="Connector 64"/>
          <p:cNvCxnSpPr/>
          <p:nvPr/>
        </p:nvCxnSpPr>
        <p:spPr>
          <a:xfrm>
            <a:off x="4254393" y="4571885"/>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66" name="Isosceles Triangle 65"/>
          <p:cNvSpPr/>
          <p:nvPr/>
        </p:nvSpPr>
        <p:spPr>
          <a:xfrm rot="5400000">
            <a:off x="4470288" y="4527436"/>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4533786" y="4267093"/>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33786" y="4305192"/>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648083" y="4355991"/>
            <a:ext cx="1485862" cy="228594"/>
          </a:xfrm>
          <a:prstGeom prst="rect">
            <a:avLst/>
          </a:prstGeom>
          <a:noFill/>
        </p:spPr>
        <p:txBody>
          <a:bodyPr wrap="square" lIns="0" rIns="0" tIns="0" bIns="0" anchor="t">
            <a:spAutoFit/>
          </a:bodyPr>
          <a:lstStyle/>
          <a:p>
            <a:pPr algn="l"/>
            <a:r>
              <a:rPr sz="1299" b="1" i="0">
                <a:solidFill>
                  <a:srgbClr val="F7F4F3"/>
                </a:solidFill>
                <a:latin typeface="Roboto Slab"/>
              </a:rPr>
              <a:t>remedy</a:t>
            </a:r>
          </a:p>
        </p:txBody>
      </p:sp>
      <p:sp>
        <p:nvSpPr>
          <p:cNvPr id="70" name="TextBox 69"/>
          <p:cNvSpPr txBox="1"/>
          <p:nvPr/>
        </p:nvSpPr>
        <p:spPr>
          <a:xfrm>
            <a:off x="4648083" y="4609984"/>
            <a:ext cx="1485862" cy="190495"/>
          </a:xfrm>
          <a:prstGeom prst="rect">
            <a:avLst/>
          </a:prstGeom>
          <a:noFill/>
        </p:spPr>
        <p:txBody>
          <a:bodyPr wrap="square" lIns="0" rIns="0" tIns="0" bIns="0" anchor="t">
            <a:spAutoFit/>
          </a:bodyPr>
          <a:lstStyle/>
          <a:p>
            <a:pPr algn="l"/>
            <a:r>
              <a:rPr sz="999" b="0" i="0" spc="100">
                <a:solidFill>
                  <a:srgbClr val="6FB3E3"/>
                </a:solidFill>
                <a:latin typeface="Habibi"/>
              </a:rPr>
              <a:t>AGENT · MAP</a:t>
            </a:r>
          </a:p>
        </p:txBody>
      </p:sp>
      <p:cxnSp>
        <p:nvCxnSpPr>
          <p:cNvPr id="71" name="Connector 70"/>
          <p:cNvCxnSpPr/>
          <p:nvPr/>
        </p:nvCxnSpPr>
        <p:spPr>
          <a:xfrm>
            <a:off x="6172045" y="4571885"/>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72" name="Isosceles Triangle 71"/>
          <p:cNvSpPr/>
          <p:nvPr/>
        </p:nvSpPr>
        <p:spPr>
          <a:xfrm rot="5400000">
            <a:off x="6387940" y="4527436"/>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6451438" y="4267093"/>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451438" y="4305192"/>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565735" y="4355991"/>
            <a:ext cx="1485862" cy="228594"/>
          </a:xfrm>
          <a:prstGeom prst="rect">
            <a:avLst/>
          </a:prstGeom>
          <a:noFill/>
        </p:spPr>
        <p:txBody>
          <a:bodyPr wrap="square" lIns="0" rIns="0" tIns="0" bIns="0" anchor="t">
            <a:spAutoFit/>
          </a:bodyPr>
          <a:lstStyle/>
          <a:p>
            <a:pPr algn="l"/>
            <a:r>
              <a:rPr sz="1299" b="1" i="0">
                <a:solidFill>
                  <a:srgbClr val="F7F4F3"/>
                </a:solidFill>
                <a:latin typeface="Roboto Slab"/>
              </a:rPr>
              <a:t>followup</a:t>
            </a:r>
          </a:p>
        </p:txBody>
      </p:sp>
      <p:sp>
        <p:nvSpPr>
          <p:cNvPr id="76" name="TextBox 75"/>
          <p:cNvSpPr txBox="1"/>
          <p:nvPr/>
        </p:nvSpPr>
        <p:spPr>
          <a:xfrm>
            <a:off x="6565735" y="4609984"/>
            <a:ext cx="1485862" cy="190495"/>
          </a:xfrm>
          <a:prstGeom prst="rect">
            <a:avLst/>
          </a:prstGeom>
          <a:noFill/>
        </p:spPr>
        <p:txBody>
          <a:bodyPr wrap="square" lIns="0" rIns="0" tIns="0" bIns="0" anchor="t">
            <a:spAutoFit/>
          </a:bodyPr>
          <a:lstStyle/>
          <a:p>
            <a:pPr algn="l"/>
            <a:r>
              <a:rPr sz="849" b="0" i="0" spc="100">
                <a:solidFill>
                  <a:srgbClr val="B9C3BD"/>
                </a:solidFill>
                <a:latin typeface="Habibi"/>
              </a:rPr>
              <a:t>CODE · SIDE EFFECT</a:t>
            </a:r>
          </a:p>
        </p:txBody>
      </p:sp>
      <p:sp>
        <p:nvSpPr>
          <p:cNvPr id="77" name="TextBox 76"/>
          <p:cNvSpPr txBox="1"/>
          <p:nvPr/>
        </p:nvSpPr>
        <p:spPr>
          <a:xfrm>
            <a:off x="8445288" y="3936901"/>
            <a:ext cx="3047923" cy="1523961"/>
          </a:xfrm>
          <a:prstGeom prst="rect">
            <a:avLst/>
          </a:prstGeom>
          <a:noFill/>
        </p:spPr>
        <p:txBody>
          <a:bodyPr wrap="square" lIns="0" rIns="0" tIns="0" bIns="0" anchor="t">
            <a:spAutoFit/>
          </a:bodyPr>
          <a:lstStyle/>
          <a:p>
            <a:pPr algn="l">
              <a:lnSpc>
                <a:spcPct val="140000"/>
              </a:lnSpc>
            </a:pPr>
            <a:r>
              <a:rPr sz="1299" b="0" i="0">
                <a:solidFill>
                  <a:srgbClr val="B9C3BD"/>
                </a:solidFill>
                <a:latin typeface="Lora"/>
              </a:rPr>
              <a:t>severity_check routes to household_decision when the plan's channel is sms_now, otherwise to digest. Deterministic pipes, judgment in agents; every agent output is a validated structured object. A quiet night skips every agent node: zero model calls, $0.</a:t>
            </a:r>
          </a:p>
        </p:txBody>
      </p:sp>
      <p:sp>
        <p:nvSpPr>
          <p:cNvPr id="78" name="Rectangle 77"/>
          <p:cNvSpPr/>
          <p:nvPr/>
        </p:nvSpPr>
        <p:spPr>
          <a:xfrm>
            <a:off x="698482" y="6133946"/>
            <a:ext cx="114297" cy="114297"/>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88977" y="6095847"/>
            <a:ext cx="1650958" cy="203194"/>
          </a:xfrm>
          <a:prstGeom prst="rect">
            <a:avLst/>
          </a:prstGeom>
          <a:noFill/>
        </p:spPr>
        <p:txBody>
          <a:bodyPr wrap="square" lIns="0" rIns="0" tIns="0" bIns="0" anchor="t">
            <a:spAutoFit/>
          </a:bodyPr>
          <a:lstStyle/>
          <a:p>
            <a:pPr algn="l"/>
            <a:r>
              <a:rPr sz="1199" b="0" i="0" spc="100">
                <a:solidFill>
                  <a:srgbClr val="B9C3BD"/>
                </a:solidFill>
                <a:latin typeface="Habibi"/>
              </a:rPr>
              <a:t>CODE</a:t>
            </a:r>
          </a:p>
        </p:txBody>
      </p:sp>
      <p:sp>
        <p:nvSpPr>
          <p:cNvPr id="80" name="Rectangle 79"/>
          <p:cNvSpPr/>
          <p:nvPr/>
        </p:nvSpPr>
        <p:spPr>
          <a:xfrm>
            <a:off x="1752556" y="6133946"/>
            <a:ext cx="114297" cy="114297"/>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943051" y="6095847"/>
            <a:ext cx="1650958" cy="203194"/>
          </a:xfrm>
          <a:prstGeom prst="rect">
            <a:avLst/>
          </a:prstGeom>
          <a:noFill/>
        </p:spPr>
        <p:txBody>
          <a:bodyPr wrap="square" lIns="0" rIns="0" tIns="0" bIns="0" anchor="t">
            <a:spAutoFit/>
          </a:bodyPr>
          <a:lstStyle/>
          <a:p>
            <a:pPr algn="l"/>
            <a:r>
              <a:rPr sz="1199" b="0" i="0" spc="100">
                <a:solidFill>
                  <a:srgbClr val="B9C3BD"/>
                </a:solidFill>
                <a:latin typeface="Habibi"/>
              </a:rPr>
              <a:t>AGENT</a:t>
            </a:r>
          </a:p>
        </p:txBody>
      </p:sp>
      <p:sp>
        <p:nvSpPr>
          <p:cNvPr id="82" name="Rectangle 81"/>
          <p:cNvSpPr/>
          <p:nvPr/>
        </p:nvSpPr>
        <p:spPr>
          <a:xfrm>
            <a:off x="2895527" y="6133946"/>
            <a:ext cx="114297" cy="114297"/>
          </a:xfrm>
          <a:prstGeom prst="rect">
            <a:avLst/>
          </a:prstGeom>
          <a:solidFill>
            <a:srgbClr val="5DB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086022" y="6095847"/>
            <a:ext cx="1650958" cy="203194"/>
          </a:xfrm>
          <a:prstGeom prst="rect">
            <a:avLst/>
          </a:prstGeom>
          <a:noFill/>
        </p:spPr>
        <p:txBody>
          <a:bodyPr wrap="square" lIns="0" rIns="0" tIns="0" bIns="0" anchor="t">
            <a:spAutoFit/>
          </a:bodyPr>
          <a:lstStyle/>
          <a:p>
            <a:pPr algn="l"/>
            <a:r>
              <a:rPr sz="1199" b="0" i="0" spc="100">
                <a:solidFill>
                  <a:srgbClr val="B9C3BD"/>
                </a:solidFill>
                <a:latin typeface="Habibi"/>
              </a:rPr>
              <a:t>VERIFY</a:t>
            </a:r>
          </a:p>
        </p:txBody>
      </p:sp>
      <p:sp>
        <p:nvSpPr>
          <p:cNvPr id="84" name="Rectangle 83"/>
          <p:cNvSpPr/>
          <p:nvPr/>
        </p:nvSpPr>
        <p:spPr>
          <a:xfrm>
            <a:off x="4127396" y="6133946"/>
            <a:ext cx="114297" cy="114297"/>
          </a:xfrm>
          <a:prstGeom prst="rect">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317892" y="6095847"/>
            <a:ext cx="1650958" cy="203194"/>
          </a:xfrm>
          <a:prstGeom prst="rect">
            <a:avLst/>
          </a:prstGeom>
          <a:noFill/>
        </p:spPr>
        <p:txBody>
          <a:bodyPr wrap="square" lIns="0" rIns="0" tIns="0" bIns="0" anchor="t">
            <a:spAutoFit/>
          </a:bodyPr>
          <a:lstStyle/>
          <a:p>
            <a:pPr algn="l"/>
            <a:r>
              <a:rPr sz="1199" b="0" i="0" spc="100">
                <a:solidFill>
                  <a:srgbClr val="B9C3BD"/>
                </a:solidFill>
                <a:latin typeface="Habibi"/>
              </a:rPr>
              <a:t>GATE · HUMAN</a:t>
            </a:r>
          </a:p>
        </p:txBody>
      </p:sp>
      <p:sp>
        <p:nvSpPr>
          <p:cNvPr id="86" name="TextBox 85"/>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B9C3BD"/>
                </a:solidFill>
                <a:latin typeface="Habibi"/>
              </a:rPr>
              <a:t>GUARDIAN · ARCHITECTURE · 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609584"/>
            <a:ext cx="7619809" cy="253993"/>
          </a:xfrm>
          <a:prstGeom prst="rect">
            <a:avLst/>
          </a:prstGeom>
          <a:noFill/>
        </p:spPr>
        <p:txBody>
          <a:bodyPr wrap="square" lIns="0" rIns="0" tIns="0" bIns="0" anchor="t">
            <a:spAutoFit/>
          </a:bodyPr>
          <a:lstStyle/>
          <a:p>
            <a:pPr algn="l"/>
            <a:r>
              <a:rPr sz="1299" b="0" i="0" spc="200">
                <a:solidFill>
                  <a:srgbClr val="FCBA04"/>
                </a:solidFill>
                <a:latin typeface="Habibi"/>
              </a:rPr>
              <a:t>RUNTIME</a:t>
            </a:r>
          </a:p>
        </p:txBody>
      </p:sp>
      <p:sp>
        <p:nvSpPr>
          <p:cNvPr id="3" name="TextBox 2"/>
          <p:cNvSpPr txBox="1"/>
          <p:nvPr/>
        </p:nvSpPr>
        <p:spPr>
          <a:xfrm>
            <a:off x="698482" y="927076"/>
            <a:ext cx="10159746" cy="571485"/>
          </a:xfrm>
          <a:prstGeom prst="rect">
            <a:avLst/>
          </a:prstGeom>
          <a:noFill/>
        </p:spPr>
        <p:txBody>
          <a:bodyPr wrap="square" lIns="0" rIns="0" tIns="0" bIns="0" anchor="t">
            <a:spAutoFit/>
          </a:bodyPr>
          <a:lstStyle/>
          <a:p>
            <a:pPr algn="l">
              <a:lnSpc>
                <a:spcPct val="110000"/>
              </a:lnSpc>
            </a:pPr>
            <a:r>
              <a:rPr sz="3199" b="1" i="0">
                <a:solidFill>
                  <a:srgbClr val="F7F4F3"/>
                </a:solidFill>
                <a:latin typeface="Roboto Slab"/>
              </a:rPr>
              <a:t>How a gren graph runs on Strands Agents</a:t>
            </a:r>
          </a:p>
        </p:txBody>
      </p:sp>
      <p:sp>
        <p:nvSpPr>
          <p:cNvPr id="4" name="Rounded Rectangle 3"/>
          <p:cNvSpPr/>
          <p:nvPr/>
        </p:nvSpPr>
        <p:spPr>
          <a:xfrm>
            <a:off x="698482" y="1777955"/>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1677" y="1955751"/>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GRAPHBUILDER</a:t>
            </a:r>
          </a:p>
        </p:txBody>
      </p:sp>
      <p:sp>
        <p:nvSpPr>
          <p:cNvPr id="6" name="TextBox 5"/>
          <p:cNvSpPr txBox="1"/>
          <p:nvPr/>
        </p:nvSpPr>
        <p:spPr>
          <a:xfrm>
            <a:off x="901677" y="2260543"/>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Every node is a Strands MultiAgentBase executor. gren derives the edges from data references such as $nodes.matcher.outputs. Nobody declares an edge by hand.</a:t>
            </a:r>
          </a:p>
        </p:txBody>
      </p:sp>
      <p:sp>
        <p:nvSpPr>
          <p:cNvPr id="7" name="Rounded Rectangle 6"/>
          <p:cNvSpPr/>
          <p:nvPr/>
        </p:nvSpPr>
        <p:spPr>
          <a:xfrm>
            <a:off x="4347524" y="1777955"/>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0719" y="1955751"/>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AND JOINS</a:t>
            </a:r>
          </a:p>
        </p:txBody>
      </p:sp>
      <p:sp>
        <p:nvSpPr>
          <p:cNvPr id="9" name="TextBox 8"/>
          <p:cNvSpPr txBox="1"/>
          <p:nvPr/>
        </p:nvSpPr>
        <p:spPr>
          <a:xfrm>
            <a:off x="4550719" y="2260543"/>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Strands readiness is OR. gren adds an edge condition, so a node runs only when all of its dependencies are complete.</a:t>
            </a:r>
          </a:p>
        </p:txBody>
      </p:sp>
      <p:sp>
        <p:nvSpPr>
          <p:cNvPr id="10" name="Rounded Rectangle 9"/>
          <p:cNvSpPr/>
          <p:nvPr/>
        </p:nvSpPr>
        <p:spPr>
          <a:xfrm>
            <a:off x="7996566" y="1777955"/>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9761" y="1955751"/>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STRUCTURED OUTPUT</a:t>
            </a:r>
          </a:p>
        </p:txBody>
      </p:sp>
      <p:sp>
        <p:nvSpPr>
          <p:cNvPr id="12" name="TextBox 11"/>
          <p:cNvSpPr txBox="1"/>
          <p:nvPr/>
        </p:nvSpPr>
        <p:spPr>
          <a:xfrm>
            <a:off x="8199761" y="2260543"/>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An agent node runs a Strands Agent with structured_output_model. gren validates the output against the JSON schema and makes one bounded repair call on an invalid output.</a:t>
            </a:r>
          </a:p>
        </p:txBody>
      </p:sp>
      <p:sp>
        <p:nvSpPr>
          <p:cNvPr id="13" name="Rounded Rectangle 12"/>
          <p:cNvSpPr/>
          <p:nvPr/>
        </p:nvSpPr>
        <p:spPr>
          <a:xfrm>
            <a:off x="698482" y="3962300"/>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1677" y="4140096"/>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GATES ARE INTERRUPTS</a:t>
            </a:r>
          </a:p>
        </p:txBody>
      </p:sp>
      <p:sp>
        <p:nvSpPr>
          <p:cNvPr id="15" name="TextBox 14"/>
          <p:cNvSpPr txBox="1"/>
          <p:nvPr/>
        </p:nvSpPr>
        <p:spPr>
          <a:xfrm>
            <a:off x="901677" y="4444888"/>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A BeforeNodeCallEvent hook raises event.interrupt. The run pauses. The checkpoint is on disk. The process can exit. Resume replays completed nodes with no new model calls.</a:t>
            </a:r>
          </a:p>
        </p:txBody>
      </p:sp>
      <p:sp>
        <p:nvSpPr>
          <p:cNvPr id="16" name="Rounded Rectangle 15"/>
          <p:cNvSpPr/>
          <p:nvPr/>
        </p:nvSpPr>
        <p:spPr>
          <a:xfrm>
            <a:off x="4347524" y="3962300"/>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0719" y="4140096"/>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VERIFIER WITH KILL AUTHORITY</a:t>
            </a:r>
          </a:p>
        </p:txBody>
      </p:sp>
      <p:sp>
        <p:nvSpPr>
          <p:cNvPr id="18" name="TextBox 17"/>
          <p:cNvSpPr txBox="1"/>
          <p:nvPr/>
        </p:nvSpPr>
        <p:spPr>
          <a:xfrm>
            <a:off x="4550719" y="4444888"/>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severity_check returns {verdict, reasons, confidence}. A rejection resets triage with the reasons as feedback through a conditional back-edge, at most one round.</a:t>
            </a:r>
          </a:p>
        </p:txBody>
      </p:sp>
      <p:sp>
        <p:nvSpPr>
          <p:cNvPr id="19" name="Rounded Rectangle 18"/>
          <p:cNvSpPr/>
          <p:nvPr/>
        </p:nvSpPr>
        <p:spPr>
          <a:xfrm>
            <a:off x="7996566" y="3962300"/>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99761" y="4140096"/>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BUDGETS AND SIDE EFFECTS</a:t>
            </a:r>
          </a:p>
        </p:txBody>
      </p:sp>
      <p:sp>
        <p:nvSpPr>
          <p:cNvPr id="21" name="TextBox 20"/>
          <p:cNvSpPr txBox="1"/>
          <p:nvPr/>
        </p:nvSpPr>
        <p:spPr>
          <a:xfrm>
            <a:off x="8199761" y="4444888"/>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The engine enforces retries, the fallback model, timeouts, the quorum on fan-outs, and the spend cap. A side-effect node runs one time and only behind an approval.</a:t>
            </a:r>
          </a:p>
        </p:txBody>
      </p:sp>
      <p:sp>
        <p:nvSpPr>
          <p:cNvPr id="22" name="TextBox 21"/>
          <p:cNvSpPr txBox="1"/>
          <p:nvPr/>
        </p:nvSpPr>
        <p:spPr>
          <a:xfrm>
            <a:off x="698482" y="6172045"/>
            <a:ext cx="10794730" cy="444488"/>
          </a:xfrm>
          <a:prstGeom prst="rect">
            <a:avLst/>
          </a:prstGeom>
          <a:noFill/>
        </p:spPr>
        <p:txBody>
          <a:bodyPr wrap="square" lIns="0" rIns="0" tIns="0" bIns="0" anchor="t">
            <a:spAutoFit/>
          </a:bodyPr>
          <a:lstStyle/>
          <a:p>
            <a:pPr algn="l">
              <a:lnSpc>
                <a:spcPct val="135000"/>
              </a:lnSpc>
            </a:pPr>
            <a:r>
              <a:rPr sz="1099" b="0" i="0">
                <a:solidFill>
                  <a:srgbClr val="B9C3BD"/>
                </a:solidFill>
                <a:latin typeface="Lora"/>
              </a:rPr>
              <a:t>Every node writes an artifact (system prompt, prompt, schema, raw output, usage, cost) under var/runs/&lt;run&gt;/artifacts. events.jsonl is the trace that the dashboard streams. See ARCHITECTURE.md section 1.</a:t>
            </a:r>
          </a:p>
        </p:txBody>
      </p:sp>
      <p:sp>
        <p:nvSpPr>
          <p:cNvPr id="23" name="TextBox 22"/>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B9C3BD"/>
                </a:solidFill>
                <a:latin typeface="Habibi"/>
              </a:rPr>
              <a:t>GUARDIAN · ARCHITECTURE · 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COMPONENTS · 1 OF 2</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What runs where: the agent</a:t>
            </a:r>
          </a:p>
        </p:txBody>
      </p:sp>
      <p:graphicFrame>
        <p:nvGraphicFramePr>
          <p:cNvPr id="4" name="Table 3"/>
          <p:cNvGraphicFramePr>
            <a:graphicFrameLocks noGrp="1"/>
          </p:cNvGraphicFramePr>
          <p:nvPr/>
        </p:nvGraphicFramePr>
        <p:xfrm>
          <a:off x="698482" y="1777955"/>
          <a:ext cx="10794729" cy="4305189"/>
        </p:xfrm>
        <a:graphic>
          <a:graphicData uri="http://schemas.openxmlformats.org/drawingml/2006/table">
            <a:tbl>
              <a:tblPr firstRow="1">
                <a:tableStyleId>{5C22544A-7EE6-4342-B048-85BDC9FD1C3A}</a:tableStyleId>
              </a:tblPr>
              <a:tblGrid>
                <a:gridCol w="2158946"/>
                <a:gridCol w="2666933"/>
                <a:gridCol w="5968850"/>
              </a:tblGrid>
              <a:tr h="292092">
                <a:tc>
                  <a:txBody>
                    <a:bodyPr wrap="square"/>
                    <a:lstStyle/>
                    <a:p>
                      <a:pPr algn="l"/>
                      <a:r>
                        <a:rPr sz="1049" b="0">
                          <a:solidFill>
                            <a:srgbClr val="F7F4F3"/>
                          </a:solidFill>
                          <a:latin typeface="Habibi"/>
                        </a:rPr>
                        <a:t>COMPONENT</a:t>
                      </a:r>
                    </a:p>
                  </a:txBody>
                  <a:tcPr marL="88897" marR="88897" marT="50798" marB="38099" anchor="t">
                    <a:solidFill>
                      <a:srgbClr val="000F08"/>
                    </a:solidFill>
                  </a:tcPr>
                </a:tc>
                <a:tc>
                  <a:txBody>
                    <a:bodyPr wrap="square"/>
                    <a:lstStyle/>
                    <a:p>
                      <a:pPr algn="l"/>
                      <a:r>
                        <a:rPr sz="1049" b="0">
                          <a:solidFill>
                            <a:srgbClr val="F7F4F3"/>
                          </a:solidFill>
                          <a:latin typeface="Habibi"/>
                        </a:rPr>
                        <a:t>TECHNOLOGY</a:t>
                      </a:r>
                    </a:p>
                  </a:txBody>
                  <a:tcPr marL="88897" marR="88897" marT="50798" marB="38099" anchor="t">
                    <a:solidFill>
                      <a:srgbClr val="000F08"/>
                    </a:solidFill>
                  </a:tcPr>
                </a:tc>
                <a:tc>
                  <a:txBody>
                    <a:bodyPr wrap="square"/>
                    <a:lstStyle/>
                    <a:p>
                      <a:pPr algn="l"/>
                      <a:r>
                        <a:rPr sz="1049" b="0">
                          <a:solidFill>
                            <a:srgbClr val="F7F4F3"/>
                          </a:solidFill>
                          <a:latin typeface="Habibi"/>
                        </a:rPr>
                        <a:t>DESCRIPTION</a:t>
                      </a:r>
                    </a:p>
                  </a:txBody>
                  <a:tcPr marL="88897" marR="88897" marT="50798" marB="38099" anchor="t">
                    <a:solidFill>
                      <a:srgbClr val="000F08"/>
                    </a:solidFill>
                  </a:tcPr>
                </a:tc>
              </a:tr>
              <a:tr h="514337">
                <a:tc>
                  <a:txBody>
                    <a:bodyPr wrap="square"/>
                    <a:lstStyle/>
                    <a:p>
                      <a:pPr algn="l"/>
                      <a:r>
                        <a:rPr sz="1249" b="1">
                          <a:solidFill>
                            <a:srgbClr val="000F08"/>
                          </a:solidFill>
                          <a:latin typeface="Roboto Slab"/>
                        </a:rPr>
                        <a:t>gren runtime</a:t>
                      </a:r>
                    </a:p>
                  </a:txBody>
                  <a:tcPr marL="88897" marR="88897" marT="50798" marB="38099" anchor="t">
                    <a:solidFill>
                      <a:srgbClr val="FFFFFF"/>
                    </a:solidFill>
                  </a:tcPr>
                </a:tc>
                <a:tc>
                  <a:txBody>
                    <a:bodyPr wrap="square"/>
                    <a:lstStyle/>
                    <a:p>
                      <a:pPr algn="l"/>
                      <a:r>
                        <a:rPr sz="1249" b="0">
                          <a:solidFill>
                            <a:srgbClr val="000F08"/>
                          </a:solidFill>
                          <a:latin typeface="Lora"/>
                        </a:rPr>
                        <a:t>Strands Agents SDK, Python</a:t>
                      </a:r>
                    </a:p>
                  </a:txBody>
                  <a:tcPr marL="88897" marR="88897" marT="50798" marB="38099" anchor="t">
                    <a:solidFill>
                      <a:srgbClr val="FFFFFF"/>
                    </a:solidFill>
                  </a:tcPr>
                </a:tc>
                <a:tc>
                  <a:txBody>
                    <a:bodyPr wrap="square"/>
                    <a:lstStyle/>
                    <a:p>
                      <a:pPr algn="l"/>
                      <a:r>
                        <a:rPr sz="1249" b="0">
                          <a:solidFill>
                            <a:srgbClr val="000F08"/>
                          </a:solidFill>
                          <a:latin typeface="Lora"/>
                        </a:rPr>
                        <a:t>Compiles a YAML graph into a Strands Graph. Executors, AND joins, budgets, retries, gates, artifacts, events.</a:t>
                      </a:r>
                    </a:p>
                  </a:txBody>
                  <a:tcPr marL="88897" marR="88897" marT="50798" marB="38099" anchor="t">
                    <a:solidFill>
                      <a:srgbClr val="FFFFFF"/>
                    </a:solidFill>
                  </a:tcPr>
                </a:tc>
              </a:tr>
              <a:tr h="720706">
                <a:tc>
                  <a:txBody>
                    <a:bodyPr wrap="square"/>
                    <a:lstStyle/>
                    <a:p>
                      <a:pPr algn="l"/>
                      <a:r>
                        <a:rPr sz="1249" b="1">
                          <a:solidFill>
                            <a:srgbClr val="000F08"/>
                          </a:solidFill>
                          <a:latin typeface="Roboto Slab"/>
                        </a:rPr>
                        <a:t>nightly-sweep graph</a:t>
                      </a:r>
                    </a:p>
                  </a:txBody>
                  <a:tcPr marL="88897" marR="88897" marT="50798" marB="38099" anchor="t">
                    <a:solidFill>
                      <a:srgbClr val="EFEBE9"/>
                    </a:solidFill>
                  </a:tcPr>
                </a:tc>
                <a:tc>
                  <a:txBody>
                    <a:bodyPr wrap="square"/>
                    <a:lstStyle/>
                    <a:p>
                      <a:pPr algn="l"/>
                      <a:r>
                        <a:rPr sz="1249" b="0">
                          <a:solidFill>
                            <a:srgbClr val="000F08"/>
                          </a:solidFill>
                          <a:latin typeface="Lora"/>
                        </a:rPr>
                        <a:t>gren spec, 13 nodes</a:t>
                      </a:r>
                    </a:p>
                  </a:txBody>
                  <a:tcPr marL="88897" marR="88897" marT="50798" marB="38099" anchor="t">
                    <a:solidFill>
                      <a:srgbClr val="EFEBE9"/>
                    </a:solidFill>
                  </a:tcPr>
                </a:tc>
                <a:tc>
                  <a:txBody>
                    <a:bodyPr wrap="square"/>
                    <a:lstStyle/>
                    <a:p>
                      <a:pPr algn="l"/>
                      <a:r>
                        <a:rPr sz="1249" b="0">
                          <a:solidFill>
                            <a:srgbClr val="000F08"/>
                          </a:solidFill>
                          <a:latin typeface="Lora"/>
                        </a:rPr>
                        <a:t>feeds_refresh, expiry_scan, candidate_gen, warranty, matcher, verdicts, triage, severity_check, household_decision, digest, answers, remedy, followup.</a:t>
                      </a:r>
                    </a:p>
                  </a:txBody>
                  <a:tcPr marL="88897" marR="88897" marT="50798" marB="38099" anchor="t">
                    <a:solidFill>
                      <a:srgbClr val="EFEBE9"/>
                    </a:solidFill>
                  </a:tcPr>
                </a:tc>
              </a:tr>
              <a:tr h="514337">
                <a:tc>
                  <a:txBody>
                    <a:bodyPr wrap="square"/>
                    <a:lstStyle/>
                    <a:p>
                      <a:pPr algn="l"/>
                      <a:r>
                        <a:rPr sz="1249" b="1">
                          <a:solidFill>
                            <a:srgbClr val="000F08"/>
                          </a:solidFill>
                          <a:latin typeface="Roboto Slab"/>
                        </a:rPr>
                        <a:t>intake graph</a:t>
                      </a:r>
                    </a:p>
                  </a:txBody>
                  <a:tcPr marL="88897" marR="88897" marT="50798" marB="38099" anchor="t">
                    <a:solidFill>
                      <a:srgbClr val="FFFFFF"/>
                    </a:solidFill>
                  </a:tcPr>
                </a:tc>
                <a:tc>
                  <a:txBody>
                    <a:bodyPr wrap="square"/>
                    <a:lstStyle/>
                    <a:p>
                      <a:pPr algn="l"/>
                      <a:r>
                        <a:rPr sz="1249" b="0">
                          <a:solidFill>
                            <a:srgbClr val="000F08"/>
                          </a:solidFill>
                          <a:latin typeface="Lora"/>
                        </a:rPr>
                        <a:t>gren spec, 3 nodes</a:t>
                      </a:r>
                    </a:p>
                  </a:txBody>
                  <a:tcPr marL="88897" marR="88897" marT="50798" marB="38099" anchor="t">
                    <a:solidFill>
                      <a:srgbClr val="FFFFFF"/>
                    </a:solidFill>
                  </a:tcPr>
                </a:tc>
                <a:tc>
                  <a:txBody>
                    <a:bodyPr wrap="square"/>
                    <a:lstStyle/>
                    <a:p>
                      <a:pPr algn="l"/>
                      <a:r>
                        <a:rPr sz="1249" b="0">
                          <a:solidFill>
                            <a:srgbClr val="000F08"/>
                          </a:solidFill>
                          <a:latin typeface="Lora"/>
                        </a:rPr>
                        <a:t>redact (code), extract (agent, Haiku), save_item (code). A VIN goes through the NHTSA vPIC decoder.</a:t>
                      </a:r>
                    </a:p>
                  </a:txBody>
                  <a:tcPr marL="88897" marR="88897" marT="50798" marB="38099" anchor="t">
                    <a:solidFill>
                      <a:srgbClr val="FFFFFF"/>
                    </a:solidFill>
                  </a:tcPr>
                </a:tc>
              </a:tr>
              <a:tr h="514337">
                <a:tc>
                  <a:txBody>
                    <a:bodyPr wrap="square"/>
                    <a:lstStyle/>
                    <a:p>
                      <a:pPr algn="l"/>
                      <a:r>
                        <a:rPr sz="1249" b="1">
                          <a:solidFill>
                            <a:srgbClr val="000F08"/>
                          </a:solidFill>
                          <a:latin typeface="Roboto Slab"/>
                        </a:rPr>
                        <a:t>Feeds</a:t>
                      </a:r>
                    </a:p>
                  </a:txBody>
                  <a:tcPr marL="88897" marR="88897" marT="50798" marB="38099" anchor="t">
                    <a:solidFill>
                      <a:srgbClr val="EFEBE9"/>
                    </a:solidFill>
                  </a:tcPr>
                </a:tc>
                <a:tc>
                  <a:txBody>
                    <a:bodyPr wrap="square"/>
                    <a:lstStyle/>
                    <a:p>
                      <a:pPr algn="l"/>
                      <a:r>
                        <a:rPr sz="1249" b="0">
                          <a:solidFill>
                            <a:srgbClr val="000F08"/>
                          </a:solidFill>
                          <a:latin typeface="Lora"/>
                        </a:rPr>
                        <a:t>httpx clients</a:t>
                      </a:r>
                    </a:p>
                  </a:txBody>
                  <a:tcPr marL="88897" marR="88897" marT="50798" marB="38099" anchor="t">
                    <a:solidFill>
                      <a:srgbClr val="EFEBE9"/>
                    </a:solidFill>
                  </a:tcPr>
                </a:tc>
                <a:tc>
                  <a:txBody>
                    <a:bodyPr wrap="square"/>
                    <a:lstStyle/>
                    <a:p>
                      <a:pPr algn="l"/>
                      <a:r>
                        <a:rPr sz="1249" b="0">
                          <a:solidFill>
                            <a:srgbClr val="000F08"/>
                          </a:solidFill>
                          <a:latin typeface="Lora"/>
                        </a:rPr>
                        <a:t>CPSC SaferProducts API, NHTSA recalls by vehicle, openFDA food enforcement. Recorded fixtures replay in the tests.</a:t>
                      </a:r>
                    </a:p>
                  </a:txBody>
                  <a:tcPr marL="88897" marR="88897" marT="50798" marB="38099" anchor="t">
                    <a:solidFill>
                      <a:srgbClr val="EFEBE9"/>
                    </a:solidFill>
                  </a:tcPr>
                </a:tc>
              </a:tr>
              <a:tr h="720706">
                <a:tc>
                  <a:txBody>
                    <a:bodyPr wrap="square"/>
                    <a:lstStyle/>
                    <a:p>
                      <a:pPr algn="l"/>
                      <a:r>
                        <a:rPr sz="1249" b="1">
                          <a:solidFill>
                            <a:srgbClr val="000F08"/>
                          </a:solidFill>
                          <a:latin typeface="Roboto Slab"/>
                        </a:rPr>
                        <a:t>Matching</a:t>
                      </a:r>
                    </a:p>
                  </a:txBody>
                  <a:tcPr marL="88897" marR="88897" marT="50798" marB="38099" anchor="t">
                    <a:solidFill>
                      <a:srgbClr val="FFFFFF"/>
                    </a:solidFill>
                  </a:tcPr>
                </a:tc>
                <a:tc>
                  <a:txBody>
                    <a:bodyPr wrap="square"/>
                    <a:lstStyle/>
                    <a:p>
                      <a:pPr algn="l"/>
                      <a:r>
                        <a:rPr sz="1249" b="0">
                          <a:solidFill>
                            <a:srgbClr val="000F08"/>
                          </a:solidFill>
                          <a:latin typeface="Lora"/>
                        </a:rPr>
                        <a:t>rapidfuzz, code</a:t>
                      </a:r>
                    </a:p>
                  </a:txBody>
                  <a:tcPr marL="88897" marR="88897" marT="50798" marB="38099" anchor="t">
                    <a:solidFill>
                      <a:srgbClr val="FFFFFF"/>
                    </a:solidFill>
                  </a:tcPr>
                </a:tc>
                <a:tc>
                  <a:txBody>
                    <a:bodyPr wrap="square"/>
                    <a:lstStyle/>
                    <a:p>
                      <a:pPr algn="l"/>
                      <a:r>
                        <a:rPr sz="1249" b="0">
                          <a:solidFill>
                            <a:srgbClr val="000F08"/>
                          </a:solidFill>
                          <a:latin typeface="Lora"/>
                        </a:rPr>
                        <a:t>Stage 1 exact keys (UPC, vehicle, model). Stage 2 lexical score 80 or more with brand overlap. Stage 3 sold window of plus or minus 60 days. Stage 4 the matcher agent.</a:t>
                      </a:r>
                    </a:p>
                  </a:txBody>
                  <a:tcPr marL="88897" marR="88897" marT="50798" marB="38099" anchor="t">
                    <a:solidFill>
                      <a:srgbClr val="FFFFFF"/>
                    </a:solidFill>
                  </a:tcPr>
                </a:tc>
              </a:tr>
              <a:tr h="514337">
                <a:tc>
                  <a:txBody>
                    <a:bodyPr wrap="square"/>
                    <a:lstStyle/>
                    <a:p>
                      <a:pPr algn="l"/>
                      <a:r>
                        <a:rPr sz="1249" b="1">
                          <a:solidFill>
                            <a:srgbClr val="000F08"/>
                          </a:solidFill>
                          <a:latin typeface="Roboto Slab"/>
                        </a:rPr>
                        <a:t>Policy</a:t>
                      </a:r>
                    </a:p>
                  </a:txBody>
                  <a:tcPr marL="88897" marR="88897" marT="50798" marB="38099" anchor="t">
                    <a:solidFill>
                      <a:srgbClr val="EFEBE9"/>
                    </a:solidFill>
                  </a:tcPr>
                </a:tc>
                <a:tc>
                  <a:txBody>
                    <a:bodyPr wrap="square"/>
                    <a:lstStyle/>
                    <a:p>
                      <a:pPr algn="l"/>
                      <a:r>
                        <a:rPr sz="1249" b="0">
                          <a:solidFill>
                            <a:srgbClr val="000F08"/>
                          </a:solidFill>
                          <a:latin typeface="Lora"/>
                        </a:rPr>
                        <a:t>code</a:t>
                      </a:r>
                    </a:p>
                  </a:txBody>
                  <a:tcPr marL="88897" marR="88897" marT="50798" marB="38099" anchor="t">
                    <a:solidFill>
                      <a:srgbClr val="EFEBE9"/>
                    </a:solidFill>
                  </a:tcPr>
                </a:tc>
                <a:tc>
                  <a:txBody>
                    <a:bodyPr wrap="square"/>
                    <a:lstStyle/>
                    <a:p>
                      <a:pPr algn="l"/>
                      <a:r>
                        <a:rPr sz="1249" b="0">
                          <a:solidFill>
                            <a:srgbClr val="000F08"/>
                          </a:solidFill>
                          <a:latin typeface="Lora"/>
                        </a:rPr>
                        <a:t>Severity keyword pass, notification budget, warranty windows, quiet categories.</a:t>
                      </a:r>
                    </a:p>
                  </a:txBody>
                  <a:tcPr marL="88897" marR="88897" marT="50798" marB="38099" anchor="t">
                    <a:solidFill>
                      <a:srgbClr val="EFEBE9"/>
                    </a:solidFill>
                  </a:tcPr>
                </a:tc>
              </a:tr>
              <a:tr h="514337">
                <a:tc>
                  <a:txBody>
                    <a:bodyPr wrap="square"/>
                    <a:lstStyle/>
                    <a:p>
                      <a:pPr algn="l"/>
                      <a:r>
                        <a:rPr sz="1249" b="1">
                          <a:solidFill>
                            <a:srgbClr val="000F08"/>
                          </a:solidFill>
                          <a:latin typeface="Roboto Slab"/>
                        </a:rPr>
                        <a:t>Models</a:t>
                      </a:r>
                    </a:p>
                  </a:txBody>
                  <a:tcPr marL="88897" marR="88897" marT="50798" marB="38099" anchor="t">
                    <a:solidFill>
                      <a:srgbClr val="FFFFFF"/>
                    </a:solidFill>
                  </a:tcPr>
                </a:tc>
                <a:tc>
                  <a:txBody>
                    <a:bodyPr wrap="square"/>
                    <a:lstStyle/>
                    <a:p>
                      <a:pPr algn="l"/>
                      <a:r>
                        <a:rPr sz="1249" b="0">
                          <a:solidFill>
                            <a:srgbClr val="000F08"/>
                          </a:solidFill>
                          <a:latin typeface="Lora"/>
                        </a:rPr>
                        <a:t>Amazon Bedrock, Claude</a:t>
                      </a:r>
                    </a:p>
                  </a:txBody>
                  <a:tcPr marL="88897" marR="88897" marT="50798" marB="38099" anchor="t">
                    <a:solidFill>
                      <a:srgbClr val="FFFFFF"/>
                    </a:solidFill>
                  </a:tcPr>
                </a:tc>
                <a:tc>
                  <a:txBody>
                    <a:bodyPr wrap="square"/>
                    <a:lstStyle/>
                    <a:p>
                      <a:pPr algn="l"/>
                      <a:r>
                        <a:rPr sz="1249" b="0">
                          <a:solidFill>
                            <a:srgbClr val="000F08"/>
                          </a:solidFill>
                          <a:latin typeface="Lora"/>
                        </a:rPr>
                        <a:t>Haiku 4.5 for extraction and verification. Opus 5 for the matcher and triage. Sonnet 5 for the remedy text. Global inference profiles.</a:t>
                      </a:r>
                    </a:p>
                  </a:txBody>
                  <a:tcPr marL="88897" marR="88897" marT="50798" marB="38099" anchor="t">
                    <a:solidFill>
                      <a:srgbClr val="FFFFFF"/>
                    </a:solidFill>
                  </a:tcPr>
                </a:tc>
              </a:tr>
            </a:tbl>
          </a:graphicData>
        </a:graphic>
      </p:graphicFrame>
      <p:sp>
        <p:nvSpPr>
          <p:cNvPr id="5" name="TextBox 4"/>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COMPONENTS · 2 OF 2</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What runs where: the household layer and the surfaces</a:t>
            </a:r>
          </a:p>
        </p:txBody>
      </p:sp>
      <p:graphicFrame>
        <p:nvGraphicFramePr>
          <p:cNvPr id="4" name="Table 3"/>
          <p:cNvGraphicFramePr>
            <a:graphicFrameLocks noGrp="1"/>
          </p:cNvGraphicFramePr>
          <p:nvPr/>
        </p:nvGraphicFramePr>
        <p:xfrm>
          <a:off x="698482" y="1777955"/>
          <a:ext cx="10794729" cy="3892451"/>
        </p:xfrm>
        <a:graphic>
          <a:graphicData uri="http://schemas.openxmlformats.org/drawingml/2006/table">
            <a:tbl>
              <a:tblPr firstRow="1">
                <a:tableStyleId>{5C22544A-7EE6-4342-B048-85BDC9FD1C3A}</a:tableStyleId>
              </a:tblPr>
              <a:tblGrid>
                <a:gridCol w="2158946"/>
                <a:gridCol w="2666933"/>
                <a:gridCol w="5968850"/>
              </a:tblGrid>
              <a:tr h="292092">
                <a:tc>
                  <a:txBody>
                    <a:bodyPr wrap="square"/>
                    <a:lstStyle/>
                    <a:p>
                      <a:pPr algn="l"/>
                      <a:r>
                        <a:rPr sz="1049" b="0">
                          <a:solidFill>
                            <a:srgbClr val="F7F4F3"/>
                          </a:solidFill>
                          <a:latin typeface="Habibi"/>
                        </a:rPr>
                        <a:t>COMPONENT</a:t>
                      </a:r>
                    </a:p>
                  </a:txBody>
                  <a:tcPr marL="88897" marR="88897" marT="50798" marB="38099" anchor="t">
                    <a:solidFill>
                      <a:srgbClr val="000F08"/>
                    </a:solidFill>
                  </a:tcPr>
                </a:tc>
                <a:tc>
                  <a:txBody>
                    <a:bodyPr wrap="square"/>
                    <a:lstStyle/>
                    <a:p>
                      <a:pPr algn="l"/>
                      <a:r>
                        <a:rPr sz="1049" b="0">
                          <a:solidFill>
                            <a:srgbClr val="F7F4F3"/>
                          </a:solidFill>
                          <a:latin typeface="Habibi"/>
                        </a:rPr>
                        <a:t>TECHNOLOGY</a:t>
                      </a:r>
                    </a:p>
                  </a:txBody>
                  <a:tcPr marL="88897" marR="88897" marT="50798" marB="38099" anchor="t">
                    <a:solidFill>
                      <a:srgbClr val="000F08"/>
                    </a:solidFill>
                  </a:tcPr>
                </a:tc>
                <a:tc>
                  <a:txBody>
                    <a:bodyPr wrap="square"/>
                    <a:lstStyle/>
                    <a:p>
                      <a:pPr algn="l"/>
                      <a:r>
                        <a:rPr sz="1049" b="0">
                          <a:solidFill>
                            <a:srgbClr val="F7F4F3"/>
                          </a:solidFill>
                          <a:latin typeface="Habibi"/>
                        </a:rPr>
                        <a:t>DESCRIPTION</a:t>
                      </a:r>
                    </a:p>
                  </a:txBody>
                  <a:tcPr marL="88897" marR="88897" marT="50798" marB="38099" anchor="t">
                    <a:solidFill>
                      <a:srgbClr val="000F08"/>
                    </a:solidFill>
                  </a:tcPr>
                </a:tc>
              </a:tr>
              <a:tr h="514337">
                <a:tc>
                  <a:txBody>
                    <a:bodyPr wrap="square"/>
                    <a:lstStyle/>
                    <a:p>
                      <a:pPr algn="l"/>
                      <a:r>
                        <a:rPr sz="1249" b="1">
                          <a:solidFill>
                            <a:srgbClr val="000F08"/>
                          </a:solidFill>
                          <a:latin typeface="Roboto Slab"/>
                        </a:rPr>
                        <a:t>Guardian service</a:t>
                      </a:r>
                    </a:p>
                  </a:txBody>
                  <a:tcPr marL="88897" marR="88897" marT="50798" marB="38099" anchor="t">
                    <a:solidFill>
                      <a:srgbClr val="FFFFFF"/>
                    </a:solidFill>
                  </a:tcPr>
                </a:tc>
                <a:tc>
                  <a:txBody>
                    <a:bodyPr wrap="square"/>
                    <a:lstStyle/>
                    <a:p>
                      <a:pPr algn="l"/>
                      <a:r>
                        <a:rPr sz="1249" b="0">
                          <a:solidFill>
                            <a:srgbClr val="000F08"/>
                          </a:solidFill>
                          <a:latin typeface="Lora"/>
                        </a:rPr>
                        <a:t>Python</a:t>
                      </a:r>
                    </a:p>
                  </a:txBody>
                  <a:tcPr marL="88897" marR="88897" marT="50798" marB="38099" anchor="t">
                    <a:solidFill>
                      <a:srgbClr val="FFFFFF"/>
                    </a:solidFill>
                  </a:tcPr>
                </a:tc>
                <a:tc>
                  <a:txBody>
                    <a:bodyPr wrap="square"/>
                    <a:lstStyle/>
                    <a:p>
                      <a:pPr algn="l"/>
                      <a:r>
                        <a:rPr sz="1249" b="0">
                          <a:solidFill>
                            <a:srgbClr val="000F08"/>
                          </a:solidFill>
                          <a:latin typeface="Lora"/>
                        </a:rPr>
                        <a:t>Turns gate.waiting into Decision rows and SMS. Records answers. Writes the gate approval. Resumes the run. Formats the activity log.</a:t>
                      </a:r>
                    </a:p>
                  </a:txBody>
                  <a:tcPr marL="88897" marR="88897" marT="50798" marB="38099" anchor="t">
                    <a:solidFill>
                      <a:srgbClr val="FFFFFF"/>
                    </a:solidFill>
                  </a:tcPr>
                </a:tc>
              </a:tr>
              <a:tr h="514337">
                <a:tc>
                  <a:txBody>
                    <a:bodyPr wrap="square"/>
                    <a:lstStyle/>
                    <a:p>
                      <a:pPr algn="l"/>
                      <a:r>
                        <a:rPr sz="1249" b="1">
                          <a:solidFill>
                            <a:srgbClr val="000F08"/>
                          </a:solidFill>
                          <a:latin typeface="Roboto Slab"/>
                        </a:rPr>
                        <a:t>Household store</a:t>
                      </a:r>
                    </a:p>
                  </a:txBody>
                  <a:tcPr marL="88897" marR="88897" marT="50798" marB="38099" anchor="t">
                    <a:solidFill>
                      <a:srgbClr val="EFEBE9"/>
                    </a:solidFill>
                  </a:tcPr>
                </a:tc>
                <a:tc>
                  <a:txBody>
                    <a:bodyPr wrap="square"/>
                    <a:lstStyle/>
                    <a:p>
                      <a:pPr algn="l"/>
                      <a:r>
                        <a:rPr sz="1249" b="0">
                          <a:solidFill>
                            <a:srgbClr val="000F08"/>
                          </a:solidFill>
                          <a:latin typeface="Lora"/>
                        </a:rPr>
                        <a:t>JSON files, DynamoDB-shaped</a:t>
                      </a:r>
                    </a:p>
                  </a:txBody>
                  <a:tcPr marL="88897" marR="88897" marT="50798" marB="38099" anchor="t">
                    <a:solidFill>
                      <a:srgbClr val="EFEBE9"/>
                    </a:solidFill>
                  </a:tcPr>
                </a:tc>
                <a:tc>
                  <a:txBody>
                    <a:bodyPr wrap="square"/>
                    <a:lstStyle/>
                    <a:p>
                      <a:pPr algn="l"/>
                      <a:r>
                        <a:rPr sz="1249" b="0">
                          <a:solidFill>
                            <a:srgbClr val="000F08"/>
                          </a:solidFill>
                          <a:latin typeface="Lora"/>
                        </a:rPr>
                        <a:t>items, recalls, matches, decisions, activity, sweeps, outbox, prefs, household. One file per entity under var/household.</a:t>
                      </a:r>
                    </a:p>
                  </a:txBody>
                  <a:tcPr marL="88897" marR="88897" marT="50798" marB="38099" anchor="t">
                    <a:solidFill>
                      <a:srgbClr val="EFEBE9"/>
                    </a:solidFill>
                  </a:tcPr>
                </a:tc>
              </a:tr>
              <a:tr h="514337">
                <a:tc>
                  <a:txBody>
                    <a:bodyPr wrap="square"/>
                    <a:lstStyle/>
                    <a:p>
                      <a:pPr algn="l"/>
                      <a:r>
                        <a:rPr sz="1249" b="1">
                          <a:solidFill>
                            <a:srgbClr val="000F08"/>
                          </a:solidFill>
                          <a:latin typeface="Roboto Slab"/>
                        </a:rPr>
                        <a:t>Notifier</a:t>
                      </a:r>
                    </a:p>
                  </a:txBody>
                  <a:tcPr marL="88897" marR="88897" marT="50798" marB="38099" anchor="t">
                    <a:solidFill>
                      <a:srgbClr val="FFFFFF"/>
                    </a:solidFill>
                  </a:tcPr>
                </a:tc>
                <a:tc>
                  <a:txBody>
                    <a:bodyPr wrap="square"/>
                    <a:lstStyle/>
                    <a:p>
                      <a:pPr algn="l"/>
                      <a:r>
                        <a:rPr sz="1249" b="0">
                          <a:solidFill>
                            <a:srgbClr val="000F08"/>
                          </a:solidFill>
                          <a:latin typeface="Lora"/>
                        </a:rPr>
                        <a:t>SNS, SES, outbox</a:t>
                      </a:r>
                    </a:p>
                  </a:txBody>
                  <a:tcPr marL="88897" marR="88897" marT="50798" marB="38099" anchor="t">
                    <a:solidFill>
                      <a:srgbClr val="FFFFFF"/>
                    </a:solidFill>
                  </a:tcPr>
                </a:tc>
                <a:tc>
                  <a:txBody>
                    <a:bodyPr wrap="square"/>
                    <a:lstStyle/>
                    <a:p>
                      <a:pPr algn="l"/>
                      <a:r>
                        <a:rPr sz="1249" b="0">
                          <a:solidFill>
                            <a:srgbClr val="000F08"/>
                          </a:solidFill>
                          <a:latin typeface="Lora"/>
                        </a:rPr>
                        <a:t>SMS through SNS and email through SES when configured. Otherwise the outbox folder.</a:t>
                      </a:r>
                    </a:p>
                  </a:txBody>
                  <a:tcPr marL="88897" marR="88897" marT="50798" marB="38099" anchor="t">
                    <a:solidFill>
                      <a:srgbClr val="FFFFFF"/>
                    </a:solidFill>
                  </a:tcPr>
                </a:tc>
              </a:tr>
              <a:tr h="514337">
                <a:tc>
                  <a:txBody>
                    <a:bodyPr wrap="square"/>
                    <a:lstStyle/>
                    <a:p>
                      <a:pPr algn="l"/>
                      <a:r>
                        <a:rPr sz="1249" b="1">
                          <a:solidFill>
                            <a:srgbClr val="000F08"/>
                          </a:solidFill>
                          <a:latin typeface="Roboto Slab"/>
                        </a:rPr>
                        <a:t>Guardian API</a:t>
                      </a:r>
                    </a:p>
                  </a:txBody>
                  <a:tcPr marL="88897" marR="88897" marT="50798" marB="38099" anchor="t">
                    <a:solidFill>
                      <a:srgbClr val="EFEBE9"/>
                    </a:solidFill>
                  </a:tcPr>
                </a:tc>
                <a:tc>
                  <a:txBody>
                    <a:bodyPr wrap="square"/>
                    <a:lstStyle/>
                    <a:p>
                      <a:pPr algn="l"/>
                      <a:r>
                        <a:rPr sz="1249" b="0">
                          <a:solidFill>
                            <a:srgbClr val="000F08"/>
                          </a:solidFill>
                          <a:latin typeface="Lora"/>
                        </a:rPr>
                        <a:t>FastAPI, SSE</a:t>
                      </a:r>
                    </a:p>
                  </a:txBody>
                  <a:tcPr marL="88897" marR="88897" marT="50798" marB="38099" anchor="t">
                    <a:solidFill>
                      <a:srgbClr val="EFEBE9"/>
                    </a:solidFill>
                  </a:tcPr>
                </a:tc>
                <a:tc>
                  <a:txBody>
                    <a:bodyPr wrap="square"/>
                    <a:lstStyle/>
                    <a:p>
                      <a:pPr algn="l"/>
                      <a:r>
                        <a:rPr sz="1249" b="0">
                          <a:solidFill>
                            <a:srgbClr val="000F08"/>
                          </a:solidFill>
                          <a:latin typeface="Lora"/>
                        </a:rPr>
                        <a:t>/api for the dashboard, /gren/api for the run workbench, /api/events for live updates. Token gate on writes.</a:t>
                      </a:r>
                    </a:p>
                  </a:txBody>
                  <a:tcPr marL="88897" marR="88897" marT="50798" marB="38099" anchor="t">
                    <a:solidFill>
                      <a:srgbClr val="EFEBE9"/>
                    </a:solidFill>
                  </a:tcPr>
                </a:tc>
              </a:tr>
              <a:tr h="514337">
                <a:tc>
                  <a:txBody>
                    <a:bodyPr wrap="square"/>
                    <a:lstStyle/>
                    <a:p>
                      <a:pPr algn="l"/>
                      <a:r>
                        <a:rPr sz="1249" b="1">
                          <a:solidFill>
                            <a:srgbClr val="000F08"/>
                          </a:solidFill>
                          <a:latin typeface="Roboto Slab"/>
                        </a:rPr>
                        <a:t>Dashboard</a:t>
                      </a:r>
                    </a:p>
                  </a:txBody>
                  <a:tcPr marL="88897" marR="88897" marT="50798" marB="38099" anchor="t">
                    <a:solidFill>
                      <a:srgbClr val="FFFFFF"/>
                    </a:solidFill>
                  </a:tcPr>
                </a:tc>
                <a:tc>
                  <a:txBody>
                    <a:bodyPr wrap="square"/>
                    <a:lstStyle/>
                    <a:p>
                      <a:pPr algn="l"/>
                      <a:r>
                        <a:rPr sz="1249" b="0">
                          <a:solidFill>
                            <a:srgbClr val="000F08"/>
                          </a:solidFill>
                          <a:latin typeface="Lora"/>
                        </a:rPr>
                        <a:t>Vite, React, TypeScript</a:t>
                      </a:r>
                    </a:p>
                  </a:txBody>
                  <a:tcPr marL="88897" marR="88897" marT="50798" marB="38099" anchor="t">
                    <a:solidFill>
                      <a:srgbClr val="FFFFFF"/>
                    </a:solidFill>
                  </a:tcPr>
                </a:tc>
                <a:tc>
                  <a:txBody>
                    <a:bodyPr wrap="square"/>
                    <a:lstStyle/>
                    <a:p>
                      <a:pPr algn="l"/>
                      <a:r>
                        <a:rPr sz="1249" b="0">
                          <a:solidFill>
                            <a:srgbClr val="000F08"/>
                          </a:solidFill>
                          <a:latin typeface="Lora"/>
                        </a:rPr>
                        <a:t>Home, Decisions, Inventory, Activity, Settings, Agent flow. Dark, RTL, mobile. Three fonts, five brand colors.</a:t>
                      </a:r>
                    </a:p>
                  </a:txBody>
                  <a:tcPr marL="88897" marR="88897" marT="50798" marB="38099" anchor="t">
                    <a:solidFill>
                      <a:srgbClr val="FFFFFF"/>
                    </a:solidFill>
                  </a:tcPr>
                </a:tc>
              </a:tr>
              <a:tr h="514337">
                <a:tc>
                  <a:txBody>
                    <a:bodyPr wrap="square"/>
                    <a:lstStyle/>
                    <a:p>
                      <a:pPr algn="l"/>
                      <a:r>
                        <a:rPr sz="1249" b="1">
                          <a:solidFill>
                            <a:srgbClr val="000F08"/>
                          </a:solidFill>
                          <a:latin typeface="Roboto Slab"/>
                        </a:rPr>
                        <a:t>Live deployment</a:t>
                      </a:r>
                    </a:p>
                  </a:txBody>
                  <a:tcPr marL="88897" marR="88897" marT="50798" marB="38099" anchor="t">
                    <a:solidFill>
                      <a:srgbClr val="EFEBE9"/>
                    </a:solidFill>
                  </a:tcPr>
                </a:tc>
                <a:tc>
                  <a:txBody>
                    <a:bodyPr wrap="square"/>
                    <a:lstStyle/>
                    <a:p>
                      <a:pPr algn="l"/>
                      <a:r>
                        <a:rPr sz="1249" b="0">
                          <a:solidFill>
                            <a:srgbClr val="000F08"/>
                          </a:solidFill>
                          <a:latin typeface="Lora"/>
                        </a:rPr>
                        <a:t>EC2, Caddy, systemd, S3</a:t>
                      </a:r>
                    </a:p>
                  </a:txBody>
                  <a:tcPr marL="88897" marR="88897" marT="50798" marB="38099" anchor="t">
                    <a:solidFill>
                      <a:srgbClr val="EFEBE9"/>
                    </a:solidFill>
                  </a:tcPr>
                </a:tc>
                <a:tc>
                  <a:txBody>
                    <a:bodyPr wrap="square"/>
                    <a:lstStyle/>
                    <a:p>
                      <a:pPr algn="l"/>
                      <a:r>
                        <a:rPr sz="1249" b="0">
                          <a:solidFill>
                            <a:srgbClr val="000F08"/>
                          </a:solidFill>
                          <a:latin typeface="Lora"/>
                        </a:rPr>
                        <a:t>One instance with automatic HTTPS. A timer runs the sweep at 06:00 UTC. The store mirrors to the state bucket.</a:t>
                      </a:r>
                    </a:p>
                  </a:txBody>
                  <a:tcPr marL="88897" marR="88897" marT="50798" marB="38099" anchor="t">
                    <a:solidFill>
                      <a:srgbClr val="EFEBE9"/>
                    </a:solidFill>
                  </a:tcPr>
                </a:tc>
              </a:tr>
              <a:tr h="514337">
                <a:tc>
                  <a:txBody>
                    <a:bodyPr wrap="square"/>
                    <a:lstStyle/>
                    <a:p>
                      <a:pPr algn="l"/>
                      <a:r>
                        <a:rPr sz="1249" b="1">
                          <a:solidFill>
                            <a:srgbClr val="000F08"/>
                          </a:solidFill>
                          <a:latin typeface="Roboto Slab"/>
                        </a:rPr>
                        <a:t>AgentCore path</a:t>
                      </a:r>
                    </a:p>
                  </a:txBody>
                  <a:tcPr marL="88897" marR="88897" marT="50798" marB="38099" anchor="t">
                    <a:solidFill>
                      <a:srgbClr val="FFFFFF"/>
                    </a:solidFill>
                  </a:tcPr>
                </a:tc>
                <a:tc>
                  <a:txBody>
                    <a:bodyPr wrap="square"/>
                    <a:lstStyle/>
                    <a:p>
                      <a:pPr algn="l"/>
                      <a:r>
                        <a:rPr sz="1249" b="0">
                          <a:solidFill>
                            <a:srgbClr val="000F08"/>
                          </a:solidFill>
                          <a:latin typeface="Lora"/>
                        </a:rPr>
                        <a:t>Bedrock AgentCore Runtime</a:t>
                      </a:r>
                    </a:p>
                  </a:txBody>
                  <a:tcPr marL="88897" marR="88897" marT="50798" marB="38099" anchor="t">
                    <a:solidFill>
                      <a:srgbClr val="FFFFFF"/>
                    </a:solidFill>
                  </a:tcPr>
                </a:tc>
                <a:tc>
                  <a:txBody>
                    <a:bodyPr wrap="square"/>
                    <a:lstStyle/>
                    <a:p>
                      <a:pPr algn="l"/>
                      <a:r>
                        <a:rPr sz="1249" b="0">
                          <a:solidFill>
                            <a:srgbClr val="000F08"/>
                          </a:solidFill>
                          <a:latin typeface="Lora"/>
                        </a:rPr>
                        <a:t>BedrockAgentCoreApp entrypoint with invoke kinds sweep, answer, intake, status. Built and tested locally. Blocked by account quotas of 0.</a:t>
                      </a:r>
                    </a:p>
                  </a:txBody>
                  <a:tcPr marL="88897" marR="88897" marT="50798" marB="38099" anchor="t">
                    <a:solidFill>
                      <a:srgbClr val="FFFFFF"/>
                    </a:solidFill>
                  </a:tcPr>
                </a:tc>
              </a:tr>
            </a:tbl>
          </a:graphicData>
        </a:graphic>
      </p:graphicFrame>
      <p:sp>
        <p:nvSpPr>
          <p:cNvPr id="5" name="TextBox 4"/>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DATA FLOW · 1 OF 2</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One night, step by step: feeds to the verifier</a:t>
            </a:r>
          </a:p>
        </p:txBody>
      </p:sp>
      <p:graphicFrame>
        <p:nvGraphicFramePr>
          <p:cNvPr id="4" name="Table 3"/>
          <p:cNvGraphicFramePr>
            <a:graphicFrameLocks noGrp="1"/>
          </p:cNvGraphicFramePr>
          <p:nvPr/>
        </p:nvGraphicFramePr>
        <p:xfrm>
          <a:off x="698482" y="1777955"/>
          <a:ext cx="10794729" cy="3686081"/>
        </p:xfrm>
        <a:graphic>
          <a:graphicData uri="http://schemas.openxmlformats.org/drawingml/2006/table">
            <a:tbl>
              <a:tblPr firstRow="1">
                <a:tableStyleId>{5C22544A-7EE6-4342-B048-85BDC9FD1C3A}</a:tableStyleId>
              </a:tblPr>
              <a:tblGrid>
                <a:gridCol w="571485"/>
                <a:gridCol w="10223244"/>
              </a:tblGrid>
              <a:tr h="292092">
                <a:tc>
                  <a:txBody>
                    <a:bodyPr wrap="square"/>
                    <a:lstStyle/>
                    <a:p>
                      <a:pPr algn="l"/>
                      <a:r>
                        <a:rPr sz="1049" b="0">
                          <a:solidFill>
                            <a:srgbClr val="F7F4F3"/>
                          </a:solidFill>
                          <a:latin typeface="Habibi"/>
                        </a:rPr>
                        <a:t>STEP</a:t>
                      </a:r>
                    </a:p>
                  </a:txBody>
                  <a:tcPr marL="88897" marR="88897" marT="50798" marB="38099" anchor="t">
                    <a:solidFill>
                      <a:srgbClr val="000F08"/>
                    </a:solidFill>
                  </a:tcPr>
                </a:tc>
                <a:tc>
                  <a:txBody>
                    <a:bodyPr wrap="square"/>
                    <a:lstStyle/>
                    <a:p>
                      <a:pPr algn="l"/>
                      <a:r>
                        <a:rPr sz="1049" b="0">
                          <a:solidFill>
                            <a:srgbClr val="F7F4F3"/>
                          </a:solidFill>
                          <a:latin typeface="Habibi"/>
                        </a:rPr>
                        <a:t>DESCRIPTION</a:t>
                      </a:r>
                    </a:p>
                  </a:txBody>
                  <a:tcPr marL="88897" marR="88897" marT="50798" marB="38099" anchor="t">
                    <a:solidFill>
                      <a:srgbClr val="000F08"/>
                    </a:solidFill>
                  </a:tcPr>
                </a:tc>
              </a:tr>
              <a:tr h="514337">
                <a:tc>
                  <a:txBody>
                    <a:bodyPr wrap="square"/>
                    <a:lstStyle/>
                    <a:p>
                      <a:pPr algn="l"/>
                      <a:r>
                        <a:rPr sz="1249" b="0">
                          <a:solidFill>
                            <a:srgbClr val="000F08"/>
                          </a:solidFill>
                          <a:latin typeface="Lora"/>
                        </a:rPr>
                        <a:t>1</a:t>
                      </a:r>
                    </a:p>
                  </a:txBody>
                  <a:tcPr marL="88897" marR="88897" marT="50798" marB="38099" anchor="t">
                    <a:solidFill>
                      <a:srgbClr val="FFFFFF"/>
                    </a:solidFill>
                  </a:tcPr>
                </a:tc>
                <a:tc>
                  <a:txBody>
                    <a:bodyPr wrap="square"/>
                    <a:lstStyle/>
                    <a:p>
                      <a:pPr algn="l"/>
                      <a:r>
                        <a:rPr sz="1249" b="0">
                          <a:solidFill>
                            <a:srgbClr val="000F08"/>
                          </a:solidFill>
                          <a:latin typeface="Lora"/>
                        </a:rPr>
                        <a:t>The systemd timer posts /api/sweep at 06:00 UTC. The service checks the daily budget and starts the nightly-sweep graph with the window and the trigger.</a:t>
                      </a:r>
                    </a:p>
                  </a:txBody>
                  <a:tcPr marL="88897" marR="88897" marT="50798" marB="38099" anchor="t">
                    <a:solidFill>
                      <a:srgbClr val="FFFFFF"/>
                    </a:solidFill>
                  </a:tcPr>
                </a:tc>
              </a:tr>
              <a:tr h="514337">
                <a:tc>
                  <a:txBody>
                    <a:bodyPr wrap="square"/>
                    <a:lstStyle/>
                    <a:p>
                      <a:pPr algn="l"/>
                      <a:r>
                        <a:rPr sz="1249" b="0">
                          <a:solidFill>
                            <a:srgbClr val="000F08"/>
                          </a:solidFill>
                          <a:latin typeface="Lora"/>
                        </a:rPr>
                        <a:t>2</a:t>
                      </a:r>
                    </a:p>
                  </a:txBody>
                  <a:tcPr marL="88897" marR="88897" marT="50798" marB="38099" anchor="t">
                    <a:solidFill>
                      <a:srgbClr val="EFEBE9"/>
                    </a:solidFill>
                  </a:tcPr>
                </a:tc>
                <a:tc>
                  <a:txBody>
                    <a:bodyPr wrap="square"/>
                    <a:lstStyle/>
                    <a:p>
                      <a:pPr algn="l"/>
                      <a:r>
                        <a:rPr sz="1249" b="0">
                          <a:solidFill>
                            <a:srgbClr val="000F08"/>
                          </a:solidFill>
                          <a:latin typeface="Lora"/>
                        </a:rPr>
                        <a:t>feeds_refresh pulls the new records from CPSC, NHTSA (one query for each vehicle), and openFDA. It normalizes them into RecallRecord rows. expiry_scan reads the warranty windows and the notification budget.</a:t>
                      </a:r>
                    </a:p>
                  </a:txBody>
                  <a:tcPr marL="88897" marR="88897" marT="50798" marB="38099" anchor="t">
                    <a:solidFill>
                      <a:srgbClr val="EFEBE9"/>
                    </a:solidFill>
                  </a:tcPr>
                </a:tc>
              </a:tr>
              <a:tr h="514337">
                <a:tc>
                  <a:txBody>
                    <a:bodyPr wrap="square"/>
                    <a:lstStyle/>
                    <a:p>
                      <a:pPr algn="l"/>
                      <a:r>
                        <a:rPr sz="1249" b="0">
                          <a:solidFill>
                            <a:srgbClr val="000F08"/>
                          </a:solidFill>
                          <a:latin typeface="Lora"/>
                        </a:rPr>
                        <a:t>3</a:t>
                      </a:r>
                    </a:p>
                  </a:txBody>
                  <a:tcPr marL="88897" marR="88897" marT="50798" marB="38099" anchor="t">
                    <a:solidFill>
                      <a:srgbClr val="FFFFFF"/>
                    </a:solidFill>
                  </a:tcPr>
                </a:tc>
                <a:tc>
                  <a:txBody>
                    <a:bodyPr wrap="square"/>
                    <a:lstStyle/>
                    <a:p>
                      <a:pPr algn="l"/>
                      <a:r>
                        <a:rPr sz="1249" b="0">
                          <a:solidFill>
                            <a:srgbClr val="000F08"/>
                          </a:solidFill>
                          <a:latin typeface="Lora"/>
                        </a:rPr>
                        <a:t>candidate_gen compares every item with every recall in code: exact keys, lexical similarity with brand overlap, and the sold window. It emits certain matches and candidate pairs.</a:t>
                      </a:r>
                    </a:p>
                  </a:txBody>
                  <a:tcPr marL="88897" marR="88897" marT="50798" marB="38099" anchor="t">
                    <a:solidFill>
                      <a:srgbClr val="FFFFFF"/>
                    </a:solidFill>
                  </a:tcPr>
                </a:tc>
              </a:tr>
              <a:tr h="514337">
                <a:tc>
                  <a:txBody>
                    <a:bodyPr wrap="square"/>
                    <a:lstStyle/>
                    <a:p>
                      <a:pPr algn="l"/>
                      <a:r>
                        <a:rPr sz="1249" b="0">
                          <a:solidFill>
                            <a:srgbClr val="000F08"/>
                          </a:solidFill>
                          <a:latin typeface="Lora"/>
                        </a:rPr>
                        <a:t>4</a:t>
                      </a:r>
                    </a:p>
                  </a:txBody>
                  <a:tcPr marL="88897" marR="88897" marT="50798" marB="38099" anchor="t">
                    <a:solidFill>
                      <a:srgbClr val="EFEBE9"/>
                    </a:solidFill>
                  </a:tcPr>
                </a:tc>
                <a:tc>
                  <a:txBody>
                    <a:bodyPr wrap="square"/>
                    <a:lstStyle/>
                    <a:p>
                      <a:pPr algn="l"/>
                      <a:r>
                        <a:rPr sz="1249" b="0">
                          <a:solidFill>
                            <a:srgbClr val="000F08"/>
                          </a:solidFill>
                          <a:latin typeface="Lora"/>
                        </a:rPr>
                        <a:t>matcher (agent, map) adjudicates each candidate pair with a MatchVerdict. warranty (agent, map) writes the check-in questions for the windows that end soon.</a:t>
                      </a:r>
                    </a:p>
                  </a:txBody>
                  <a:tcPr marL="88897" marR="88897" marT="50798" marB="38099" anchor="t">
                    <a:solidFill>
                      <a:srgbClr val="EFEBE9"/>
                    </a:solidFill>
                  </a:tcPr>
                </a:tc>
              </a:tr>
              <a:tr h="307967">
                <a:tc>
                  <a:txBody>
                    <a:bodyPr wrap="square"/>
                    <a:lstStyle/>
                    <a:p>
                      <a:pPr algn="l"/>
                      <a:r>
                        <a:rPr sz="1249" b="0">
                          <a:solidFill>
                            <a:srgbClr val="000F08"/>
                          </a:solidFill>
                          <a:latin typeface="Lora"/>
                        </a:rPr>
                        <a:t>5</a:t>
                      </a:r>
                    </a:p>
                  </a:txBody>
                  <a:tcPr marL="88897" marR="88897" marT="50798" marB="38099" anchor="t">
                    <a:solidFill>
                      <a:srgbClr val="FFFFFF"/>
                    </a:solidFill>
                  </a:tcPr>
                </a:tc>
                <a:tc>
                  <a:txBody>
                    <a:bodyPr wrap="square"/>
                    <a:lstStyle/>
                    <a:p>
                      <a:pPr algn="l"/>
                      <a:r>
                        <a:rPr sz="1249" b="0">
                          <a:solidFill>
                            <a:srgbClr val="000F08"/>
                          </a:solidFill>
                          <a:latin typeface="Lora"/>
                        </a:rPr>
                        <a:t>verdicts merges the certain matches, the verdicts, and the questions into one list.</a:t>
                      </a:r>
                    </a:p>
                  </a:txBody>
                  <a:tcPr marL="88897" marR="88897" marT="50798" marB="38099" anchor="t">
                    <a:solidFill>
                      <a:srgbClr val="FFFFFF"/>
                    </a:solidFill>
                  </a:tcPr>
                </a:tc>
              </a:tr>
              <a:tr h="514337">
                <a:tc>
                  <a:txBody>
                    <a:bodyPr wrap="square"/>
                    <a:lstStyle/>
                    <a:p>
                      <a:pPr algn="l"/>
                      <a:r>
                        <a:rPr sz="1249" b="0">
                          <a:solidFill>
                            <a:srgbClr val="000F08"/>
                          </a:solidFill>
                          <a:latin typeface="Lora"/>
                        </a:rPr>
                        <a:t>6</a:t>
                      </a:r>
                    </a:p>
                  </a:txBody>
                  <a:tcPr marL="88897" marR="88897" marT="50798" marB="38099" anchor="t">
                    <a:solidFill>
                      <a:srgbClr val="EFEBE9"/>
                    </a:solidFill>
                  </a:tcPr>
                </a:tc>
                <a:tc>
                  <a:txBody>
                    <a:bodyPr wrap="square"/>
                    <a:lstStyle/>
                    <a:p>
                      <a:pPr algn="l"/>
                      <a:r>
                        <a:rPr sz="1249" b="0">
                          <a:solidFill>
                            <a:srgbClr val="000F08"/>
                          </a:solidFill>
                          <a:latin typeface="Lora"/>
                        </a:rPr>
                        <a:t>triage (agent) applies the severity rules and the budget. It returns a SurfacePlan: the channel, the severity, the decisions, and the SMS text.</a:t>
                      </a:r>
                    </a:p>
                  </a:txBody>
                  <a:tcPr marL="88897" marR="88897" marT="50798" marB="38099" anchor="t">
                    <a:solidFill>
                      <a:srgbClr val="EFEBE9"/>
                    </a:solidFill>
                  </a:tcPr>
                </a:tc>
              </a:tr>
              <a:tr h="514337">
                <a:tc>
                  <a:txBody>
                    <a:bodyPr wrap="square"/>
                    <a:lstStyle/>
                    <a:p>
                      <a:pPr algn="l"/>
                      <a:r>
                        <a:rPr sz="1249" b="0">
                          <a:solidFill>
                            <a:srgbClr val="000F08"/>
                          </a:solidFill>
                          <a:latin typeface="Lora"/>
                        </a:rPr>
                        <a:t>7</a:t>
                      </a:r>
                    </a:p>
                  </a:txBody>
                  <a:tcPr marL="88897" marR="88897" marT="50798" marB="38099" anchor="t">
                    <a:solidFill>
                      <a:srgbClr val="FFFFFF"/>
                    </a:solidFill>
                  </a:tcPr>
                </a:tc>
                <a:tc>
                  <a:txBody>
                    <a:bodyPr wrap="square"/>
                    <a:lstStyle/>
                    <a:p>
                      <a:pPr algn="l"/>
                      <a:r>
                        <a:rPr sz="1249" b="0">
                          <a:solidFill>
                            <a:srgbClr val="000F08"/>
                          </a:solidFill>
                          <a:latin typeface="Lora"/>
                        </a:rPr>
                        <a:t>severity_check (verify) compares the plan with the deterministic severity pass. A rejection sends triage back one time with the reasons.</a:t>
                      </a:r>
                    </a:p>
                  </a:txBody>
                  <a:tcPr marL="88897" marR="88897" marT="50798" marB="38099" anchor="t">
                    <a:solidFill>
                      <a:srgbClr val="FFFFFF"/>
                    </a:solidFill>
                  </a:tcPr>
                </a:tc>
              </a:tr>
            </a:tbl>
          </a:graphicData>
        </a:graphic>
      </p:graphicFrame>
      <p:sp>
        <p:nvSpPr>
          <p:cNvPr id="5" name="TextBox 4"/>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DATA FLOW · 2 OF 2</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One night, step by step: the gate to the follow-up</a:t>
            </a:r>
          </a:p>
        </p:txBody>
      </p:sp>
      <p:graphicFrame>
        <p:nvGraphicFramePr>
          <p:cNvPr id="4" name="Table 3"/>
          <p:cNvGraphicFramePr>
            <a:graphicFrameLocks noGrp="1"/>
          </p:cNvGraphicFramePr>
          <p:nvPr/>
        </p:nvGraphicFramePr>
        <p:xfrm>
          <a:off x="698482" y="1777955"/>
          <a:ext cx="10794729" cy="3171744"/>
        </p:xfrm>
        <a:graphic>
          <a:graphicData uri="http://schemas.openxmlformats.org/drawingml/2006/table">
            <a:tbl>
              <a:tblPr firstRow="1">
                <a:tableStyleId>{5C22544A-7EE6-4342-B048-85BDC9FD1C3A}</a:tableStyleId>
              </a:tblPr>
              <a:tblGrid>
                <a:gridCol w="571485"/>
                <a:gridCol w="10223244"/>
              </a:tblGrid>
              <a:tr h="292092">
                <a:tc>
                  <a:txBody>
                    <a:bodyPr wrap="square"/>
                    <a:lstStyle/>
                    <a:p>
                      <a:pPr algn="l"/>
                      <a:r>
                        <a:rPr sz="1049" b="0">
                          <a:solidFill>
                            <a:srgbClr val="F7F4F3"/>
                          </a:solidFill>
                          <a:latin typeface="Habibi"/>
                        </a:rPr>
                        <a:t>STEP</a:t>
                      </a:r>
                    </a:p>
                  </a:txBody>
                  <a:tcPr marL="88897" marR="88897" marT="50798" marB="38099" anchor="t">
                    <a:solidFill>
                      <a:srgbClr val="000F08"/>
                    </a:solidFill>
                  </a:tcPr>
                </a:tc>
                <a:tc>
                  <a:txBody>
                    <a:bodyPr wrap="square"/>
                    <a:lstStyle/>
                    <a:p>
                      <a:pPr algn="l"/>
                      <a:r>
                        <a:rPr sz="1049" b="0">
                          <a:solidFill>
                            <a:srgbClr val="F7F4F3"/>
                          </a:solidFill>
                          <a:latin typeface="Habibi"/>
                        </a:rPr>
                        <a:t>DESCRIPTION</a:t>
                      </a:r>
                    </a:p>
                  </a:txBody>
                  <a:tcPr marL="88897" marR="88897" marT="50798" marB="38099" anchor="t">
                    <a:solidFill>
                      <a:srgbClr val="000F08"/>
                    </a:solidFill>
                  </a:tcPr>
                </a:tc>
              </a:tr>
              <a:tr h="514337">
                <a:tc>
                  <a:txBody>
                    <a:bodyPr wrap="square"/>
                    <a:lstStyle/>
                    <a:p>
                      <a:pPr algn="l"/>
                      <a:r>
                        <a:rPr sz="1249" b="0">
                          <a:solidFill>
                            <a:srgbClr val="000F08"/>
                          </a:solidFill>
                          <a:latin typeface="Lora"/>
                        </a:rPr>
                        <a:t>8</a:t>
                      </a:r>
                    </a:p>
                  </a:txBody>
                  <a:tcPr marL="88897" marR="88897" marT="50798" marB="38099" anchor="t">
                    <a:solidFill>
                      <a:srgbClr val="FFFFFF"/>
                    </a:solidFill>
                  </a:tcPr>
                </a:tc>
                <a:tc>
                  <a:txBody>
                    <a:bodyPr wrap="square"/>
                    <a:lstStyle/>
                    <a:p>
                      <a:pPr algn="l"/>
                      <a:r>
                        <a:rPr sz="1249" b="0">
                          <a:solidFill>
                            <a:srgbClr val="000F08"/>
                          </a:solidFill>
                          <a:latin typeface="Lora"/>
                        </a:rPr>
                        <a:t>The plan routes to household_decision when the channel is sms_now. Otherwise digest records the standard hazards for the weekly digest and the run completes.</a:t>
                      </a:r>
                    </a:p>
                  </a:txBody>
                  <a:tcPr marL="88897" marR="88897" marT="50798" marB="38099" anchor="t">
                    <a:solidFill>
                      <a:srgbClr val="FFFFFF"/>
                    </a:solidFill>
                  </a:tcPr>
                </a:tc>
              </a:tr>
              <a:tr h="514337">
                <a:tc>
                  <a:txBody>
                    <a:bodyPr wrap="square"/>
                    <a:lstStyle/>
                    <a:p>
                      <a:pPr algn="l"/>
                      <a:r>
                        <a:rPr sz="1249" b="0">
                          <a:solidFill>
                            <a:srgbClr val="000F08"/>
                          </a:solidFill>
                          <a:latin typeface="Lora"/>
                        </a:rPr>
                        <a:t>9</a:t>
                      </a:r>
                    </a:p>
                  </a:txBody>
                  <a:tcPr marL="88897" marR="88897" marT="50798" marB="38099" anchor="t">
                    <a:solidFill>
                      <a:srgbClr val="EFEBE9"/>
                    </a:solidFill>
                  </a:tcPr>
                </a:tc>
                <a:tc>
                  <a:txBody>
                    <a:bodyPr wrap="square"/>
                    <a:lstStyle/>
                    <a:p>
                      <a:pPr algn="l"/>
                      <a:r>
                        <a:rPr sz="1249" b="0">
                          <a:solidFill>
                            <a:srgbClr val="000F08"/>
                          </a:solidFill>
                          <a:latin typeface="Lora"/>
                        </a:rPr>
                        <a:t>The gate raises a Strands interrupt. The run pauses on disk. The service writes one Decision row for each item, sends the SMS, and marks the match as surfaced.</a:t>
                      </a:r>
                    </a:p>
                  </a:txBody>
                  <a:tcPr marL="88897" marR="88897" marT="50798" marB="38099" anchor="t">
                    <a:solidFill>
                      <a:srgbClr val="EFEBE9"/>
                    </a:solidFill>
                  </a:tcPr>
                </a:tc>
              </a:tr>
              <a:tr h="514337">
                <a:tc>
                  <a:txBody>
                    <a:bodyPr wrap="square"/>
                    <a:lstStyle/>
                    <a:p>
                      <a:pPr algn="l"/>
                      <a:r>
                        <a:rPr sz="1249" b="0">
                          <a:solidFill>
                            <a:srgbClr val="000F08"/>
                          </a:solidFill>
                          <a:latin typeface="Lora"/>
                        </a:rPr>
                        <a:t>10</a:t>
                      </a:r>
                    </a:p>
                  </a:txBody>
                  <a:tcPr marL="88897" marR="88897" marT="50798" marB="38099" anchor="t">
                    <a:solidFill>
                      <a:srgbClr val="FFFFFF"/>
                    </a:solidFill>
                  </a:tcPr>
                </a:tc>
                <a:tc>
                  <a:txBody>
                    <a:bodyPr wrap="square"/>
                    <a:lstStyle/>
                    <a:p>
                      <a:pPr algn="l"/>
                      <a:r>
                        <a:rPr sz="1249" b="0">
                          <a:solidFill>
                            <a:srgbClr val="000F08"/>
                          </a:solidFill>
                          <a:latin typeface="Lora"/>
                        </a:rPr>
                        <a:t>The household answers by the SMS link, the dashboard, or the CLI. The service records the answer. On the first approval, it writes the gate approval with all answers as JSON and resumes the run.</a:t>
                      </a:r>
                    </a:p>
                  </a:txBody>
                  <a:tcPr marL="88897" marR="88897" marT="50798" marB="38099" anchor="t">
                    <a:solidFill>
                      <a:srgbClr val="FFFFFF"/>
                    </a:solidFill>
                  </a:tcPr>
                </a:tc>
              </a:tr>
              <a:tr h="307967">
                <a:tc>
                  <a:txBody>
                    <a:bodyPr wrap="square"/>
                    <a:lstStyle/>
                    <a:p>
                      <a:pPr algn="l"/>
                      <a:r>
                        <a:rPr sz="1249" b="0">
                          <a:solidFill>
                            <a:srgbClr val="000F08"/>
                          </a:solidFill>
                          <a:latin typeface="Lora"/>
                        </a:rPr>
                        <a:t>11</a:t>
                      </a:r>
                    </a:p>
                  </a:txBody>
                  <a:tcPr marL="88897" marR="88897" marT="50798" marB="38099" anchor="t">
                    <a:solidFill>
                      <a:srgbClr val="EFEBE9"/>
                    </a:solidFill>
                  </a:tcPr>
                </a:tc>
                <a:tc>
                  <a:txBody>
                    <a:bodyPr wrap="square"/>
                    <a:lstStyle/>
                    <a:p>
                      <a:pPr algn="l"/>
                      <a:r>
                        <a:rPr sz="1249" b="0">
                          <a:solidFill>
                            <a:srgbClr val="000F08"/>
                          </a:solidFill>
                          <a:latin typeface="Lora"/>
                        </a:rPr>
                        <a:t>answers turns the approval into the list of approved decisions. remedy (agent, map) writes an ActionReport for each one.</a:t>
                      </a:r>
                    </a:p>
                  </a:txBody>
                  <a:tcPr marL="88897" marR="88897" marT="50798" marB="38099" anchor="t">
                    <a:solidFill>
                      <a:srgbClr val="EFEBE9"/>
                    </a:solidFill>
                  </a:tcPr>
                </a:tc>
              </a:tr>
              <a:tr h="514337">
                <a:tc>
                  <a:txBody>
                    <a:bodyPr wrap="square"/>
                    <a:lstStyle/>
                    <a:p>
                      <a:pPr algn="l"/>
                      <a:r>
                        <a:rPr sz="1249" b="0">
                          <a:solidFill>
                            <a:srgbClr val="000F08"/>
                          </a:solidFill>
                          <a:latin typeface="Lora"/>
                        </a:rPr>
                        <a:t>12</a:t>
                      </a:r>
                    </a:p>
                  </a:txBody>
                  <a:tcPr marL="88897" marR="88897" marT="50798" marB="38099" anchor="t">
                    <a:solidFill>
                      <a:srgbClr val="FFFFFF"/>
                    </a:solidFill>
                  </a:tcPr>
                </a:tc>
                <a:tc>
                  <a:txBody>
                    <a:bodyPr wrap="square"/>
                    <a:lstStyle/>
                    <a:p>
                      <a:pPr algn="l"/>
                      <a:r>
                        <a:rPr sz="1249" b="0">
                          <a:solidFill>
                            <a:srgbClr val="000F08"/>
                          </a:solidFill>
                          <a:latin typeface="Lora"/>
                        </a:rPr>
                        <a:t>followup sends each request one time (SES or outbox), records the action, closes the match, and schedules the follow-up after 10 business days.</a:t>
                      </a:r>
                    </a:p>
                  </a:txBody>
                  <a:tcPr marL="88897" marR="88897" marT="50798" marB="38099" anchor="t">
                    <a:solidFill>
                      <a:srgbClr val="FFFFFF"/>
                    </a:solidFill>
                  </a:tcPr>
                </a:tc>
              </a:tr>
              <a:tr h="514337">
                <a:tc>
                  <a:txBody>
                    <a:bodyPr wrap="square"/>
                    <a:lstStyle/>
                    <a:p>
                      <a:pPr algn="l"/>
                      <a:r>
                        <a:rPr sz="1249" b="0">
                          <a:solidFill>
                            <a:srgbClr val="000F08"/>
                          </a:solidFill>
                          <a:latin typeface="Lora"/>
                        </a:rPr>
                        <a:t>13</a:t>
                      </a:r>
                    </a:p>
                  </a:txBody>
                  <a:tcPr marL="88897" marR="88897" marT="50798" marB="38099" anchor="t">
                    <a:solidFill>
                      <a:srgbClr val="EFEBE9"/>
                    </a:solidFill>
                  </a:tcPr>
                </a:tc>
                <a:tc>
                  <a:txBody>
                    <a:bodyPr wrap="square"/>
                    <a:lstStyle/>
                    <a:p>
                      <a:pPr algn="l"/>
                      <a:r>
                        <a:rPr sz="1249" b="0">
                          <a:solidFill>
                            <a:srgbClr val="000F08"/>
                          </a:solidFill>
                          <a:latin typeface="Lora"/>
                        </a:rPr>
                        <a:t>Every event goes to events.jsonl and to /api/events. The dashboard updates over SSE. The store mirrors to S3 after each change.</a:t>
                      </a:r>
                    </a:p>
                  </a:txBody>
                  <a:tcPr marL="88897" marR="88897" marT="50798" marB="38099" anchor="t">
                    <a:solidFill>
                      <a:srgbClr val="EFEBE9"/>
                    </a:solidFill>
                  </a:tcPr>
                </a:tc>
              </a:tr>
            </a:tbl>
          </a:graphicData>
        </a:graphic>
      </p:graphicFrame>
      <p:sp>
        <p:nvSpPr>
          <p:cNvPr id="5" name="TextBox 4"/>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DATA AND STATE</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Three stores, one bucket</a:t>
            </a:r>
          </a:p>
        </p:txBody>
      </p:sp>
      <p:cxnSp>
        <p:nvCxnSpPr>
          <p:cNvPr id="4" name="Connector 3"/>
          <p:cNvCxnSpPr/>
          <p:nvPr/>
        </p:nvCxnSpPr>
        <p:spPr>
          <a:xfrm>
            <a:off x="698482"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8482"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HOUSEHOLD STORE</a:t>
            </a:r>
          </a:p>
        </p:txBody>
      </p:sp>
      <p:sp>
        <p:nvSpPr>
          <p:cNvPr id="6" name="Rectangle 5"/>
          <p:cNvSpPr/>
          <p:nvPr/>
        </p:nvSpPr>
        <p:spPr>
          <a:xfrm>
            <a:off x="698482"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8977" y="2387540"/>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items: brand, model, UPC, purchase date, retailer, price, warranty term, VIN.</a:t>
            </a:r>
          </a:p>
        </p:txBody>
      </p:sp>
      <p:sp>
        <p:nvSpPr>
          <p:cNvPr id="8" name="Rectangle 7"/>
          <p:cNvSpPr/>
          <p:nvPr/>
        </p:nvSpPr>
        <p:spPr>
          <a:xfrm>
            <a:off x="698482" y="316050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080180"/>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recalls: normalized records from the three feeds, with the severity pass.</a:t>
            </a:r>
          </a:p>
        </p:txBody>
      </p:sp>
      <p:sp>
        <p:nvSpPr>
          <p:cNvPr id="10" name="Rectangle 9"/>
          <p:cNvSpPr/>
          <p:nvPr/>
        </p:nvSpPr>
        <p:spPr>
          <a:xfrm>
            <a:off x="698482" y="36603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977" y="3580040"/>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matches: item, recall, stage, score, verdict, state (candidate, confirmed, surfaced, closed).</a:t>
            </a:r>
          </a:p>
        </p:txBody>
      </p:sp>
      <p:sp>
        <p:nvSpPr>
          <p:cNvPr id="12" name="Rectangle 11"/>
          <p:cNvSpPr/>
          <p:nvPr/>
        </p:nvSpPr>
        <p:spPr>
          <a:xfrm>
            <a:off x="698482" y="435300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977" y="4272681"/>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decisions: headline, facts, options, state, answer, outcome, run id.</a:t>
            </a:r>
          </a:p>
        </p:txBody>
      </p:sp>
      <p:sp>
        <p:nvSpPr>
          <p:cNvPr id="14" name="Rectangle 13"/>
          <p:cNvSpPr/>
          <p:nvPr/>
        </p:nvSpPr>
        <p:spPr>
          <a:xfrm>
            <a:off x="698482" y="485286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977" y="4772540"/>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activity, sweeps, outbox, prefs, household.</a:t>
            </a:r>
          </a:p>
        </p:txBody>
      </p:sp>
      <p:cxnSp>
        <p:nvCxnSpPr>
          <p:cNvPr id="16" name="Connector 15"/>
          <p:cNvCxnSpPr/>
          <p:nvPr/>
        </p:nvCxnSpPr>
        <p:spPr>
          <a:xfrm>
            <a:off x="4398323"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98323"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RUN STORE (GREN)</a:t>
            </a:r>
          </a:p>
        </p:txBody>
      </p:sp>
      <p:sp>
        <p:nvSpPr>
          <p:cNvPr id="18" name="Rectangle 17"/>
          <p:cNvSpPr/>
          <p:nvPr/>
        </p:nvSpPr>
        <p:spPr>
          <a:xfrm>
            <a:off x="4398323"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8818" y="2387540"/>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state.json: the run, its input, the status of each node, totals, approvals.</a:t>
            </a:r>
          </a:p>
        </p:txBody>
      </p:sp>
      <p:sp>
        <p:nvSpPr>
          <p:cNvPr id="20" name="Rectangle 19"/>
          <p:cNvSpPr/>
          <p:nvPr/>
        </p:nvSpPr>
        <p:spPr>
          <a:xfrm>
            <a:off x="4398323" y="316050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8818" y="3080180"/>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events.jsonl: the trace. The dashboard streams it.</a:t>
            </a:r>
          </a:p>
        </p:txBody>
      </p:sp>
      <p:sp>
        <p:nvSpPr>
          <p:cNvPr id="22" name="Rectangle 21"/>
          <p:cNvSpPr/>
          <p:nvPr/>
        </p:nvSpPr>
        <p:spPr>
          <a:xfrm>
            <a:off x="4398323" y="36603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88818" y="3580040"/>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artifacts/: the prompt, the schema, the raw output, usage, and cost of every model call.</a:t>
            </a:r>
          </a:p>
        </p:txBody>
      </p:sp>
      <p:sp>
        <p:nvSpPr>
          <p:cNvPr id="24" name="Rectangle 23"/>
          <p:cNvSpPr/>
          <p:nvPr/>
        </p:nvSpPr>
        <p:spPr>
          <a:xfrm>
            <a:off x="4398323" y="435300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88818" y="4272681"/>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tasks/ and approvals/: the gate records that resume a paused run.</a:t>
            </a:r>
          </a:p>
        </p:txBody>
      </p:sp>
      <p:cxnSp>
        <p:nvCxnSpPr>
          <p:cNvPr id="26" name="Connector 25"/>
          <p:cNvCxnSpPr/>
          <p:nvPr/>
        </p:nvCxnSpPr>
        <p:spPr>
          <a:xfrm>
            <a:off x="8098164"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098164"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SYNC AND CONFIG</a:t>
            </a:r>
          </a:p>
        </p:txBody>
      </p:sp>
      <p:sp>
        <p:nvSpPr>
          <p:cNvPr id="28" name="Rectangle 27"/>
          <p:cNvSpPr/>
          <p:nvPr/>
        </p:nvSpPr>
        <p:spPr>
          <a:xfrm>
            <a:off x="8098164"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88659" y="2387540"/>
            <a:ext cx="3204553" cy="771124"/>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GUARDIAN_STATE_SYNC=1 mirrors both stores to the S3 state bucket after each change. A replaced instance pulls them at start.</a:t>
            </a:r>
          </a:p>
        </p:txBody>
      </p:sp>
      <p:sp>
        <p:nvSpPr>
          <p:cNvPr id="30" name="Rectangle 29"/>
          <p:cNvSpPr/>
          <p:nvPr/>
        </p:nvSpPr>
        <p:spPr>
          <a:xfrm>
            <a:off x="8098164" y="3353287"/>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88659" y="3272962"/>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config/env in the bucket holds the runtime environment of the server.</a:t>
            </a:r>
          </a:p>
        </p:txBody>
      </p:sp>
      <p:sp>
        <p:nvSpPr>
          <p:cNvPr id="32" name="Rectangle 31"/>
          <p:cNvSpPr/>
          <p:nvPr/>
        </p:nvSpPr>
        <p:spPr>
          <a:xfrm>
            <a:off x="8098164" y="3853147"/>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88659" y="3772821"/>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The JSON store follows the single-table DynamoDB design of the plan. A move to DynamoDB is a driver change.</a:t>
            </a:r>
          </a:p>
        </p:txBody>
      </p:sp>
      <p:sp>
        <p:nvSpPr>
          <p:cNvPr id="34" name="TextBox 33"/>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FCBA04"/>
                </a:solidFill>
                <a:latin typeface="Habibi"/>
              </a:rPr>
              <a:t>THE HUMAN GATE</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F7F4F3"/>
                </a:solidFill>
                <a:latin typeface="Roboto Slab"/>
              </a:rPr>
              <a:t>One interrupt, durable on disk</a:t>
            </a:r>
          </a:p>
        </p:txBody>
      </p:sp>
      <p:sp>
        <p:nvSpPr>
          <p:cNvPr id="4" name="Rounded Rectangle 3"/>
          <p:cNvSpPr/>
          <p:nvPr/>
        </p:nvSpPr>
        <p:spPr>
          <a:xfrm>
            <a:off x="698482" y="1841453"/>
            <a:ext cx="1955751" cy="1904952"/>
          </a:xfrm>
          <a:prstGeom prst="roundRect">
            <a:avLst>
              <a:gd name="adj" fmla="val 3999"/>
            </a:avLst>
          </a:prstGeom>
          <a:solidFill>
            <a:srgbClr val="131F18"/>
          </a:solidFill>
          <a:ln w="15875">
            <a:solidFill>
              <a:srgbClr val="FCBA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5479" y="1955751"/>
            <a:ext cx="1701757" cy="215894"/>
          </a:xfrm>
          <a:prstGeom prst="rect">
            <a:avLst/>
          </a:prstGeom>
          <a:noFill/>
        </p:spPr>
        <p:txBody>
          <a:bodyPr wrap="square" lIns="0" rIns="0" tIns="0" bIns="0" anchor="t">
            <a:spAutoFit/>
          </a:bodyPr>
          <a:lstStyle/>
          <a:p>
            <a:pPr algn="l"/>
            <a:r>
              <a:rPr sz="1299" b="1" i="0">
                <a:solidFill>
                  <a:srgbClr val="FCBA04"/>
                </a:solidFill>
                <a:latin typeface="Roboto Slab"/>
              </a:rPr>
              <a:t>1</a:t>
            </a:r>
          </a:p>
        </p:txBody>
      </p:sp>
      <p:sp>
        <p:nvSpPr>
          <p:cNvPr id="6" name="TextBox 5"/>
          <p:cNvSpPr txBox="1"/>
          <p:nvPr/>
        </p:nvSpPr>
        <p:spPr>
          <a:xfrm>
            <a:off x="825479" y="2197045"/>
            <a:ext cx="1701757" cy="228594"/>
          </a:xfrm>
          <a:prstGeom prst="rect">
            <a:avLst/>
          </a:prstGeom>
          <a:noFill/>
        </p:spPr>
        <p:txBody>
          <a:bodyPr wrap="square" lIns="0" rIns="0" tIns="0" bIns="0" anchor="t">
            <a:spAutoFit/>
          </a:bodyPr>
          <a:lstStyle/>
          <a:p>
            <a:pPr algn="l"/>
            <a:r>
              <a:rPr sz="1299" b="1" i="0">
                <a:solidFill>
                  <a:srgbClr val="FCBA04"/>
                </a:solidFill>
                <a:latin typeface="Roboto Slab"/>
              </a:rPr>
              <a:t>gate.waiting</a:t>
            </a:r>
          </a:p>
        </p:txBody>
      </p:sp>
      <p:sp>
        <p:nvSpPr>
          <p:cNvPr id="7" name="TextBox 6"/>
          <p:cNvSpPr txBox="1"/>
          <p:nvPr/>
        </p:nvSpPr>
        <p:spPr>
          <a:xfrm>
            <a:off x="825479" y="2476438"/>
            <a:ext cx="1701757" cy="1168370"/>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The graph raises a Strands interrupt at household_decision. The run status is paused.</a:t>
            </a:r>
          </a:p>
        </p:txBody>
      </p:sp>
      <p:cxnSp>
        <p:nvCxnSpPr>
          <p:cNvPr id="8" name="Connector 7"/>
          <p:cNvCxnSpPr/>
          <p:nvPr/>
        </p:nvCxnSpPr>
        <p:spPr>
          <a:xfrm>
            <a:off x="2679633" y="2793930"/>
            <a:ext cx="126996" cy="0"/>
          </a:xfrm>
          <a:prstGeom prst="line">
            <a:avLst/>
          </a:prstGeom>
          <a:ln w="25400">
            <a:solidFill>
              <a:srgbClr val="FCBA04"/>
            </a:solidFill>
            <a:prstDash val="dash"/>
          </a:ln>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5400000">
            <a:off x="2806629" y="2749481"/>
            <a:ext cx="76198" cy="88897"/>
          </a:xfrm>
          <a:prstGeom prst="triangle">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08227" y="1841453"/>
            <a:ext cx="1955751" cy="1904952"/>
          </a:xfrm>
          <a:prstGeom prst="roundRect">
            <a:avLst>
              <a:gd name="adj" fmla="val 3999"/>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35224" y="1955751"/>
            <a:ext cx="1701757" cy="215894"/>
          </a:xfrm>
          <a:prstGeom prst="rect">
            <a:avLst/>
          </a:prstGeom>
          <a:noFill/>
        </p:spPr>
        <p:txBody>
          <a:bodyPr wrap="square" lIns="0" rIns="0" tIns="0" bIns="0" anchor="t">
            <a:spAutoFit/>
          </a:bodyPr>
          <a:lstStyle/>
          <a:p>
            <a:pPr algn="l"/>
            <a:r>
              <a:rPr sz="1299" b="1" i="0">
                <a:solidFill>
                  <a:srgbClr val="2274A5"/>
                </a:solidFill>
                <a:latin typeface="Roboto Slab"/>
              </a:rPr>
              <a:t>2</a:t>
            </a:r>
          </a:p>
        </p:txBody>
      </p:sp>
      <p:sp>
        <p:nvSpPr>
          <p:cNvPr id="12" name="TextBox 11"/>
          <p:cNvSpPr txBox="1"/>
          <p:nvPr/>
        </p:nvSpPr>
        <p:spPr>
          <a:xfrm>
            <a:off x="3035224" y="2197045"/>
            <a:ext cx="1701757" cy="228594"/>
          </a:xfrm>
          <a:prstGeom prst="rect">
            <a:avLst/>
          </a:prstGeom>
          <a:noFill/>
        </p:spPr>
        <p:txBody>
          <a:bodyPr wrap="square" lIns="0" rIns="0" tIns="0" bIns="0" anchor="t">
            <a:spAutoFit/>
          </a:bodyPr>
          <a:lstStyle/>
          <a:p>
            <a:pPr algn="l"/>
            <a:r>
              <a:rPr sz="1299" b="1" i="0">
                <a:solidFill>
                  <a:srgbClr val="F7F4F3"/>
                </a:solidFill>
                <a:latin typeface="Roboto Slab"/>
              </a:rPr>
              <a:t>Decision rows</a:t>
            </a:r>
          </a:p>
        </p:txBody>
      </p:sp>
      <p:sp>
        <p:nvSpPr>
          <p:cNvPr id="13" name="TextBox 12"/>
          <p:cNvSpPr txBox="1"/>
          <p:nvPr/>
        </p:nvSpPr>
        <p:spPr>
          <a:xfrm>
            <a:off x="3035224" y="2476438"/>
            <a:ext cx="1701757" cy="1168370"/>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The service writes one Decision for each surfaced item and sends the SMS. The dashboard shows the same cards.</a:t>
            </a:r>
          </a:p>
        </p:txBody>
      </p:sp>
      <p:cxnSp>
        <p:nvCxnSpPr>
          <p:cNvPr id="14" name="Connector 13"/>
          <p:cNvCxnSpPr/>
          <p:nvPr/>
        </p:nvCxnSpPr>
        <p:spPr>
          <a:xfrm>
            <a:off x="4889377" y="2793930"/>
            <a:ext cx="126997"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5016374" y="2749481"/>
            <a:ext cx="7619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17972" y="1841453"/>
            <a:ext cx="1955751" cy="1904952"/>
          </a:xfrm>
          <a:prstGeom prst="roundRect">
            <a:avLst>
              <a:gd name="adj" fmla="val 3999"/>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4968" y="1955751"/>
            <a:ext cx="1701757" cy="215894"/>
          </a:xfrm>
          <a:prstGeom prst="rect">
            <a:avLst/>
          </a:prstGeom>
          <a:noFill/>
        </p:spPr>
        <p:txBody>
          <a:bodyPr wrap="square" lIns="0" rIns="0" tIns="0" bIns="0" anchor="t">
            <a:spAutoFit/>
          </a:bodyPr>
          <a:lstStyle/>
          <a:p>
            <a:pPr algn="l"/>
            <a:r>
              <a:rPr sz="1299" b="1" i="0">
                <a:solidFill>
                  <a:srgbClr val="2274A5"/>
                </a:solidFill>
                <a:latin typeface="Roboto Slab"/>
              </a:rPr>
              <a:t>3</a:t>
            </a:r>
          </a:p>
        </p:txBody>
      </p:sp>
      <p:sp>
        <p:nvSpPr>
          <p:cNvPr id="18" name="TextBox 17"/>
          <p:cNvSpPr txBox="1"/>
          <p:nvPr/>
        </p:nvSpPr>
        <p:spPr>
          <a:xfrm>
            <a:off x="5244968" y="2197045"/>
            <a:ext cx="1701757" cy="228594"/>
          </a:xfrm>
          <a:prstGeom prst="rect">
            <a:avLst/>
          </a:prstGeom>
          <a:noFill/>
        </p:spPr>
        <p:txBody>
          <a:bodyPr wrap="square" lIns="0" rIns="0" tIns="0" bIns="0" anchor="t">
            <a:spAutoFit/>
          </a:bodyPr>
          <a:lstStyle/>
          <a:p>
            <a:pPr algn="l"/>
            <a:r>
              <a:rPr sz="1299" b="1" i="0">
                <a:solidFill>
                  <a:srgbClr val="F7F4F3"/>
                </a:solidFill>
                <a:latin typeface="Roboto Slab"/>
              </a:rPr>
              <a:t>The answer</a:t>
            </a:r>
          </a:p>
        </p:txBody>
      </p:sp>
      <p:sp>
        <p:nvSpPr>
          <p:cNvPr id="19" name="TextBox 18"/>
          <p:cNvSpPr txBox="1"/>
          <p:nvPr/>
        </p:nvSpPr>
        <p:spPr>
          <a:xfrm>
            <a:off x="5244968" y="2476438"/>
            <a:ext cx="1701757" cy="1168370"/>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SMS link, dashboard, or CLI. Snooze, decline, or approve. A decline applies at once.</a:t>
            </a:r>
          </a:p>
        </p:txBody>
      </p:sp>
      <p:cxnSp>
        <p:nvCxnSpPr>
          <p:cNvPr id="20" name="Connector 19"/>
          <p:cNvCxnSpPr/>
          <p:nvPr/>
        </p:nvCxnSpPr>
        <p:spPr>
          <a:xfrm>
            <a:off x="7099122" y="2793930"/>
            <a:ext cx="126997" cy="0"/>
          </a:xfrm>
          <a:prstGeom prst="line">
            <a:avLst/>
          </a:prstGeom>
          <a:ln w="25400">
            <a:solidFill>
              <a:srgbClr val="FCBA04"/>
            </a:solidFill>
            <a:prstDash val="dash"/>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5400000">
            <a:off x="7226119" y="2749481"/>
            <a:ext cx="76198" cy="88897"/>
          </a:xfrm>
          <a:prstGeom prst="triangle">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27716" y="1841453"/>
            <a:ext cx="1955751" cy="1904952"/>
          </a:xfrm>
          <a:prstGeom prst="roundRect">
            <a:avLst>
              <a:gd name="adj" fmla="val 3999"/>
            </a:avLst>
          </a:prstGeom>
          <a:solidFill>
            <a:srgbClr val="131F18"/>
          </a:solidFill>
          <a:ln w="15875">
            <a:solidFill>
              <a:srgbClr val="FCBA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4713" y="1955751"/>
            <a:ext cx="1701757" cy="215894"/>
          </a:xfrm>
          <a:prstGeom prst="rect">
            <a:avLst/>
          </a:prstGeom>
          <a:noFill/>
        </p:spPr>
        <p:txBody>
          <a:bodyPr wrap="square" lIns="0" rIns="0" tIns="0" bIns="0" anchor="t">
            <a:spAutoFit/>
          </a:bodyPr>
          <a:lstStyle/>
          <a:p>
            <a:pPr algn="l"/>
            <a:r>
              <a:rPr sz="1299" b="1" i="0">
                <a:solidFill>
                  <a:srgbClr val="FCBA04"/>
                </a:solidFill>
                <a:latin typeface="Roboto Slab"/>
              </a:rPr>
              <a:t>4</a:t>
            </a:r>
          </a:p>
        </p:txBody>
      </p:sp>
      <p:sp>
        <p:nvSpPr>
          <p:cNvPr id="24" name="TextBox 23"/>
          <p:cNvSpPr txBox="1"/>
          <p:nvPr/>
        </p:nvSpPr>
        <p:spPr>
          <a:xfrm>
            <a:off x="7454713" y="2197045"/>
            <a:ext cx="1701757" cy="228594"/>
          </a:xfrm>
          <a:prstGeom prst="rect">
            <a:avLst/>
          </a:prstGeom>
          <a:noFill/>
        </p:spPr>
        <p:txBody>
          <a:bodyPr wrap="square" lIns="0" rIns="0" tIns="0" bIns="0" anchor="t">
            <a:spAutoFit/>
          </a:bodyPr>
          <a:lstStyle/>
          <a:p>
            <a:pPr algn="l"/>
            <a:r>
              <a:rPr sz="1299" b="1" i="0">
                <a:solidFill>
                  <a:srgbClr val="FCBA04"/>
                </a:solidFill>
                <a:latin typeface="Roboto Slab"/>
              </a:rPr>
              <a:t>Approval</a:t>
            </a:r>
          </a:p>
        </p:txBody>
      </p:sp>
      <p:sp>
        <p:nvSpPr>
          <p:cNvPr id="25" name="TextBox 24"/>
          <p:cNvSpPr txBox="1"/>
          <p:nvPr/>
        </p:nvSpPr>
        <p:spPr>
          <a:xfrm>
            <a:off x="7454713" y="2476438"/>
            <a:ext cx="1701757" cy="1168370"/>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The first approval writes the gate approval with every answer as JSON and resumes the run.</a:t>
            </a:r>
          </a:p>
        </p:txBody>
      </p:sp>
      <p:cxnSp>
        <p:nvCxnSpPr>
          <p:cNvPr id="26" name="Connector 25"/>
          <p:cNvCxnSpPr/>
          <p:nvPr/>
        </p:nvCxnSpPr>
        <p:spPr>
          <a:xfrm>
            <a:off x="9308867" y="2793930"/>
            <a:ext cx="126997" cy="0"/>
          </a:xfrm>
          <a:prstGeom prst="line">
            <a:avLst/>
          </a:prstGeom>
          <a:ln w="25400">
            <a:solidFill>
              <a:srgbClr val="FCBA04"/>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5400000">
            <a:off x="9435864" y="2749481"/>
            <a:ext cx="76198" cy="88897"/>
          </a:xfrm>
          <a:prstGeom prst="triangle">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537461" y="1841453"/>
            <a:ext cx="1955751" cy="1904952"/>
          </a:xfrm>
          <a:prstGeom prst="roundRect">
            <a:avLst>
              <a:gd name="adj" fmla="val 3999"/>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64458" y="1955751"/>
            <a:ext cx="1701757" cy="215894"/>
          </a:xfrm>
          <a:prstGeom prst="rect">
            <a:avLst/>
          </a:prstGeom>
          <a:noFill/>
        </p:spPr>
        <p:txBody>
          <a:bodyPr wrap="square" lIns="0" rIns="0" tIns="0" bIns="0" anchor="t">
            <a:spAutoFit/>
          </a:bodyPr>
          <a:lstStyle/>
          <a:p>
            <a:pPr algn="l"/>
            <a:r>
              <a:rPr sz="1299" b="1" i="0">
                <a:solidFill>
                  <a:srgbClr val="2274A5"/>
                </a:solidFill>
                <a:latin typeface="Roboto Slab"/>
              </a:rPr>
              <a:t>5</a:t>
            </a:r>
          </a:p>
        </p:txBody>
      </p:sp>
      <p:sp>
        <p:nvSpPr>
          <p:cNvPr id="30" name="TextBox 29"/>
          <p:cNvSpPr txBox="1"/>
          <p:nvPr/>
        </p:nvSpPr>
        <p:spPr>
          <a:xfrm>
            <a:off x="9664458" y="2197045"/>
            <a:ext cx="1701757" cy="228594"/>
          </a:xfrm>
          <a:prstGeom prst="rect">
            <a:avLst/>
          </a:prstGeom>
          <a:noFill/>
        </p:spPr>
        <p:txBody>
          <a:bodyPr wrap="square" lIns="0" rIns="0" tIns="0" bIns="0" anchor="t">
            <a:spAutoFit/>
          </a:bodyPr>
          <a:lstStyle/>
          <a:p>
            <a:pPr algn="l"/>
            <a:r>
              <a:rPr sz="1299" b="1" i="0">
                <a:solidFill>
                  <a:srgbClr val="6FB3E3"/>
                </a:solidFill>
                <a:latin typeface="Roboto Slab"/>
              </a:rPr>
              <a:t>Resume</a:t>
            </a:r>
          </a:p>
        </p:txBody>
      </p:sp>
      <p:sp>
        <p:nvSpPr>
          <p:cNvPr id="31" name="TextBox 30"/>
          <p:cNvSpPr txBox="1"/>
          <p:nvPr/>
        </p:nvSpPr>
        <p:spPr>
          <a:xfrm>
            <a:off x="9664458" y="2476438"/>
            <a:ext cx="1701757" cy="1168370"/>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Completed nodes replay from the checkpoint. remedy and followup run for the approved items only.</a:t>
            </a:r>
          </a:p>
        </p:txBody>
      </p:sp>
      <p:sp>
        <p:nvSpPr>
          <p:cNvPr id="32" name="TextBox 31"/>
          <p:cNvSpPr txBox="1"/>
          <p:nvPr/>
        </p:nvSpPr>
        <p:spPr>
          <a:xfrm>
            <a:off x="698482" y="4000399"/>
            <a:ext cx="3809904" cy="190495"/>
          </a:xfrm>
          <a:prstGeom prst="rect">
            <a:avLst/>
          </a:prstGeom>
          <a:noFill/>
        </p:spPr>
        <p:txBody>
          <a:bodyPr wrap="square" lIns="0" rIns="0" tIns="0" bIns="0" anchor="t">
            <a:spAutoFit/>
          </a:bodyPr>
          <a:lstStyle/>
          <a:p>
            <a:pPr algn="l"/>
            <a:r>
              <a:rPr sz="1099" b="0" i="0" spc="100">
                <a:solidFill>
                  <a:srgbClr val="FCBA04"/>
                </a:solidFill>
                <a:latin typeface="Habibi"/>
              </a:rPr>
              <a:t>RULES THE ENGINE ENFORCES</a:t>
            </a:r>
          </a:p>
        </p:txBody>
      </p:sp>
      <p:sp>
        <p:nvSpPr>
          <p:cNvPr id="33" name="Rounded Rectangle 32"/>
          <p:cNvSpPr/>
          <p:nvPr/>
        </p:nvSpPr>
        <p:spPr>
          <a:xfrm>
            <a:off x="698482" y="4254393"/>
            <a:ext cx="2584385" cy="1714457"/>
          </a:xfrm>
          <a:prstGeom prst="roundRect">
            <a:avLst>
              <a:gd name="adj" fmla="val 4444"/>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179" y="4368690"/>
            <a:ext cx="2304992" cy="228594"/>
          </a:xfrm>
          <a:prstGeom prst="rect">
            <a:avLst/>
          </a:prstGeom>
          <a:noFill/>
        </p:spPr>
        <p:txBody>
          <a:bodyPr wrap="square" lIns="0" rIns="0" tIns="0" bIns="0" anchor="t">
            <a:spAutoFit/>
          </a:bodyPr>
          <a:lstStyle/>
          <a:p>
            <a:pPr algn="l"/>
            <a:r>
              <a:rPr sz="1199" b="1" i="0">
                <a:solidFill>
                  <a:srgbClr val="F7F4F3"/>
                </a:solidFill>
                <a:latin typeface="Roboto Slab"/>
              </a:rPr>
              <a:t>Batched answers</a:t>
            </a:r>
          </a:p>
        </p:txBody>
      </p:sp>
      <p:sp>
        <p:nvSpPr>
          <p:cNvPr id="35" name="TextBox 34"/>
          <p:cNvSpPr txBox="1"/>
          <p:nvPr/>
        </p:nvSpPr>
        <p:spPr>
          <a:xfrm>
            <a:off x="838179" y="4622684"/>
            <a:ext cx="2304992" cy="1269968"/>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The approval comment carries the answer for each decision. The answers reducer maps them to remedy.</a:t>
            </a:r>
          </a:p>
        </p:txBody>
      </p:sp>
      <p:sp>
        <p:nvSpPr>
          <p:cNvPr id="36" name="Rounded Rectangle 35"/>
          <p:cNvSpPr/>
          <p:nvPr/>
        </p:nvSpPr>
        <p:spPr>
          <a:xfrm>
            <a:off x="3435264" y="4254393"/>
            <a:ext cx="2584385" cy="1714457"/>
          </a:xfrm>
          <a:prstGeom prst="roundRect">
            <a:avLst>
              <a:gd name="adj" fmla="val 4444"/>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74960" y="4368690"/>
            <a:ext cx="2304992" cy="228594"/>
          </a:xfrm>
          <a:prstGeom prst="rect">
            <a:avLst/>
          </a:prstGeom>
          <a:noFill/>
        </p:spPr>
        <p:txBody>
          <a:bodyPr wrap="square" lIns="0" rIns="0" tIns="0" bIns="0" anchor="t">
            <a:spAutoFit/>
          </a:bodyPr>
          <a:lstStyle/>
          <a:p>
            <a:pPr algn="l"/>
            <a:r>
              <a:rPr sz="1199" b="1" i="0">
                <a:solidFill>
                  <a:srgbClr val="F7F4F3"/>
                </a:solidFill>
                <a:latin typeface="Roboto Slab"/>
              </a:rPr>
              <a:t>Late answers fork</a:t>
            </a:r>
          </a:p>
        </p:txBody>
      </p:sp>
      <p:sp>
        <p:nvSpPr>
          <p:cNvPr id="38" name="TextBox 37"/>
          <p:cNvSpPr txBox="1"/>
          <p:nvPr/>
        </p:nvSpPr>
        <p:spPr>
          <a:xfrm>
            <a:off x="3574960" y="4622684"/>
            <a:ext cx="2304992" cy="1269968"/>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An approval after the run resumed forks the run from the gate with a -late suffix. Nothing blocks.</a:t>
            </a:r>
          </a:p>
        </p:txBody>
      </p:sp>
      <p:sp>
        <p:nvSpPr>
          <p:cNvPr id="39" name="Rounded Rectangle 38"/>
          <p:cNvSpPr/>
          <p:nvPr/>
        </p:nvSpPr>
        <p:spPr>
          <a:xfrm>
            <a:off x="6172045" y="4254393"/>
            <a:ext cx="2584385" cy="1714457"/>
          </a:xfrm>
          <a:prstGeom prst="roundRect">
            <a:avLst>
              <a:gd name="adj" fmla="val 4444"/>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11742" y="4368690"/>
            <a:ext cx="2304992" cy="228594"/>
          </a:xfrm>
          <a:prstGeom prst="rect">
            <a:avLst/>
          </a:prstGeom>
          <a:noFill/>
        </p:spPr>
        <p:txBody>
          <a:bodyPr wrap="square" lIns="0" rIns="0" tIns="0" bIns="0" anchor="t">
            <a:spAutoFit/>
          </a:bodyPr>
          <a:lstStyle/>
          <a:p>
            <a:pPr algn="l"/>
            <a:r>
              <a:rPr sz="1199" b="1" i="0">
                <a:solidFill>
                  <a:srgbClr val="F7F4F3"/>
                </a:solidFill>
                <a:latin typeface="Roboto Slab"/>
              </a:rPr>
              <a:t>72 hours</a:t>
            </a:r>
          </a:p>
        </p:txBody>
      </p:sp>
      <p:sp>
        <p:nvSpPr>
          <p:cNvPr id="41" name="TextBox 40"/>
          <p:cNvSpPr txBox="1"/>
          <p:nvPr/>
        </p:nvSpPr>
        <p:spPr>
          <a:xfrm>
            <a:off x="6311742" y="4622684"/>
            <a:ext cx="2304992" cy="1269968"/>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A decision expires after 72 hours. A snooze returns at 08:00 the next day.</a:t>
            </a:r>
          </a:p>
        </p:txBody>
      </p:sp>
      <p:sp>
        <p:nvSpPr>
          <p:cNvPr id="42" name="Rounded Rectangle 41"/>
          <p:cNvSpPr/>
          <p:nvPr/>
        </p:nvSpPr>
        <p:spPr>
          <a:xfrm>
            <a:off x="8908827" y="4254393"/>
            <a:ext cx="2584385" cy="1714457"/>
          </a:xfrm>
          <a:prstGeom prst="roundRect">
            <a:avLst>
              <a:gd name="adj" fmla="val 4444"/>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48523" y="4368690"/>
            <a:ext cx="2304992" cy="228594"/>
          </a:xfrm>
          <a:prstGeom prst="rect">
            <a:avLst/>
          </a:prstGeom>
          <a:noFill/>
        </p:spPr>
        <p:txBody>
          <a:bodyPr wrap="square" lIns="0" rIns="0" tIns="0" bIns="0" anchor="t">
            <a:spAutoFit/>
          </a:bodyPr>
          <a:lstStyle/>
          <a:p>
            <a:pPr algn="l"/>
            <a:r>
              <a:rPr sz="1199" b="1" i="0">
                <a:solidFill>
                  <a:srgbClr val="F7F4F3"/>
                </a:solidFill>
                <a:latin typeface="Roboto Slab"/>
              </a:rPr>
              <a:t>Once, never twice</a:t>
            </a:r>
          </a:p>
        </p:txBody>
      </p:sp>
      <p:sp>
        <p:nvSpPr>
          <p:cNvPr id="44" name="TextBox 43"/>
          <p:cNvSpPr txBox="1"/>
          <p:nvPr/>
        </p:nvSpPr>
        <p:spPr>
          <a:xfrm>
            <a:off x="9048523" y="4622684"/>
            <a:ext cx="2304992" cy="1269968"/>
          </a:xfrm>
          <a:prstGeom prst="rect">
            <a:avLst/>
          </a:prstGeom>
          <a:noFill/>
        </p:spPr>
        <p:txBody>
          <a:bodyPr wrap="square" lIns="0" rIns="0" tIns="0" bIns="0" anchor="t">
            <a:spAutoFit/>
          </a:bodyPr>
          <a:lstStyle/>
          <a:p>
            <a:pPr algn="l">
              <a:lnSpc>
                <a:spcPct val="130000"/>
              </a:lnSpc>
            </a:pPr>
            <a:r>
              <a:rPr sz="999" b="0" i="0">
                <a:solidFill>
                  <a:srgbClr val="B9C3BD"/>
                </a:solidFill>
                <a:latin typeface="Lora"/>
              </a:rPr>
              <a:t>followup declares side_effect and requires_gate. The frozen constraints make it unreachable without an approval and run it one time.</a:t>
            </a:r>
          </a:p>
        </p:txBody>
      </p:sp>
      <p:sp>
        <p:nvSpPr>
          <p:cNvPr id="45" name="TextBox 44"/>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B9C3BD"/>
                </a:solidFill>
                <a:latin typeface="Habibi"/>
              </a:rPr>
              <a:t>GUARDIAN · ARCHITECTURE · 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COST AND CONTROLS</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Cents per night, capped three times</a:t>
            </a:r>
          </a:p>
        </p:txBody>
      </p:sp>
      <p:graphicFrame>
        <p:nvGraphicFramePr>
          <p:cNvPr id="4" name="Table 3"/>
          <p:cNvGraphicFramePr>
            <a:graphicFrameLocks noGrp="1"/>
          </p:cNvGraphicFramePr>
          <p:nvPr/>
        </p:nvGraphicFramePr>
        <p:xfrm>
          <a:off x="698482" y="1777955"/>
          <a:ext cx="10794729" cy="4472823"/>
        </p:xfrm>
        <a:graphic>
          <a:graphicData uri="http://schemas.openxmlformats.org/drawingml/2006/table">
            <a:tbl>
              <a:tblPr firstRow="1">
                <a:tableStyleId>{5C22544A-7EE6-4342-B048-85BDC9FD1C3A}</a:tableStyleId>
              </a:tblPr>
              <a:tblGrid>
                <a:gridCol w="2666933"/>
                <a:gridCol w="2412939"/>
                <a:gridCol w="5714857"/>
              </a:tblGrid>
              <a:tr h="292092">
                <a:tc>
                  <a:txBody>
                    <a:bodyPr wrap="square"/>
                    <a:lstStyle/>
                    <a:p>
                      <a:pPr algn="l"/>
                      <a:r>
                        <a:rPr sz="1049" b="0">
                          <a:solidFill>
                            <a:srgbClr val="F7F4F3"/>
                          </a:solidFill>
                          <a:latin typeface="Habibi"/>
                        </a:rPr>
                        <a:t>CONTROL</a:t>
                      </a:r>
                    </a:p>
                  </a:txBody>
                  <a:tcPr marL="88897" marR="88897" marT="50798" marB="38099" anchor="t">
                    <a:solidFill>
                      <a:srgbClr val="000F08"/>
                    </a:solidFill>
                  </a:tcPr>
                </a:tc>
                <a:tc>
                  <a:txBody>
                    <a:bodyPr wrap="square"/>
                    <a:lstStyle/>
                    <a:p>
                      <a:pPr algn="l"/>
                      <a:r>
                        <a:rPr sz="1049" b="0">
                          <a:solidFill>
                            <a:srgbClr val="F7F4F3"/>
                          </a:solidFill>
                          <a:latin typeface="Habibi"/>
                        </a:rPr>
                        <a:t>SCOPE</a:t>
                      </a:r>
                    </a:p>
                  </a:txBody>
                  <a:tcPr marL="88897" marR="88897" marT="50798" marB="38099" anchor="t">
                    <a:solidFill>
                      <a:srgbClr val="000F08"/>
                    </a:solidFill>
                  </a:tcPr>
                </a:tc>
                <a:tc>
                  <a:txBody>
                    <a:bodyPr wrap="square"/>
                    <a:lstStyle/>
                    <a:p>
                      <a:pPr algn="l"/>
                      <a:r>
                        <a:rPr sz="1049" b="0">
                          <a:solidFill>
                            <a:srgbClr val="F7F4F3"/>
                          </a:solidFill>
                          <a:latin typeface="Habibi"/>
                        </a:rPr>
                        <a:t>VALUE AND EFFECT</a:t>
                      </a:r>
                    </a:p>
                  </a:txBody>
                  <a:tcPr marL="88897" marR="88897" marT="50798" marB="38099" anchor="t">
                    <a:solidFill>
                      <a:srgbClr val="000F08"/>
                    </a:solidFill>
                  </a:tcPr>
                </a:tc>
              </a:tr>
              <a:tr h="497827">
                <a:tc>
                  <a:txBody>
                    <a:bodyPr wrap="square"/>
                    <a:lstStyle/>
                    <a:p>
                      <a:pPr algn="l"/>
                      <a:r>
                        <a:rPr sz="1199" b="1">
                          <a:solidFill>
                            <a:srgbClr val="000F08"/>
                          </a:solidFill>
                          <a:latin typeface="Roboto Slab"/>
                        </a:rPr>
                        <a:t>Quiet night</a:t>
                      </a:r>
                    </a:p>
                  </a:txBody>
                  <a:tcPr marL="88897" marR="88897" marT="50798" marB="38099" anchor="t">
                    <a:solidFill>
                      <a:srgbClr val="FFFFFF"/>
                    </a:solidFill>
                  </a:tcPr>
                </a:tc>
                <a:tc>
                  <a:txBody>
                    <a:bodyPr wrap="square"/>
                    <a:lstStyle/>
                    <a:p>
                      <a:pPr algn="l"/>
                      <a:r>
                        <a:rPr sz="1199" b="0">
                          <a:solidFill>
                            <a:srgbClr val="000F08"/>
                          </a:solidFill>
                          <a:latin typeface="Lora"/>
                        </a:rPr>
                        <a:t>the graph</a:t>
                      </a:r>
                    </a:p>
                  </a:txBody>
                  <a:tcPr marL="88897" marR="88897" marT="50798" marB="38099" anchor="t">
                    <a:solidFill>
                      <a:srgbClr val="FFFFFF"/>
                    </a:solidFill>
                  </a:tcPr>
                </a:tc>
                <a:tc>
                  <a:txBody>
                    <a:bodyPr wrap="square"/>
                    <a:lstStyle/>
                    <a:p>
                      <a:pPr algn="l"/>
                      <a:r>
                        <a:rPr sz="1199" b="0">
                          <a:solidFill>
                            <a:srgbClr val="000F08"/>
                          </a:solidFill>
                          <a:latin typeface="Lora"/>
                        </a:rPr>
                        <a:t>Zero model calls. The when conditions skip matcher, triage, and every node after them.</a:t>
                      </a:r>
                    </a:p>
                  </a:txBody>
                  <a:tcPr marL="88897" marR="88897" marT="50798" marB="38099" anchor="t">
                    <a:solidFill>
                      <a:srgbClr val="FFFFFF"/>
                    </a:solidFill>
                  </a:tcPr>
                </a:tc>
              </a:tr>
              <a:tr h="695942">
                <a:tc>
                  <a:txBody>
                    <a:bodyPr wrap="square"/>
                    <a:lstStyle/>
                    <a:p>
                      <a:pPr algn="l"/>
                      <a:r>
                        <a:rPr sz="1199" b="1">
                          <a:solidFill>
                            <a:srgbClr val="000F08"/>
                          </a:solidFill>
                          <a:latin typeface="Roboto Slab"/>
                        </a:rPr>
                        <a:t>Model per node</a:t>
                      </a:r>
                    </a:p>
                  </a:txBody>
                  <a:tcPr marL="88897" marR="88897" marT="50798" marB="38099" anchor="t">
                    <a:solidFill>
                      <a:srgbClr val="EFEBE9"/>
                    </a:solidFill>
                  </a:tcPr>
                </a:tc>
                <a:tc>
                  <a:txBody>
                    <a:bodyPr wrap="square"/>
                    <a:lstStyle/>
                    <a:p>
                      <a:pPr algn="l"/>
                      <a:r>
                        <a:rPr sz="1199" b="0">
                          <a:solidFill>
                            <a:srgbClr val="000F08"/>
                          </a:solidFill>
                          <a:latin typeface="Lora"/>
                        </a:rPr>
                        <a:t>the spec</a:t>
                      </a:r>
                    </a:p>
                  </a:txBody>
                  <a:tcPr marL="88897" marR="88897" marT="50798" marB="38099" anchor="t">
                    <a:solidFill>
                      <a:srgbClr val="EFEBE9"/>
                    </a:solidFill>
                  </a:tcPr>
                </a:tc>
                <a:tc>
                  <a:txBody>
                    <a:bodyPr wrap="square"/>
                    <a:lstStyle/>
                    <a:p>
                      <a:pPr algn="l"/>
                      <a:r>
                        <a:rPr sz="1199" b="0">
                          <a:solidFill>
                            <a:srgbClr val="000F08"/>
                          </a:solidFill>
                          <a:latin typeface="Lora"/>
                        </a:rPr>
                        <a:t>Haiku 4.5 for extraction and verification. Opus 5 for the matcher and triage. Sonnet 5 for the remedy. A typical night with one ambiguous pair makes 4 to 6 calls.</a:t>
                      </a:r>
                    </a:p>
                  </a:txBody>
                  <a:tcPr marL="88897" marR="88897" marT="50798" marB="38099" anchor="t">
                    <a:solidFill>
                      <a:srgbClr val="EFEBE9"/>
                    </a:solidFill>
                  </a:tcPr>
                </a:tc>
              </a:tr>
              <a:tr h="497827">
                <a:tc>
                  <a:txBody>
                    <a:bodyPr wrap="square"/>
                    <a:lstStyle/>
                    <a:p>
                      <a:pPr algn="l"/>
                      <a:r>
                        <a:rPr sz="1199" b="1">
                          <a:solidFill>
                            <a:srgbClr val="000F08"/>
                          </a:solidFill>
                          <a:latin typeface="Roboto Slab"/>
                        </a:rPr>
                        <a:t>gren budget.max_cost_usd</a:t>
                      </a:r>
                    </a:p>
                  </a:txBody>
                  <a:tcPr marL="88897" marR="88897" marT="50798" marB="38099" anchor="t">
                    <a:solidFill>
                      <a:srgbClr val="FFFFFF"/>
                    </a:solidFill>
                  </a:tcPr>
                </a:tc>
                <a:tc>
                  <a:txBody>
                    <a:bodyPr wrap="square"/>
                    <a:lstStyle/>
                    <a:p>
                      <a:pPr algn="l"/>
                      <a:r>
                        <a:rPr sz="1199" b="0">
                          <a:solidFill>
                            <a:srgbClr val="000F08"/>
                          </a:solidFill>
                          <a:latin typeface="Lora"/>
                        </a:rPr>
                        <a:t>one run</a:t>
                      </a:r>
                    </a:p>
                  </a:txBody>
                  <a:tcPr marL="88897" marR="88897" marT="50798" marB="38099" anchor="t">
                    <a:solidFill>
                      <a:srgbClr val="FFFFFF"/>
                    </a:solidFill>
                  </a:tcPr>
                </a:tc>
                <a:tc>
                  <a:txBody>
                    <a:bodyPr wrap="square"/>
                    <a:lstStyle/>
                    <a:p>
                      <a:pPr algn="l"/>
                      <a:r>
                        <a:rPr sz="1199" b="0">
                          <a:solidFill>
                            <a:srgbClr val="000F08"/>
                          </a:solidFill>
                          <a:latin typeface="Lora"/>
                        </a:rPr>
                        <a:t>$3.00. The engine fails the run when its own recorded spend exceeds the cap.</a:t>
                      </a:r>
                    </a:p>
                  </a:txBody>
                  <a:tcPr marL="88897" marR="88897" marT="50798" marB="38099" anchor="t">
                    <a:solidFill>
                      <a:srgbClr val="FFFFFF"/>
                    </a:solidFill>
                  </a:tcPr>
                </a:tc>
              </a:tr>
              <a:tr h="497827">
                <a:tc>
                  <a:txBody>
                    <a:bodyPr wrap="square"/>
                    <a:lstStyle/>
                    <a:p>
                      <a:pPr algn="l"/>
                      <a:r>
                        <a:rPr sz="1199" b="1">
                          <a:solidFill>
                            <a:srgbClr val="000F08"/>
                          </a:solidFill>
                          <a:latin typeface="Roboto Slab"/>
                        </a:rPr>
                        <a:t>GUARDIAN_DAILY_BUDGET_USD</a:t>
                      </a:r>
                    </a:p>
                  </a:txBody>
                  <a:tcPr marL="88897" marR="88897" marT="50798" marB="38099" anchor="t">
                    <a:solidFill>
                      <a:srgbClr val="EFEBE9"/>
                    </a:solidFill>
                  </a:tcPr>
                </a:tc>
                <a:tc>
                  <a:txBody>
                    <a:bodyPr wrap="square"/>
                    <a:lstStyle/>
                    <a:p>
                      <a:pPr algn="l"/>
                      <a:r>
                        <a:rPr sz="1199" b="0">
                          <a:solidFill>
                            <a:srgbClr val="000F08"/>
                          </a:solidFill>
                          <a:latin typeface="Lora"/>
                        </a:rPr>
                        <a:t>the household</a:t>
                      </a:r>
                    </a:p>
                  </a:txBody>
                  <a:tcPr marL="88897" marR="88897" marT="50798" marB="38099" anchor="t">
                    <a:solidFill>
                      <a:srgbClr val="EFEBE9"/>
                    </a:solidFill>
                  </a:tcPr>
                </a:tc>
                <a:tc>
                  <a:txBody>
                    <a:bodyPr wrap="square"/>
                    <a:lstStyle/>
                    <a:p>
                      <a:pPr algn="l"/>
                      <a:r>
                        <a:rPr sz="1199" b="0">
                          <a:solidFill>
                            <a:srgbClr val="000F08"/>
                          </a:solidFill>
                          <a:latin typeface="Lora"/>
                        </a:rPr>
                        <a:t>$10 by default. The service refuses to start a sweep or an intake once the recorded spend of the day reaches it.</a:t>
                      </a:r>
                    </a:p>
                  </a:txBody>
                  <a:tcPr marL="88897" marR="88897" marT="50798" marB="38099" anchor="t">
                    <a:solidFill>
                      <a:srgbClr val="EFEBE9"/>
                    </a:solidFill>
                  </a:tcPr>
                </a:tc>
              </a:tr>
              <a:tr h="497827">
                <a:tc>
                  <a:txBody>
                    <a:bodyPr wrap="square"/>
                    <a:lstStyle/>
                    <a:p>
                      <a:pPr algn="l"/>
                      <a:r>
                        <a:rPr sz="1199" b="1">
                          <a:solidFill>
                            <a:srgbClr val="000F08"/>
                          </a:solidFill>
                          <a:latin typeface="Roboto Slab"/>
                        </a:rPr>
                        <a:t>AWS Budgets</a:t>
                      </a:r>
                    </a:p>
                  </a:txBody>
                  <a:tcPr marL="88897" marR="88897" marT="50798" marB="38099" anchor="t">
                    <a:solidFill>
                      <a:srgbClr val="FFFFFF"/>
                    </a:solidFill>
                  </a:tcPr>
                </a:tc>
                <a:tc>
                  <a:txBody>
                    <a:bodyPr wrap="square"/>
                    <a:lstStyle/>
                    <a:p>
                      <a:pPr algn="l"/>
                      <a:r>
                        <a:rPr sz="1199" b="0">
                          <a:solidFill>
                            <a:srgbClr val="000F08"/>
                          </a:solidFill>
                          <a:latin typeface="Lora"/>
                        </a:rPr>
                        <a:t>the account</a:t>
                      </a:r>
                    </a:p>
                  </a:txBody>
                  <a:tcPr marL="88897" marR="88897" marT="50798" marB="38099" anchor="t">
                    <a:solidFill>
                      <a:srgbClr val="FFFFFF"/>
                    </a:solidFill>
                  </a:tcPr>
                </a:tc>
                <a:tc>
                  <a:txBody>
                    <a:bodyPr wrap="square"/>
                    <a:lstStyle/>
                    <a:p>
                      <a:pPr algn="l"/>
                      <a:r>
                        <a:rPr sz="1199" b="0">
                          <a:solidFill>
                            <a:srgbClr val="000F08"/>
                          </a:solidFill>
                          <a:latin typeface="Lora"/>
                        </a:rPr>
                        <a:t>A $50 monthly alert. AWS Budgets alert; they do not cap. A budget action can restrict an IAM user, never the root user.</a:t>
                      </a:r>
                    </a:p>
                  </a:txBody>
                  <a:tcPr marL="88897" marR="88897" marT="50798" marB="38099" anchor="t">
                    <a:solidFill>
                      <a:srgbClr val="FFFFFF"/>
                    </a:solidFill>
                  </a:tcPr>
                </a:tc>
              </a:tr>
              <a:tr h="497827">
                <a:tc>
                  <a:txBody>
                    <a:bodyPr wrap="square"/>
                    <a:lstStyle/>
                    <a:p>
                      <a:pPr algn="l"/>
                      <a:r>
                        <a:rPr sz="1199" b="1">
                          <a:solidFill>
                            <a:srgbClr val="000F08"/>
                          </a:solidFill>
                          <a:latin typeface="Roboto Slab"/>
                        </a:rPr>
                        <a:t>First live sweep</a:t>
                      </a:r>
                    </a:p>
                  </a:txBody>
                  <a:tcPr marL="88897" marR="88897" marT="50798" marB="38099" anchor="t">
                    <a:solidFill>
                      <a:srgbClr val="EFEBE9"/>
                    </a:solidFill>
                  </a:tcPr>
                </a:tc>
                <a:tc>
                  <a:txBody>
                    <a:bodyPr wrap="square"/>
                    <a:lstStyle/>
                    <a:p>
                      <a:pPr algn="l"/>
                      <a:r>
                        <a:rPr sz="1199" b="0">
                          <a:solidFill>
                            <a:srgbClr val="000F08"/>
                          </a:solidFill>
                          <a:latin typeface="Lora"/>
                        </a:rPr>
                        <a:t>measured</a:t>
                      </a:r>
                    </a:p>
                  </a:txBody>
                  <a:tcPr marL="88897" marR="88897" marT="50798" marB="38099" anchor="t">
                    <a:solidFill>
                      <a:srgbClr val="EFEBE9"/>
                    </a:solidFill>
                  </a:tcPr>
                </a:tc>
                <a:tc>
                  <a:txBody>
                    <a:bodyPr wrap="square"/>
                    <a:lstStyle/>
                    <a:p>
                      <a:pPr algn="l"/>
                      <a:r>
                        <a:rPr sz="1199" b="0">
                          <a:solidFill>
                            <a:srgbClr val="000F08"/>
                          </a:solidFill>
                          <a:latin typeface="Lora"/>
                        </a:rPr>
                        <a:t>594 CPSC recalls, 3 NHTSA campaigns, 1,200 openFDA reports. 7,143 pairs in code. 3 pairs to the model. 235 s. $0.41.</a:t>
                      </a:r>
                    </a:p>
                  </a:txBody>
                  <a:tcPr marL="88897" marR="88897" marT="50798" marB="38099" anchor="t">
                    <a:solidFill>
                      <a:srgbClr val="EFEBE9"/>
                    </a:solidFill>
                  </a:tcPr>
                </a:tc>
              </a:tr>
              <a:tr h="497827">
                <a:tc>
                  <a:txBody>
                    <a:bodyPr wrap="square"/>
                    <a:lstStyle/>
                    <a:p>
                      <a:pPr algn="l"/>
                      <a:r>
                        <a:rPr sz="1199" b="1">
                          <a:solidFill>
                            <a:srgbClr val="000F08"/>
                          </a:solidFill>
                          <a:latin typeface="Roboto Slab"/>
                        </a:rPr>
                        <a:t>Live instance</a:t>
                      </a:r>
                    </a:p>
                  </a:txBody>
                  <a:tcPr marL="88897" marR="88897" marT="50798" marB="38099" anchor="t">
                    <a:solidFill>
                      <a:srgbClr val="FFFFFF"/>
                    </a:solidFill>
                  </a:tcPr>
                </a:tc>
                <a:tc>
                  <a:txBody>
                    <a:bodyPr wrap="square"/>
                    <a:lstStyle/>
                    <a:p>
                      <a:pPr algn="l"/>
                      <a:r>
                        <a:rPr sz="1199" b="0">
                          <a:solidFill>
                            <a:srgbClr val="000F08"/>
                          </a:solidFill>
                          <a:latin typeface="Lora"/>
                        </a:rPr>
                        <a:t>EC2 t3.small</a:t>
                      </a:r>
                    </a:p>
                  </a:txBody>
                  <a:tcPr marL="88897" marR="88897" marT="50798" marB="38099" anchor="t">
                    <a:solidFill>
                      <a:srgbClr val="FFFFFF"/>
                    </a:solidFill>
                  </a:tcPr>
                </a:tc>
                <a:tc>
                  <a:txBody>
                    <a:bodyPr wrap="square"/>
                    <a:lstStyle/>
                    <a:p>
                      <a:pPr algn="l"/>
                      <a:r>
                        <a:rPr sz="1199" b="0">
                          <a:solidFill>
                            <a:srgbClr val="000F08"/>
                          </a:solidFill>
                          <a:latin typeface="Lora"/>
                        </a:rPr>
                        <a:t>About $0.60 a day. deploy_ec2.py down removes everything but the bucket.</a:t>
                      </a:r>
                    </a:p>
                  </a:txBody>
                  <a:tcPr marL="88897" marR="88897" marT="50798" marB="38099" anchor="t">
                    <a:solidFill>
                      <a:srgbClr val="FFFFFF"/>
                    </a:solidFill>
                  </a:tcPr>
                </a:tc>
              </a:tr>
              <a:tr h="497827">
                <a:tc>
                  <a:txBody>
                    <a:bodyPr wrap="square"/>
                    <a:lstStyle/>
                    <a:p>
                      <a:pPr algn="l"/>
                      <a:r>
                        <a:rPr sz="1199" b="1">
                          <a:solidFill>
                            <a:srgbClr val="000F08"/>
                          </a:solidFill>
                          <a:latin typeface="Roboto Slab"/>
                        </a:rPr>
                        <a:t>Token gate</a:t>
                      </a:r>
                    </a:p>
                  </a:txBody>
                  <a:tcPr marL="88897" marR="88897" marT="50798" marB="38099" anchor="t">
                    <a:solidFill>
                      <a:srgbClr val="EFEBE9"/>
                    </a:solidFill>
                  </a:tcPr>
                </a:tc>
                <a:tc>
                  <a:txBody>
                    <a:bodyPr wrap="square"/>
                    <a:lstStyle/>
                    <a:p>
                      <a:pPr algn="l"/>
                      <a:r>
                        <a:rPr sz="1199" b="0">
                          <a:solidFill>
                            <a:srgbClr val="000F08"/>
                          </a:solidFill>
                          <a:latin typeface="Lora"/>
                        </a:rPr>
                        <a:t>the public dashboard</a:t>
                      </a:r>
                    </a:p>
                  </a:txBody>
                  <a:tcPr marL="88897" marR="88897" marT="50798" marB="38099" anchor="t">
                    <a:solidFill>
                      <a:srgbClr val="EFEBE9"/>
                    </a:solidFill>
                  </a:tcPr>
                </a:tc>
                <a:tc>
                  <a:txBody>
                    <a:bodyPr wrap="square"/>
                    <a:lstStyle/>
                    <a:p>
                      <a:pPr algn="l"/>
                      <a:r>
                        <a:rPr sz="1199" b="0">
                          <a:solidFill>
                            <a:srgbClr val="000F08"/>
                          </a:solidFill>
                          <a:latin typeface="Lora"/>
                        </a:rPr>
                        <a:t>GUARDIAN_API_TOKEN gates every POST, PUT, and DELETE. Reads stay open. Rotate the token with one update.</a:t>
                      </a:r>
                    </a:p>
                  </a:txBody>
                  <a:tcPr marL="88897" marR="88897" marT="50798" marB="38099" anchor="t">
                    <a:solidFill>
                      <a:srgbClr val="EFEBE9"/>
                    </a:solidFill>
                  </a:tcPr>
                </a:tc>
              </a:tr>
            </a:tbl>
          </a:graphicData>
        </a:graphic>
      </p:graphicFrame>
      <p:sp>
        <p:nvSpPr>
          <p:cNvPr id="5" name="TextBox 4"/>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RISK ASSESSMENT</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What can go wrong, and what catches it</a:t>
            </a:r>
          </a:p>
        </p:txBody>
      </p:sp>
      <p:graphicFrame>
        <p:nvGraphicFramePr>
          <p:cNvPr id="4" name="Table 3"/>
          <p:cNvGraphicFramePr>
            <a:graphicFrameLocks noGrp="1"/>
          </p:cNvGraphicFramePr>
          <p:nvPr/>
        </p:nvGraphicFramePr>
        <p:xfrm>
          <a:off x="698482" y="1777955"/>
          <a:ext cx="10794728" cy="4098820"/>
        </p:xfrm>
        <a:graphic>
          <a:graphicData uri="http://schemas.openxmlformats.org/drawingml/2006/table">
            <a:tbl>
              <a:tblPr firstRow="1">
                <a:tableStyleId>{5C22544A-7EE6-4342-B048-85BDC9FD1C3A}</a:tableStyleId>
              </a:tblPr>
              <a:tblGrid>
                <a:gridCol w="3047923"/>
                <a:gridCol w="952476"/>
                <a:gridCol w="952476"/>
                <a:gridCol w="5841853"/>
              </a:tblGrid>
              <a:tr h="292092">
                <a:tc>
                  <a:txBody>
                    <a:bodyPr wrap="square"/>
                    <a:lstStyle/>
                    <a:p>
                      <a:pPr algn="l"/>
                      <a:r>
                        <a:rPr sz="1049" b="0">
                          <a:solidFill>
                            <a:srgbClr val="F7F4F3"/>
                          </a:solidFill>
                          <a:latin typeface="Habibi"/>
                        </a:rPr>
                        <a:t>RISK</a:t>
                      </a:r>
                    </a:p>
                  </a:txBody>
                  <a:tcPr marL="88897" marR="88897" marT="50798" marB="38099" anchor="t">
                    <a:solidFill>
                      <a:srgbClr val="000F08"/>
                    </a:solidFill>
                  </a:tcPr>
                </a:tc>
                <a:tc>
                  <a:txBody>
                    <a:bodyPr wrap="square"/>
                    <a:lstStyle/>
                    <a:p>
                      <a:pPr algn="l"/>
                      <a:r>
                        <a:rPr sz="1049" b="0">
                          <a:solidFill>
                            <a:srgbClr val="F7F4F3"/>
                          </a:solidFill>
                          <a:latin typeface="Habibi"/>
                        </a:rPr>
                        <a:t>PROB.</a:t>
                      </a:r>
                    </a:p>
                  </a:txBody>
                  <a:tcPr marL="88897" marR="88897" marT="50798" marB="38099" anchor="t">
                    <a:solidFill>
                      <a:srgbClr val="000F08"/>
                    </a:solidFill>
                  </a:tcPr>
                </a:tc>
                <a:tc>
                  <a:txBody>
                    <a:bodyPr wrap="square"/>
                    <a:lstStyle/>
                    <a:p>
                      <a:pPr algn="l"/>
                      <a:r>
                        <a:rPr sz="1049" b="0">
                          <a:solidFill>
                            <a:srgbClr val="F7F4F3"/>
                          </a:solidFill>
                          <a:latin typeface="Habibi"/>
                        </a:rPr>
                        <a:t>IMPACT</a:t>
                      </a:r>
                    </a:p>
                  </a:txBody>
                  <a:tcPr marL="88897" marR="88897" marT="50798" marB="38099" anchor="t">
                    <a:solidFill>
                      <a:srgbClr val="000F08"/>
                    </a:solidFill>
                  </a:tcPr>
                </a:tc>
                <a:tc>
                  <a:txBody>
                    <a:bodyPr wrap="square"/>
                    <a:lstStyle/>
                    <a:p>
                      <a:pPr algn="l"/>
                      <a:r>
                        <a:rPr sz="1049" b="0">
                          <a:solidFill>
                            <a:srgbClr val="F7F4F3"/>
                          </a:solidFill>
                          <a:latin typeface="Habibi"/>
                        </a:rPr>
                        <a:t>MITIGATION</a:t>
                      </a:r>
                    </a:p>
                  </a:txBody>
                  <a:tcPr marL="88897" marR="88897" marT="50798" marB="38099" anchor="t">
                    <a:solidFill>
                      <a:srgbClr val="000F08"/>
                    </a:solidFill>
                  </a:tcPr>
                </a:tc>
              </a:tr>
              <a:tr h="720706">
                <a:tc>
                  <a:txBody>
                    <a:bodyPr wrap="square"/>
                    <a:lstStyle/>
                    <a:p>
                      <a:pPr algn="l"/>
                      <a:r>
                        <a:rPr sz="1249" b="1">
                          <a:solidFill>
                            <a:srgbClr val="000F08"/>
                          </a:solidFill>
                          <a:latin typeface="Roboto Slab"/>
                        </a:rPr>
                        <a:t>Bedrock stays unauthorized for the account</a:t>
                      </a:r>
                    </a:p>
                  </a:txBody>
                  <a:tcPr marL="88897" marR="88897" marT="50798" marB="38099" anchor="t">
                    <a:solidFill>
                      <a:srgbClr val="FFFFFF"/>
                    </a:solidFill>
                  </a:tcPr>
                </a:tc>
                <a:tc>
                  <a:txBody>
                    <a:bodyPr wrap="square"/>
                    <a:lstStyle/>
                    <a:p>
                      <a:pPr algn="l"/>
                      <a:r>
                        <a:rPr sz="1249" b="0">
                          <a:solidFill>
                            <a:srgbClr val="000F08"/>
                          </a:solidFill>
                          <a:latin typeface="Lora"/>
                        </a:rPr>
                        <a:t>medium</a:t>
                      </a:r>
                    </a:p>
                  </a:txBody>
                  <a:tcPr marL="88897" marR="88897" marT="50798" marB="38099" anchor="t">
                    <a:solidFill>
                      <a:srgbClr val="FFFFFF"/>
                    </a:solidFill>
                  </a:tcPr>
                </a:tc>
                <a:tc>
                  <a:txBody>
                    <a:bodyPr wrap="square"/>
                    <a:lstStyle/>
                    <a:p>
                      <a:pPr algn="l"/>
                      <a:r>
                        <a:rPr sz="1249" b="0">
                          <a:solidFill>
                            <a:srgbClr val="000F08"/>
                          </a:solidFill>
                          <a:latin typeface="Lora"/>
                        </a:rPr>
                        <a:t>high</a:t>
                      </a:r>
                    </a:p>
                  </a:txBody>
                  <a:tcPr marL="88897" marR="88897" marT="50798" marB="38099" anchor="t">
                    <a:solidFill>
                      <a:srgbClr val="FFFFFF"/>
                    </a:solidFill>
                  </a:tcPr>
                </a:tc>
                <a:tc>
                  <a:txBody>
                    <a:bodyPr wrap="square"/>
                    <a:lstStyle/>
                    <a:p>
                      <a:pPr algn="l"/>
                      <a:r>
                        <a:rPr sz="1249" b="0">
                          <a:solidFill>
                            <a:srgbClr val="000F08"/>
                          </a:solidFill>
                          <a:latin typeface="Lora"/>
                        </a:rPr>
                        <a:t>AWS Support case 178934068800881 is open. The graphs run unchanged on the Anthropic API with ANTHROPIC_API_KEY and GREN_BRIDGE=anthropic.</a:t>
                      </a:r>
                    </a:p>
                  </a:txBody>
                  <a:tcPr marL="88897" marR="88897" marT="50798" marB="38099" anchor="t">
                    <a:solidFill>
                      <a:srgbClr val="FFFFFF"/>
                    </a:solidFill>
                  </a:tcPr>
                </a:tc>
              </a:tr>
              <a:tr h="514337">
                <a:tc>
                  <a:txBody>
                    <a:bodyPr wrap="square"/>
                    <a:lstStyle/>
                    <a:p>
                      <a:pPr algn="l"/>
                      <a:r>
                        <a:rPr sz="1249" b="1">
                          <a:solidFill>
                            <a:srgbClr val="000F08"/>
                          </a:solidFill>
                          <a:latin typeface="Roboto Slab"/>
                        </a:rPr>
                        <a:t>A feed changes its format or goes down</a:t>
                      </a:r>
                    </a:p>
                  </a:txBody>
                  <a:tcPr marL="88897" marR="88897" marT="50798" marB="38099" anchor="t">
                    <a:solidFill>
                      <a:srgbClr val="EFEBE9"/>
                    </a:solidFill>
                  </a:tcPr>
                </a:tc>
                <a:tc>
                  <a:txBody>
                    <a:bodyPr wrap="square"/>
                    <a:lstStyle/>
                    <a:p>
                      <a:pPr algn="l"/>
                      <a:r>
                        <a:rPr sz="1249" b="0">
                          <a:solidFill>
                            <a:srgbClr val="000F08"/>
                          </a:solidFill>
                          <a:latin typeface="Lora"/>
                        </a:rPr>
                        <a:t>medium</a:t>
                      </a:r>
                    </a:p>
                  </a:txBody>
                  <a:tcPr marL="88897" marR="88897" marT="50798" marB="38099" anchor="t">
                    <a:solidFill>
                      <a:srgbClr val="EFEBE9"/>
                    </a:solidFill>
                  </a:tcPr>
                </a:tc>
                <a:tc>
                  <a:txBody>
                    <a:bodyPr wrap="square"/>
                    <a:lstStyle/>
                    <a:p>
                      <a:pPr algn="l"/>
                      <a:r>
                        <a:rPr sz="1249" b="0">
                          <a:solidFill>
                            <a:srgbClr val="000F08"/>
                          </a:solidFill>
                          <a:latin typeface="Lora"/>
                        </a:rPr>
                        <a:t>medium</a:t>
                      </a:r>
                    </a:p>
                  </a:txBody>
                  <a:tcPr marL="88897" marR="88897" marT="50798" marB="38099" anchor="t">
                    <a:solidFill>
                      <a:srgbClr val="EFEBE9"/>
                    </a:solidFill>
                  </a:tcPr>
                </a:tc>
                <a:tc>
                  <a:txBody>
                    <a:bodyPr wrap="square"/>
                    <a:lstStyle/>
                    <a:p>
                      <a:pPr algn="l"/>
                      <a:r>
                        <a:rPr sz="1249" b="0">
                          <a:solidFill>
                            <a:srgbClr val="000F08"/>
                          </a:solidFill>
                          <a:latin typeface="Lora"/>
                        </a:rPr>
                        <a:t>Each feed fails alone. The others continue. Recorded fixtures cover the tests. The first sweep uses a 400-day window.</a:t>
                      </a:r>
                    </a:p>
                  </a:txBody>
                  <a:tcPr marL="88897" marR="88897" marT="50798" marB="38099" anchor="t">
                    <a:solidFill>
                      <a:srgbClr val="EFEBE9"/>
                    </a:solidFill>
                  </a:tcPr>
                </a:tc>
              </a:tr>
              <a:tr h="514337">
                <a:tc>
                  <a:txBody>
                    <a:bodyPr wrap="square"/>
                    <a:lstStyle/>
                    <a:p>
                      <a:pPr algn="l"/>
                      <a:r>
                        <a:rPr sz="1249" b="1">
                          <a:solidFill>
                            <a:srgbClr val="000F08"/>
                          </a:solidFill>
                          <a:latin typeface="Roboto Slab"/>
                        </a:rPr>
                        <a:t>A false negative in matching</a:t>
                      </a:r>
                    </a:p>
                  </a:txBody>
                  <a:tcPr marL="88897" marR="88897" marT="50798" marB="38099" anchor="t">
                    <a:solidFill>
                      <a:srgbClr val="FFFFFF"/>
                    </a:solidFill>
                  </a:tcPr>
                </a:tc>
                <a:tc>
                  <a:txBody>
                    <a:bodyPr wrap="square"/>
                    <a:lstStyle/>
                    <a:p>
                      <a:pPr algn="l"/>
                      <a:r>
                        <a:rPr sz="1249" b="0">
                          <a:solidFill>
                            <a:srgbClr val="000F08"/>
                          </a:solidFill>
                          <a:latin typeface="Lora"/>
                        </a:rPr>
                        <a:t>low</a:t>
                      </a:r>
                    </a:p>
                  </a:txBody>
                  <a:tcPr marL="88897" marR="88897" marT="50798" marB="38099" anchor="t">
                    <a:solidFill>
                      <a:srgbClr val="FFFFFF"/>
                    </a:solidFill>
                  </a:tcPr>
                </a:tc>
                <a:tc>
                  <a:txBody>
                    <a:bodyPr wrap="square"/>
                    <a:lstStyle/>
                    <a:p>
                      <a:pPr algn="l"/>
                      <a:r>
                        <a:rPr sz="1249" b="0">
                          <a:solidFill>
                            <a:srgbClr val="000F08"/>
                          </a:solidFill>
                          <a:latin typeface="Lora"/>
                        </a:rPr>
                        <a:t>high</a:t>
                      </a:r>
                    </a:p>
                  </a:txBody>
                  <a:tcPr marL="88897" marR="88897" marT="50798" marB="38099" anchor="t">
                    <a:solidFill>
                      <a:srgbClr val="FFFFFF"/>
                    </a:solidFill>
                  </a:tcPr>
                </a:tc>
                <a:tc>
                  <a:txBody>
                    <a:bodyPr wrap="square"/>
                    <a:lstStyle/>
                    <a:p>
                      <a:pPr algn="l"/>
                      <a:r>
                        <a:rPr sz="1249" b="0">
                          <a:solidFill>
                            <a:srgbClr val="000F08"/>
                          </a:solidFill>
                          <a:latin typeface="Lora"/>
                        </a:rPr>
                        <a:t>Exact keys first, lexical with brand overlap second, then the model on the ambiguous pairs. The verifier sees the confirmed matches.</a:t>
                      </a:r>
                    </a:p>
                  </a:txBody>
                  <a:tcPr marL="88897" marR="88897" marT="50798" marB="38099" anchor="t">
                    <a:solidFill>
                      <a:srgbClr val="FFFFFF"/>
                    </a:solidFill>
                  </a:tcPr>
                </a:tc>
              </a:tr>
              <a:tr h="514337">
                <a:tc>
                  <a:txBody>
                    <a:bodyPr wrap="square"/>
                    <a:lstStyle/>
                    <a:p>
                      <a:pPr algn="l"/>
                      <a:r>
                        <a:rPr sz="1249" b="1">
                          <a:solidFill>
                            <a:srgbClr val="000F08"/>
                          </a:solidFill>
                          <a:latin typeface="Roboto Slab"/>
                        </a:rPr>
                        <a:t>A false positive interrupts the household</a:t>
                      </a:r>
                    </a:p>
                  </a:txBody>
                  <a:tcPr marL="88897" marR="88897" marT="50798" marB="38099" anchor="t">
                    <a:solidFill>
                      <a:srgbClr val="EFEBE9"/>
                    </a:solidFill>
                  </a:tcPr>
                </a:tc>
                <a:tc>
                  <a:txBody>
                    <a:bodyPr wrap="square"/>
                    <a:lstStyle/>
                    <a:p>
                      <a:pPr algn="l"/>
                      <a:r>
                        <a:rPr sz="1249" b="0">
                          <a:solidFill>
                            <a:srgbClr val="000F08"/>
                          </a:solidFill>
                          <a:latin typeface="Lora"/>
                        </a:rPr>
                        <a:t>medium</a:t>
                      </a:r>
                    </a:p>
                  </a:txBody>
                  <a:tcPr marL="88897" marR="88897" marT="50798" marB="38099" anchor="t">
                    <a:solidFill>
                      <a:srgbClr val="EFEBE9"/>
                    </a:solidFill>
                  </a:tcPr>
                </a:tc>
                <a:tc>
                  <a:txBody>
                    <a:bodyPr wrap="square"/>
                    <a:lstStyle/>
                    <a:p>
                      <a:pPr algn="l"/>
                      <a:r>
                        <a:rPr sz="1249" b="0">
                          <a:solidFill>
                            <a:srgbClr val="000F08"/>
                          </a:solidFill>
                          <a:latin typeface="Lora"/>
                        </a:rPr>
                        <a:t>medium</a:t>
                      </a:r>
                    </a:p>
                  </a:txBody>
                  <a:tcPr marL="88897" marR="88897" marT="50798" marB="38099" anchor="t">
                    <a:solidFill>
                      <a:srgbClr val="EFEBE9"/>
                    </a:solidFill>
                  </a:tcPr>
                </a:tc>
                <a:tc>
                  <a:txBody>
                    <a:bodyPr wrap="square"/>
                    <a:lstStyle/>
                    <a:p>
                      <a:pPr algn="l"/>
                      <a:r>
                        <a:rPr sz="1249" b="0">
                          <a:solidFill>
                            <a:srgbClr val="000F08"/>
                          </a:solidFill>
                          <a:latin typeface="Lora"/>
                        </a:rPr>
                        <a:t>The verifier can reject the plan. The budget limits interrupts. Snooze and decline are one tap.</a:t>
                      </a:r>
                    </a:p>
                  </a:txBody>
                  <a:tcPr marL="88897" marR="88897" marT="50798" marB="38099" anchor="t">
                    <a:solidFill>
                      <a:srgbClr val="EFEBE9"/>
                    </a:solidFill>
                  </a:tcPr>
                </a:tc>
              </a:tr>
              <a:tr h="514337">
                <a:tc>
                  <a:txBody>
                    <a:bodyPr wrap="square"/>
                    <a:lstStyle/>
                    <a:p>
                      <a:pPr algn="l"/>
                      <a:r>
                        <a:rPr sz="1249" b="1">
                          <a:solidFill>
                            <a:srgbClr val="000F08"/>
                          </a:solidFill>
                          <a:latin typeface="Roboto Slab"/>
                        </a:rPr>
                        <a:t>A remedy sent twice</a:t>
                      </a:r>
                    </a:p>
                  </a:txBody>
                  <a:tcPr marL="88897" marR="88897" marT="50798" marB="38099" anchor="t">
                    <a:solidFill>
                      <a:srgbClr val="FFFFFF"/>
                    </a:solidFill>
                  </a:tcPr>
                </a:tc>
                <a:tc>
                  <a:txBody>
                    <a:bodyPr wrap="square"/>
                    <a:lstStyle/>
                    <a:p>
                      <a:pPr algn="l"/>
                      <a:r>
                        <a:rPr sz="1249" b="0">
                          <a:solidFill>
                            <a:srgbClr val="000F08"/>
                          </a:solidFill>
                          <a:latin typeface="Lora"/>
                        </a:rPr>
                        <a:t>low</a:t>
                      </a:r>
                    </a:p>
                  </a:txBody>
                  <a:tcPr marL="88897" marR="88897" marT="50798" marB="38099" anchor="t">
                    <a:solidFill>
                      <a:srgbClr val="FFFFFF"/>
                    </a:solidFill>
                  </a:tcPr>
                </a:tc>
                <a:tc>
                  <a:txBody>
                    <a:bodyPr wrap="square"/>
                    <a:lstStyle/>
                    <a:p>
                      <a:pPr algn="l"/>
                      <a:r>
                        <a:rPr sz="1249" b="0">
                          <a:solidFill>
                            <a:srgbClr val="000F08"/>
                          </a:solidFill>
                          <a:latin typeface="Lora"/>
                        </a:rPr>
                        <a:t>high</a:t>
                      </a:r>
                    </a:p>
                  </a:txBody>
                  <a:tcPr marL="88897" marR="88897" marT="50798" marB="38099" anchor="t">
                    <a:solidFill>
                      <a:srgbClr val="FFFFFF"/>
                    </a:solidFill>
                  </a:tcPr>
                </a:tc>
                <a:tc>
                  <a:txBody>
                    <a:bodyPr wrap="square"/>
                    <a:lstStyle/>
                    <a:p>
                      <a:pPr algn="l"/>
                      <a:r>
                        <a:rPr sz="1249" b="0">
                          <a:solidFill>
                            <a:srgbClr val="000F08"/>
                          </a:solidFill>
                          <a:latin typeface="Lora"/>
                        </a:rPr>
                        <a:t>The side-effect node runs one time behind the gate. The frozen constraints forbid a retry without idempotency.</a:t>
                      </a:r>
                    </a:p>
                  </a:txBody>
                  <a:tcPr marL="88897" marR="88897" marT="50798" marB="38099" anchor="t">
                    <a:solidFill>
                      <a:srgbClr val="FFFFFF"/>
                    </a:solidFill>
                  </a:tcPr>
                </a:tc>
              </a:tr>
              <a:tr h="514337">
                <a:tc>
                  <a:txBody>
                    <a:bodyPr wrap="square"/>
                    <a:lstStyle/>
                    <a:p>
                      <a:pPr algn="l"/>
                      <a:r>
                        <a:rPr sz="1249" b="1">
                          <a:solidFill>
                            <a:srgbClr val="000F08"/>
                          </a:solidFill>
                          <a:latin typeface="Roboto Slab"/>
                        </a:rPr>
                        <a:t>The household never answers</a:t>
                      </a:r>
                    </a:p>
                  </a:txBody>
                  <a:tcPr marL="88897" marR="88897" marT="50798" marB="38099" anchor="t">
                    <a:solidFill>
                      <a:srgbClr val="EFEBE9"/>
                    </a:solidFill>
                  </a:tcPr>
                </a:tc>
                <a:tc>
                  <a:txBody>
                    <a:bodyPr wrap="square"/>
                    <a:lstStyle/>
                    <a:p>
                      <a:pPr algn="l"/>
                      <a:r>
                        <a:rPr sz="1249" b="0">
                          <a:solidFill>
                            <a:srgbClr val="000F08"/>
                          </a:solidFill>
                          <a:latin typeface="Lora"/>
                        </a:rPr>
                        <a:t>high</a:t>
                      </a:r>
                    </a:p>
                  </a:txBody>
                  <a:tcPr marL="88897" marR="88897" marT="50798" marB="38099" anchor="t">
                    <a:solidFill>
                      <a:srgbClr val="EFEBE9"/>
                    </a:solidFill>
                  </a:tcPr>
                </a:tc>
                <a:tc>
                  <a:txBody>
                    <a:bodyPr wrap="square"/>
                    <a:lstStyle/>
                    <a:p>
                      <a:pPr algn="l"/>
                      <a:r>
                        <a:rPr sz="1249" b="0">
                          <a:solidFill>
                            <a:srgbClr val="000F08"/>
                          </a:solidFill>
                          <a:latin typeface="Lora"/>
                        </a:rPr>
                        <a:t>low</a:t>
                      </a:r>
                    </a:p>
                  </a:txBody>
                  <a:tcPr marL="88897" marR="88897" marT="50798" marB="38099" anchor="t">
                    <a:solidFill>
                      <a:srgbClr val="EFEBE9"/>
                    </a:solidFill>
                  </a:tcPr>
                </a:tc>
                <a:tc>
                  <a:txBody>
                    <a:bodyPr wrap="square"/>
                    <a:lstStyle/>
                    <a:p>
                      <a:pPr algn="l"/>
                      <a:r>
                        <a:rPr sz="1249" b="0">
                          <a:solidFill>
                            <a:srgbClr val="000F08"/>
                          </a:solidFill>
                          <a:latin typeface="Lora"/>
                        </a:rPr>
                        <a:t>A decision expires after 72 hours. Nothing is sent without an approval. The digest keeps the record.</a:t>
                      </a:r>
                    </a:p>
                  </a:txBody>
                  <a:tcPr marL="88897" marR="88897" marT="50798" marB="38099" anchor="t">
                    <a:solidFill>
                      <a:srgbClr val="EFEBE9"/>
                    </a:solidFill>
                  </a:tcPr>
                </a:tc>
              </a:tr>
              <a:tr h="514337">
                <a:tc>
                  <a:txBody>
                    <a:bodyPr wrap="square"/>
                    <a:lstStyle/>
                    <a:p>
                      <a:pPr algn="l"/>
                      <a:r>
                        <a:rPr sz="1249" b="1">
                          <a:solidFill>
                            <a:srgbClr val="000F08"/>
                          </a:solidFill>
                          <a:latin typeface="Roboto Slab"/>
                        </a:rPr>
                        <a:t>The demo token leaks</a:t>
                      </a:r>
                    </a:p>
                  </a:txBody>
                  <a:tcPr marL="88897" marR="88897" marT="50798" marB="38099" anchor="t">
                    <a:solidFill>
                      <a:srgbClr val="FFFFFF"/>
                    </a:solidFill>
                  </a:tcPr>
                </a:tc>
                <a:tc>
                  <a:txBody>
                    <a:bodyPr wrap="square"/>
                    <a:lstStyle/>
                    <a:p>
                      <a:pPr algn="l"/>
                      <a:r>
                        <a:rPr sz="1249" b="0">
                          <a:solidFill>
                            <a:srgbClr val="000F08"/>
                          </a:solidFill>
                          <a:latin typeface="Lora"/>
                        </a:rPr>
                        <a:t>low</a:t>
                      </a:r>
                    </a:p>
                  </a:txBody>
                  <a:tcPr marL="88897" marR="88897" marT="50798" marB="38099" anchor="t">
                    <a:solidFill>
                      <a:srgbClr val="FFFFFF"/>
                    </a:solidFill>
                  </a:tcPr>
                </a:tc>
                <a:tc>
                  <a:txBody>
                    <a:bodyPr wrap="square"/>
                    <a:lstStyle/>
                    <a:p>
                      <a:pPr algn="l"/>
                      <a:r>
                        <a:rPr sz="1249" b="0">
                          <a:solidFill>
                            <a:srgbClr val="000F08"/>
                          </a:solidFill>
                          <a:latin typeface="Lora"/>
                        </a:rPr>
                        <a:t>low</a:t>
                      </a:r>
                    </a:p>
                  </a:txBody>
                  <a:tcPr marL="88897" marR="88897" marT="50798" marB="38099" anchor="t">
                    <a:solidFill>
                      <a:srgbClr val="FFFFFF"/>
                    </a:solidFill>
                  </a:tcPr>
                </a:tc>
                <a:tc>
                  <a:txBody>
                    <a:bodyPr wrap="square"/>
                    <a:lstStyle/>
                    <a:p>
                      <a:pPr algn="l"/>
                      <a:r>
                        <a:rPr sz="1249" b="0">
                          <a:solidFill>
                            <a:srgbClr val="000F08"/>
                          </a:solidFill>
                          <a:latin typeface="Lora"/>
                        </a:rPr>
                        <a:t>The token gates writes only. The daily cap bounds spend. A new token deploys in one update.</a:t>
                      </a:r>
                    </a:p>
                  </a:txBody>
                  <a:tcPr marL="88897" marR="88897" marT="50798" marB="38099" anchor="t">
                    <a:solidFill>
                      <a:srgbClr val="FFFFFF"/>
                    </a:solidFill>
                  </a:tcPr>
                </a:tc>
              </a:tr>
            </a:tbl>
          </a:graphicData>
        </a:graphic>
      </p:graphicFrame>
      <p:sp>
        <p:nvSpPr>
          <p:cNvPr id="5" name="TextBox 4"/>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ARCHITECTURE DECISIONS</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Why it is built this way</a:t>
            </a:r>
          </a:p>
        </p:txBody>
      </p:sp>
      <p:graphicFrame>
        <p:nvGraphicFramePr>
          <p:cNvPr id="4" name="Table 3"/>
          <p:cNvGraphicFramePr>
            <a:graphicFrameLocks noGrp="1"/>
          </p:cNvGraphicFramePr>
          <p:nvPr/>
        </p:nvGraphicFramePr>
        <p:xfrm>
          <a:off x="698482" y="1777955"/>
          <a:ext cx="10794730" cy="4406788"/>
        </p:xfrm>
        <a:graphic>
          <a:graphicData uri="http://schemas.openxmlformats.org/drawingml/2006/table">
            <a:tbl>
              <a:tblPr firstRow="1">
                <a:tableStyleId>{5C22544A-7EE6-4342-B048-85BDC9FD1C3A}</a:tableStyleId>
              </a:tblPr>
              <a:tblGrid>
                <a:gridCol w="3555911"/>
                <a:gridCol w="7238819"/>
              </a:tblGrid>
              <a:tr h="292092">
                <a:tc>
                  <a:txBody>
                    <a:bodyPr wrap="square"/>
                    <a:lstStyle/>
                    <a:p>
                      <a:pPr algn="l"/>
                      <a:r>
                        <a:rPr sz="1049" b="0">
                          <a:solidFill>
                            <a:srgbClr val="F7F4F3"/>
                          </a:solidFill>
                          <a:latin typeface="Habibi"/>
                        </a:rPr>
                        <a:t>DECISION</a:t>
                      </a:r>
                    </a:p>
                  </a:txBody>
                  <a:tcPr marL="88897" marR="88897" marT="50798" marB="38099" anchor="t">
                    <a:solidFill>
                      <a:srgbClr val="000F08"/>
                    </a:solidFill>
                  </a:tcPr>
                </a:tc>
                <a:tc>
                  <a:txBody>
                    <a:bodyPr wrap="square"/>
                    <a:lstStyle/>
                    <a:p>
                      <a:pPr algn="l"/>
                      <a:r>
                        <a:rPr sz="1049" b="0">
                          <a:solidFill>
                            <a:srgbClr val="F7F4F3"/>
                          </a:solidFill>
                          <a:latin typeface="Habibi"/>
                        </a:rPr>
                        <a:t>RATIONALE</a:t>
                      </a:r>
                    </a:p>
                  </a:txBody>
                  <a:tcPr marL="88897" marR="88897" marT="50798" marB="38099" anchor="t">
                    <a:solidFill>
                      <a:srgbClr val="000F08"/>
                    </a:solidFill>
                  </a:tcPr>
                </a:tc>
              </a:tr>
              <a:tr h="514337">
                <a:tc>
                  <a:txBody>
                    <a:bodyPr wrap="square"/>
                    <a:lstStyle/>
                    <a:p>
                      <a:pPr algn="l"/>
                      <a:r>
                        <a:rPr sz="1249" b="0">
                          <a:solidFill>
                            <a:srgbClr val="000F08"/>
                          </a:solidFill>
                          <a:latin typeface="Lora"/>
                        </a:rPr>
                        <a:t>gren on Strands, not a bare agent loop</a:t>
                      </a:r>
                    </a:p>
                  </a:txBody>
                  <a:tcPr marL="88897" marR="88897" marT="50798" marB="38099" anchor="t">
                    <a:solidFill>
                      <a:srgbClr val="FFFFFF"/>
                    </a:solidFill>
                  </a:tcPr>
                </a:tc>
                <a:tc>
                  <a:txBody>
                    <a:bodyPr wrap="square"/>
                    <a:lstStyle/>
                    <a:p>
                      <a:pPr algn="l"/>
                      <a:r>
                        <a:rPr sz="1249" b="0">
                          <a:solidFill>
                            <a:srgbClr val="000F08"/>
                          </a:solidFill>
                          <a:latin typeface="Lora"/>
                        </a:rPr>
                        <a:t>A YAML graph is inspectable, testable on a mock provider, and bounded. The engine, not the model, owns retries, budgets, and gates.</a:t>
                      </a:r>
                    </a:p>
                  </a:txBody>
                  <a:tcPr marL="88897" marR="88897" marT="50798" marB="38099" anchor="t">
                    <a:solidFill>
                      <a:srgbClr val="FFFFFF"/>
                    </a:solidFill>
                  </a:tcPr>
                </a:tc>
              </a:tr>
              <a:tr h="514337">
                <a:tc>
                  <a:txBody>
                    <a:bodyPr wrap="square"/>
                    <a:lstStyle/>
                    <a:p>
                      <a:pPr algn="l"/>
                      <a:r>
                        <a:rPr sz="1249" b="0">
                          <a:solidFill>
                            <a:srgbClr val="000F08"/>
                          </a:solidFill>
                          <a:latin typeface="Lora"/>
                        </a:rPr>
                        <a:t>Code first, model second</a:t>
                      </a:r>
                    </a:p>
                  </a:txBody>
                  <a:tcPr marL="88897" marR="88897" marT="50798" marB="38099" anchor="t">
                    <a:solidFill>
                      <a:srgbClr val="EFEBE9"/>
                    </a:solidFill>
                  </a:tcPr>
                </a:tc>
                <a:tc>
                  <a:txBody>
                    <a:bodyPr wrap="square"/>
                    <a:lstStyle/>
                    <a:p>
                      <a:pPr algn="l"/>
                      <a:r>
                        <a:rPr sz="1249" b="0">
                          <a:solidFill>
                            <a:srgbClr val="000F08"/>
                          </a:solidFill>
                          <a:latin typeface="Lora"/>
                        </a:rPr>
                        <a:t>Feed pagination, VIN decoding, UPC equality, and the sold window are code. Only the ambiguous pairs cost tokens. A quiet night is free.</a:t>
                      </a:r>
                    </a:p>
                  </a:txBody>
                  <a:tcPr marL="88897" marR="88897" marT="50798" marB="38099" anchor="t">
                    <a:solidFill>
                      <a:srgbClr val="EFEBE9"/>
                    </a:solidFill>
                  </a:tcPr>
                </a:tc>
              </a:tr>
              <a:tr h="514337">
                <a:tc>
                  <a:txBody>
                    <a:bodyPr wrap="square"/>
                    <a:lstStyle/>
                    <a:p>
                      <a:pPr algn="l"/>
                      <a:r>
                        <a:rPr sz="1249" b="0">
                          <a:solidFill>
                            <a:srgbClr val="000F08"/>
                          </a:solidFill>
                          <a:latin typeface="Lora"/>
                        </a:rPr>
                        <a:t>An adversarial verifier with kill authority</a:t>
                      </a:r>
                    </a:p>
                  </a:txBody>
                  <a:tcPr marL="88897" marR="88897" marT="50798" marB="38099" anchor="t">
                    <a:solidFill>
                      <a:srgbClr val="FFFFFF"/>
                    </a:solidFill>
                  </a:tcPr>
                </a:tc>
                <a:tc>
                  <a:txBody>
                    <a:bodyPr wrap="square"/>
                    <a:lstStyle/>
                    <a:p>
                      <a:pPr algn="l"/>
                      <a:r>
                        <a:rPr sz="1249" b="0">
                          <a:solidFill>
                            <a:srgbClr val="000F08"/>
                          </a:solidFill>
                          <a:latin typeface="Lora"/>
                        </a:rPr>
                        <a:t>A second prompt agrees too often. A verifier that can reject and repair the plan catches the plan that interrupts for nothing.</a:t>
                      </a:r>
                    </a:p>
                  </a:txBody>
                  <a:tcPr marL="88897" marR="88897" marT="50798" marB="38099" anchor="t">
                    <a:solidFill>
                      <a:srgbClr val="FFFFFF"/>
                    </a:solidFill>
                  </a:tcPr>
                </a:tc>
              </a:tr>
              <a:tr h="514337">
                <a:tc>
                  <a:txBody>
                    <a:bodyPr wrap="square"/>
                    <a:lstStyle/>
                    <a:p>
                      <a:pPr algn="l"/>
                      <a:r>
                        <a:rPr sz="1249" b="0">
                          <a:solidFill>
                            <a:srgbClr val="000F08"/>
                          </a:solidFill>
                          <a:latin typeface="Lora"/>
                        </a:rPr>
                        <a:t>Gates as Strands interrupts with a checkpoint on disk</a:t>
                      </a:r>
                    </a:p>
                  </a:txBody>
                  <a:tcPr marL="88897" marR="88897" marT="50798" marB="38099" anchor="t">
                    <a:solidFill>
                      <a:srgbClr val="EFEBE9"/>
                    </a:solidFill>
                  </a:tcPr>
                </a:tc>
                <a:tc>
                  <a:txBody>
                    <a:bodyPr wrap="square"/>
                    <a:lstStyle/>
                    <a:p>
                      <a:pPr algn="l"/>
                      <a:r>
                        <a:rPr sz="1249" b="0">
                          <a:solidFill>
                            <a:srgbClr val="000F08"/>
                          </a:solidFill>
                          <a:latin typeface="Lora"/>
                        </a:rPr>
                        <a:t>A household answers hours later. The process must be free to exit. Resume replays completed nodes with no new model calls.</a:t>
                      </a:r>
                    </a:p>
                  </a:txBody>
                  <a:tcPr marL="88897" marR="88897" marT="50798" marB="38099" anchor="t">
                    <a:solidFill>
                      <a:srgbClr val="EFEBE9"/>
                    </a:solidFill>
                  </a:tcPr>
                </a:tc>
              </a:tr>
              <a:tr h="514337">
                <a:tc>
                  <a:txBody>
                    <a:bodyPr wrap="square"/>
                    <a:lstStyle/>
                    <a:p>
                      <a:pPr algn="l"/>
                      <a:r>
                        <a:rPr sz="1249" b="0">
                          <a:solidFill>
                            <a:srgbClr val="000F08"/>
                          </a:solidFill>
                          <a:latin typeface="Lora"/>
                        </a:rPr>
                        <a:t>A JSON store shaped like the DynamoDB design</a:t>
                      </a:r>
                    </a:p>
                  </a:txBody>
                  <a:tcPr marL="88897" marR="88897" marT="50798" marB="38099" anchor="t">
                    <a:solidFill>
                      <a:srgbClr val="FFFFFF"/>
                    </a:solidFill>
                  </a:tcPr>
                </a:tc>
                <a:tc>
                  <a:txBody>
                    <a:bodyPr wrap="square"/>
                    <a:lstStyle/>
                    <a:p>
                      <a:pPr algn="l"/>
                      <a:r>
                        <a:rPr sz="1249" b="0">
                          <a:solidFill>
                            <a:srgbClr val="000F08"/>
                          </a:solidFill>
                          <a:latin typeface="Lora"/>
                        </a:rPr>
                        <a:t>One file per entity keeps the beta simple. The shape matches the plan, so the move to DynamoDB is a driver change.</a:t>
                      </a:r>
                    </a:p>
                  </a:txBody>
                  <a:tcPr marL="88897" marR="88897" marT="50798" marB="38099" anchor="t">
                    <a:solidFill>
                      <a:srgbClr val="FFFFFF"/>
                    </a:solidFill>
                  </a:tcPr>
                </a:tc>
              </a:tr>
              <a:tr h="514337">
                <a:tc>
                  <a:txBody>
                    <a:bodyPr wrap="square"/>
                    <a:lstStyle/>
                    <a:p>
                      <a:pPr algn="l"/>
                      <a:r>
                        <a:rPr sz="1249" b="0">
                          <a:solidFill>
                            <a:srgbClr val="000F08"/>
                          </a:solidFill>
                          <a:latin typeface="Lora"/>
                        </a:rPr>
                        <a:t>EC2 and Caddy today, AgentCore next</a:t>
                      </a:r>
                    </a:p>
                  </a:txBody>
                  <a:tcPr marL="88897" marR="88897" marT="50798" marB="38099" anchor="t">
                    <a:solidFill>
                      <a:srgbClr val="EFEBE9"/>
                    </a:solidFill>
                  </a:tcPr>
                </a:tc>
                <a:tc>
                  <a:txBody>
                    <a:bodyPr wrap="square"/>
                    <a:lstStyle/>
                    <a:p>
                      <a:pPr algn="l"/>
                      <a:r>
                        <a:rPr sz="1249" b="0">
                          <a:solidFill>
                            <a:srgbClr val="000F08"/>
                          </a:solidFill>
                          <a:latin typeface="Lora"/>
                        </a:rPr>
                        <a:t>The account quotas for AgentCore are 0 and only AWS Support can raise them. One instance gives a public HTTPS URL now. The AgentCore entrypoint is built.</a:t>
                      </a:r>
                    </a:p>
                  </a:txBody>
                  <a:tcPr marL="88897" marR="88897" marT="50798" marB="38099" anchor="t">
                    <a:solidFill>
                      <a:srgbClr val="EFEBE9"/>
                    </a:solidFill>
                  </a:tcPr>
                </a:tc>
              </a:tr>
              <a:tr h="514337">
                <a:tc>
                  <a:txBody>
                    <a:bodyPr wrap="square"/>
                    <a:lstStyle/>
                    <a:p>
                      <a:pPr algn="l"/>
                      <a:r>
                        <a:rPr sz="1249" b="0">
                          <a:solidFill>
                            <a:srgbClr val="000F08"/>
                          </a:solidFill>
                          <a:latin typeface="Lora"/>
                        </a:rPr>
                        <a:t>Token gate and daily cap on the public demo</a:t>
                      </a:r>
                    </a:p>
                  </a:txBody>
                  <a:tcPr marL="88897" marR="88897" marT="50798" marB="38099" anchor="t">
                    <a:solidFill>
                      <a:srgbClr val="FFFFFF"/>
                    </a:solidFill>
                  </a:tcPr>
                </a:tc>
                <a:tc>
                  <a:txBody>
                    <a:bodyPr wrap="square"/>
                    <a:lstStyle/>
                    <a:p>
                      <a:pPr algn="l"/>
                      <a:r>
                        <a:rPr sz="1249" b="0">
                          <a:solidFill>
                            <a:srgbClr val="000F08"/>
                          </a:solidFill>
                          <a:latin typeface="Lora"/>
                        </a:rPr>
                        <a:t>Reads are open for judges. Writes need the token. The cap protects the account whatever happens.</a:t>
                      </a:r>
                    </a:p>
                  </a:txBody>
                  <a:tcPr marL="88897" marR="88897" marT="50798" marB="38099" anchor="t">
                    <a:solidFill>
                      <a:srgbClr val="FFFFFF"/>
                    </a:solidFill>
                  </a:tcPr>
                </a:tc>
              </a:tr>
              <a:tr h="514337">
                <a:tc>
                  <a:txBody>
                    <a:bodyPr wrap="square"/>
                    <a:lstStyle/>
                    <a:p>
                      <a:pPr algn="l"/>
                      <a:r>
                        <a:rPr sz="1249" b="0">
                          <a:solidFill>
                            <a:srgbClr val="000F08"/>
                          </a:solidFill>
                          <a:latin typeface="Lora"/>
                        </a:rPr>
                        <a:t>The Agent flow tab as a full trace workbench</a:t>
                      </a:r>
                    </a:p>
                  </a:txBody>
                  <a:tcPr marL="88897" marR="88897" marT="50798" marB="38099" anchor="t">
                    <a:solidFill>
                      <a:srgbClr val="EFEBE9"/>
                    </a:solidFill>
                  </a:tcPr>
                </a:tc>
                <a:tc>
                  <a:txBody>
                    <a:bodyPr wrap="square"/>
                    <a:lstStyle/>
                    <a:p>
                      <a:pPr algn="l"/>
                      <a:r>
                        <a:rPr sz="1249" b="0">
                          <a:solidFill>
                            <a:srgbClr val="000F08"/>
                          </a:solidFill>
                          <a:latin typeface="Lora"/>
                        </a:rPr>
                        <a:t>An agent that acts at night must show its work in the morning. The workbench follows the execution UI of Kestra: overview, timeline, logs, replay.</a:t>
                      </a:r>
                    </a:p>
                  </a:txBody>
                  <a:tcPr marL="88897" marR="88897" marT="50798" marB="38099" anchor="t">
                    <a:solidFill>
                      <a:srgbClr val="EFEBE9"/>
                    </a:solidFill>
                  </a:tcPr>
                </a:tc>
              </a:tr>
            </a:tbl>
          </a:graphicData>
        </a:graphic>
      </p:graphicFrame>
      <p:sp>
        <p:nvSpPr>
          <p:cNvPr id="5" name="TextBox 4"/>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ENVIRONMENT SETUP AND PREREQUISITES</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What a new machine needs</a:t>
            </a:r>
          </a:p>
        </p:txBody>
      </p:sp>
      <p:cxnSp>
        <p:nvCxnSpPr>
          <p:cNvPr id="4" name="Connector 3"/>
          <p:cNvCxnSpPr/>
          <p:nvPr/>
        </p:nvCxnSpPr>
        <p:spPr>
          <a:xfrm>
            <a:off x="698482"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8482"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ACCOUNT AND ACCESS</a:t>
            </a:r>
          </a:p>
        </p:txBody>
      </p:sp>
      <p:sp>
        <p:nvSpPr>
          <p:cNvPr id="6" name="Rectangle 5"/>
          <p:cNvSpPr/>
          <p:nvPr/>
        </p:nvSpPr>
        <p:spPr>
          <a:xfrm>
            <a:off x="698482"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8977" y="2387540"/>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An AWS account with a payment method. Region us-east-1.</a:t>
            </a:r>
          </a:p>
        </p:txBody>
      </p:sp>
      <p:sp>
        <p:nvSpPr>
          <p:cNvPr id="8" name="Rectangle 7"/>
          <p:cNvSpPr/>
          <p:nvPr/>
        </p:nvSpPr>
        <p:spPr>
          <a:xfrm>
            <a:off x="698482" y="296772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2887399"/>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aws login --profile guardian (browser credentials, 12 h, renewable 90 days). No access keys in the repo.</a:t>
            </a:r>
          </a:p>
        </p:txBody>
      </p:sp>
      <p:sp>
        <p:nvSpPr>
          <p:cNvPr id="10" name="Rectangle 9"/>
          <p:cNvSpPr/>
          <p:nvPr/>
        </p:nvSpPr>
        <p:spPr>
          <a:xfrm>
            <a:off x="698482" y="36603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977" y="3580040"/>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Bedrock authorization for the account. A new account answers Operation not allowed until AWS Support grants it.</a:t>
            </a:r>
          </a:p>
        </p:txBody>
      </p:sp>
      <p:sp>
        <p:nvSpPr>
          <p:cNvPr id="12" name="Rectangle 11"/>
          <p:cNvSpPr/>
          <p:nvPr/>
        </p:nvSpPr>
        <p:spPr>
          <a:xfrm>
            <a:off x="698482" y="435300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977" y="4272681"/>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AgentCore quotas above 0 for the AgentCore path (agents, endpoints, versions). Support case only.</a:t>
            </a:r>
          </a:p>
        </p:txBody>
      </p:sp>
      <p:cxnSp>
        <p:nvCxnSpPr>
          <p:cNvPr id="14" name="Connector 13"/>
          <p:cNvCxnSpPr/>
          <p:nvPr/>
        </p:nvCxnSpPr>
        <p:spPr>
          <a:xfrm>
            <a:off x="4398323"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98323"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MODEL ACCESS</a:t>
            </a:r>
          </a:p>
        </p:txBody>
      </p:sp>
      <p:sp>
        <p:nvSpPr>
          <p:cNvPr id="16" name="Rectangle 15"/>
          <p:cNvSpPr/>
          <p:nvPr/>
        </p:nvSpPr>
        <p:spPr>
          <a:xfrm>
            <a:off x="4398323"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8818" y="2387540"/>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Claude Haiku 4.5: global.anthropic.claude-haiku-4-5-20251001-v1:0</a:t>
            </a:r>
          </a:p>
        </p:txBody>
      </p:sp>
      <p:sp>
        <p:nvSpPr>
          <p:cNvPr id="18" name="Rectangle 17"/>
          <p:cNvSpPr/>
          <p:nvPr/>
        </p:nvSpPr>
        <p:spPr>
          <a:xfrm>
            <a:off x="4398323" y="296772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8818" y="2887399"/>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Claude Sonnet 5: global.anthropic.claude-sonnet-5</a:t>
            </a:r>
          </a:p>
        </p:txBody>
      </p:sp>
      <p:sp>
        <p:nvSpPr>
          <p:cNvPr id="20" name="Rectangle 19"/>
          <p:cNvSpPr/>
          <p:nvPr/>
        </p:nvSpPr>
        <p:spPr>
          <a:xfrm>
            <a:off x="4398323" y="3467584"/>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8818" y="3387259"/>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Claude Opus 5: global.anthropic.claude-opus-5</a:t>
            </a:r>
          </a:p>
        </p:txBody>
      </p:sp>
      <p:sp>
        <p:nvSpPr>
          <p:cNvPr id="22" name="Rectangle 21"/>
          <p:cNvSpPr/>
          <p:nvPr/>
        </p:nvSpPr>
        <p:spPr>
          <a:xfrm>
            <a:off x="4398323" y="3967444"/>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88818" y="3887118"/>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GREN_BRIDGE selects the provider: bedrock, anthropic, claude-code, or mock. ANTHROPIC_API_KEY is the fallback.</a:t>
            </a:r>
          </a:p>
        </p:txBody>
      </p:sp>
      <p:cxnSp>
        <p:nvCxnSpPr>
          <p:cNvPr id="24" name="Connector 23"/>
          <p:cNvCxnSpPr/>
          <p:nvPr/>
        </p:nvCxnSpPr>
        <p:spPr>
          <a:xfrm>
            <a:off x="8098164"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098164"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LOCAL TOOLING AND ENVIRONMENT</a:t>
            </a:r>
          </a:p>
        </p:txBody>
      </p:sp>
      <p:sp>
        <p:nvSpPr>
          <p:cNvPr id="26" name="Rectangle 25"/>
          <p:cNvSpPr/>
          <p:nvPr/>
        </p:nvSpPr>
        <p:spPr>
          <a:xfrm>
            <a:off x="8098164"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88659" y="2387540"/>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Python 3.11 or later, Node 22, Chrome for the screenshots.</a:t>
            </a:r>
          </a:p>
        </p:txBody>
      </p:sp>
      <p:sp>
        <p:nvSpPr>
          <p:cNvPr id="28" name="Rectangle 27"/>
          <p:cNvSpPr/>
          <p:nvPr/>
        </p:nvSpPr>
        <p:spPr>
          <a:xfrm>
            <a:off x="8098164" y="296772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88659" y="2887399"/>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pip install -e ./gren[dev] -e .[dev], then cd web &amp;&amp; npm ci.</a:t>
            </a:r>
          </a:p>
        </p:txBody>
      </p:sp>
      <p:sp>
        <p:nvSpPr>
          <p:cNvPr id="30" name="Rectangle 29"/>
          <p:cNvSpPr/>
          <p:nvPr/>
        </p:nvSpPr>
        <p:spPr>
          <a:xfrm>
            <a:off x="8098164" y="3467584"/>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88659" y="3387259"/>
            <a:ext cx="3204553" cy="771124"/>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The .env file: GUARDIAN_DAILY_BUDGET_USD, GUARDIAN_S3_BUCKET, GUARDIAN_API_TOKEN, GUARDIAN_SES_FROM, GUARDIAN_FEEDS. See .env.example.</a:t>
            </a:r>
          </a:p>
        </p:txBody>
      </p:sp>
      <p:sp>
        <p:nvSpPr>
          <p:cNvPr id="32" name="Rectangle 31"/>
          <p:cNvSpPr/>
          <p:nvPr/>
        </p:nvSpPr>
        <p:spPr>
          <a:xfrm>
            <a:off x="8098164" y="435300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88659" y="4272681"/>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Tests: GREN_ALLOW_MOCK=1 python -m pytest -q (48 tests, about 30 s).</a:t>
            </a:r>
          </a:p>
        </p:txBody>
      </p:sp>
      <p:sp>
        <p:nvSpPr>
          <p:cNvPr id="34" name="TextBox 33"/>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FCBA04"/>
                </a:solidFill>
                <a:latin typeface="Habibi"/>
              </a:rPr>
              <a:t>DEPLOYMENT</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F7F4F3"/>
                </a:solidFill>
                <a:latin typeface="Roboto Slab"/>
              </a:rPr>
              <a:t>One instance today, AgentCore next</a:t>
            </a:r>
          </a:p>
        </p:txBody>
      </p:sp>
      <p:sp>
        <p:nvSpPr>
          <p:cNvPr id="4" name="Rounded Rectangle 3"/>
          <p:cNvSpPr/>
          <p:nvPr/>
        </p:nvSpPr>
        <p:spPr>
          <a:xfrm>
            <a:off x="698482" y="1841453"/>
            <a:ext cx="2412939" cy="1523961"/>
          </a:xfrm>
          <a:prstGeom prst="roundRect">
            <a:avLst>
              <a:gd name="adj" fmla="val 4999"/>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179" y="1955751"/>
            <a:ext cx="2133546" cy="228594"/>
          </a:xfrm>
          <a:prstGeom prst="rect">
            <a:avLst/>
          </a:prstGeom>
          <a:noFill/>
        </p:spPr>
        <p:txBody>
          <a:bodyPr wrap="square" lIns="0" rIns="0" tIns="0" bIns="0" anchor="t">
            <a:spAutoFit/>
          </a:bodyPr>
          <a:lstStyle/>
          <a:p>
            <a:pPr algn="l"/>
            <a:r>
              <a:rPr sz="1299" b="1" i="0">
                <a:solidFill>
                  <a:srgbClr val="F7F4F3"/>
                </a:solidFill>
                <a:latin typeface="Roboto Slab"/>
              </a:rPr>
              <a:t>deploy_ec2.py</a:t>
            </a:r>
          </a:p>
        </p:txBody>
      </p:sp>
      <p:sp>
        <p:nvSpPr>
          <p:cNvPr id="6" name="TextBox 5"/>
          <p:cNvSpPr txBox="1"/>
          <p:nvPr/>
        </p:nvSpPr>
        <p:spPr>
          <a:xfrm>
            <a:off x="838179" y="2209744"/>
            <a:ext cx="2133546" cy="1079473"/>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up, update, status, logs, run, down. Builds the dashboard, uploads the release and config/env, creates the role, the security group, the elastic IP, and the instance.</a:t>
            </a:r>
          </a:p>
        </p:txBody>
      </p:sp>
      <p:cxnSp>
        <p:nvCxnSpPr>
          <p:cNvPr id="7" name="Connector 6"/>
          <p:cNvCxnSpPr/>
          <p:nvPr/>
        </p:nvCxnSpPr>
        <p:spPr>
          <a:xfrm>
            <a:off x="3111422" y="2603434"/>
            <a:ext cx="304792"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8" name="Isosceles Triangle 7"/>
          <p:cNvSpPr/>
          <p:nvPr/>
        </p:nvSpPr>
        <p:spPr>
          <a:xfrm rot="5400000">
            <a:off x="3416214" y="2558986"/>
            <a:ext cx="7619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92412" y="1841453"/>
            <a:ext cx="2412939" cy="1523961"/>
          </a:xfrm>
          <a:prstGeom prst="roundRect">
            <a:avLst>
              <a:gd name="adj" fmla="val 4999"/>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2109" y="1955751"/>
            <a:ext cx="2133546" cy="228594"/>
          </a:xfrm>
          <a:prstGeom prst="rect">
            <a:avLst/>
          </a:prstGeom>
          <a:noFill/>
        </p:spPr>
        <p:txBody>
          <a:bodyPr wrap="square" lIns="0" rIns="0" tIns="0" bIns="0" anchor="t">
            <a:spAutoFit/>
          </a:bodyPr>
          <a:lstStyle/>
          <a:p>
            <a:pPr algn="l"/>
            <a:r>
              <a:rPr sz="1299" b="1" i="0">
                <a:solidFill>
                  <a:srgbClr val="F7F4F3"/>
                </a:solidFill>
                <a:latin typeface="Roboto Slab"/>
              </a:rPr>
              <a:t>S3 state bucket</a:t>
            </a:r>
          </a:p>
        </p:txBody>
      </p:sp>
      <p:sp>
        <p:nvSpPr>
          <p:cNvPr id="11" name="TextBox 10"/>
          <p:cNvSpPr txBox="1"/>
          <p:nvPr/>
        </p:nvSpPr>
        <p:spPr>
          <a:xfrm>
            <a:off x="3632109" y="2209744"/>
            <a:ext cx="2133546" cy="1079473"/>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releases/latest.zip and config/env for the instance. guardian/household and guardian/runs: the mirrored stores.</a:t>
            </a:r>
          </a:p>
        </p:txBody>
      </p:sp>
      <p:cxnSp>
        <p:nvCxnSpPr>
          <p:cNvPr id="12" name="Connector 11"/>
          <p:cNvCxnSpPr/>
          <p:nvPr/>
        </p:nvCxnSpPr>
        <p:spPr>
          <a:xfrm>
            <a:off x="5905352" y="2603434"/>
            <a:ext cx="304792"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6210144" y="2558986"/>
            <a:ext cx="7619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6342" y="1777955"/>
            <a:ext cx="5206869" cy="2984425"/>
          </a:xfrm>
          <a:prstGeom prst="roundRect">
            <a:avLst>
              <a:gd name="adj" fmla="val 2978"/>
            </a:avLst>
          </a:prstGeom>
          <a:solidFill>
            <a:srgbClr val="131F18"/>
          </a:solidFill>
          <a:ln w="19050">
            <a:solidFill>
              <a:srgbClr val="FCBA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6039" y="1892252"/>
            <a:ext cx="4927476" cy="215894"/>
          </a:xfrm>
          <a:prstGeom prst="rect">
            <a:avLst/>
          </a:prstGeom>
          <a:noFill/>
        </p:spPr>
        <p:txBody>
          <a:bodyPr wrap="square" lIns="0" rIns="0" tIns="0" bIns="0" anchor="t">
            <a:spAutoFit/>
          </a:bodyPr>
          <a:lstStyle/>
          <a:p>
            <a:pPr algn="l"/>
            <a:r>
              <a:rPr sz="1299" b="1" i="0">
                <a:solidFill>
                  <a:srgbClr val="F7F4F3"/>
                </a:solidFill>
                <a:latin typeface="Roboto Slab"/>
              </a:rPr>
              <a:t>EC2 t3.small · Amazon Linux 2023</a:t>
            </a:r>
          </a:p>
        </p:txBody>
      </p:sp>
      <p:sp>
        <p:nvSpPr>
          <p:cNvPr id="16" name="TextBox 15"/>
          <p:cNvSpPr txBox="1"/>
          <p:nvPr/>
        </p:nvSpPr>
        <p:spPr>
          <a:xfrm>
            <a:off x="6426039" y="2133546"/>
            <a:ext cx="4927476" cy="190495"/>
          </a:xfrm>
          <a:prstGeom prst="rect">
            <a:avLst/>
          </a:prstGeom>
          <a:noFill/>
        </p:spPr>
        <p:txBody>
          <a:bodyPr wrap="square" lIns="0" rIns="0" tIns="0" bIns="0" anchor="t">
            <a:spAutoFit/>
          </a:bodyPr>
          <a:lstStyle/>
          <a:p>
            <a:pPr algn="l"/>
            <a:r>
              <a:rPr sz="1099" b="0" i="0" spc="100">
                <a:solidFill>
                  <a:srgbClr val="FCBA04"/>
                </a:solidFill>
                <a:latin typeface="Habibi"/>
              </a:rPr>
              <a:t>INSTALL.SH RUNS ON THE FIRST BOOT AND ON EVERY UPDATE</a:t>
            </a:r>
          </a:p>
        </p:txBody>
      </p:sp>
      <p:sp>
        <p:nvSpPr>
          <p:cNvPr id="17" name="Rounded Rectangle 16"/>
          <p:cNvSpPr/>
          <p:nvPr/>
        </p:nvSpPr>
        <p:spPr>
          <a:xfrm>
            <a:off x="6426039" y="2412939"/>
            <a:ext cx="2387540" cy="1079473"/>
          </a:xfrm>
          <a:prstGeom prst="roundRect">
            <a:avLst>
              <a:gd name="adj" fmla="val 5882"/>
            </a:avLst>
          </a:prstGeom>
          <a:solidFill>
            <a:srgbClr val="000F0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0336" y="2501837"/>
            <a:ext cx="2158946" cy="203194"/>
          </a:xfrm>
          <a:prstGeom prst="rect">
            <a:avLst/>
          </a:prstGeom>
          <a:noFill/>
        </p:spPr>
        <p:txBody>
          <a:bodyPr wrap="square" lIns="0" rIns="0" tIns="0" bIns="0" anchor="t">
            <a:spAutoFit/>
          </a:bodyPr>
          <a:lstStyle/>
          <a:p>
            <a:pPr algn="l"/>
            <a:r>
              <a:rPr sz="1099" b="1" i="0">
                <a:solidFill>
                  <a:srgbClr val="6FB3E3"/>
                </a:solidFill>
                <a:latin typeface="Consolas"/>
              </a:rPr>
              <a:t>Caddy :443</a:t>
            </a:r>
          </a:p>
        </p:txBody>
      </p:sp>
      <p:sp>
        <p:nvSpPr>
          <p:cNvPr id="19" name="TextBox 18"/>
          <p:cNvSpPr txBox="1"/>
          <p:nvPr/>
        </p:nvSpPr>
        <p:spPr>
          <a:xfrm>
            <a:off x="6540336" y="2743131"/>
            <a:ext cx="2158946" cy="685782"/>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Automatic Let's Encrypt certificate for guardian.&lt;ip&gt;.sslip.io. Reverse proxy to 8787.</a:t>
            </a:r>
          </a:p>
        </p:txBody>
      </p:sp>
      <p:sp>
        <p:nvSpPr>
          <p:cNvPr id="20" name="Rounded Rectangle 19"/>
          <p:cNvSpPr/>
          <p:nvPr/>
        </p:nvSpPr>
        <p:spPr>
          <a:xfrm>
            <a:off x="8965975" y="2412939"/>
            <a:ext cx="2387540" cy="1079473"/>
          </a:xfrm>
          <a:prstGeom prst="roundRect">
            <a:avLst>
              <a:gd name="adj" fmla="val 5882"/>
            </a:avLst>
          </a:prstGeom>
          <a:solidFill>
            <a:srgbClr val="000F0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80272" y="2501837"/>
            <a:ext cx="2158946" cy="203194"/>
          </a:xfrm>
          <a:prstGeom prst="rect">
            <a:avLst/>
          </a:prstGeom>
          <a:noFill/>
        </p:spPr>
        <p:txBody>
          <a:bodyPr wrap="square" lIns="0" rIns="0" tIns="0" bIns="0" anchor="t">
            <a:spAutoFit/>
          </a:bodyPr>
          <a:lstStyle/>
          <a:p>
            <a:pPr algn="l"/>
            <a:r>
              <a:rPr sz="1099" b="1" i="0">
                <a:solidFill>
                  <a:srgbClr val="6FB3E3"/>
                </a:solidFill>
                <a:latin typeface="Consolas"/>
              </a:rPr>
              <a:t>guardian.service :8787</a:t>
            </a:r>
          </a:p>
        </p:txBody>
      </p:sp>
      <p:sp>
        <p:nvSpPr>
          <p:cNvPr id="22" name="TextBox 21"/>
          <p:cNvSpPr txBox="1"/>
          <p:nvPr/>
        </p:nvSpPr>
        <p:spPr>
          <a:xfrm>
            <a:off x="9080272" y="2743131"/>
            <a:ext cx="2158946" cy="685782"/>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Python 3.12 venv with gren and guardian. FastAPI, SSE, the built dashboard, state sync on.</a:t>
            </a:r>
          </a:p>
        </p:txBody>
      </p:sp>
      <p:sp>
        <p:nvSpPr>
          <p:cNvPr id="23" name="Rounded Rectangle 22"/>
          <p:cNvSpPr/>
          <p:nvPr/>
        </p:nvSpPr>
        <p:spPr>
          <a:xfrm>
            <a:off x="6426039" y="3619409"/>
            <a:ext cx="2387540" cy="1079473"/>
          </a:xfrm>
          <a:prstGeom prst="roundRect">
            <a:avLst>
              <a:gd name="adj" fmla="val 5882"/>
            </a:avLst>
          </a:prstGeom>
          <a:solidFill>
            <a:srgbClr val="000F0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40336" y="3708307"/>
            <a:ext cx="2158946" cy="203194"/>
          </a:xfrm>
          <a:prstGeom prst="rect">
            <a:avLst/>
          </a:prstGeom>
          <a:noFill/>
        </p:spPr>
        <p:txBody>
          <a:bodyPr wrap="square" lIns="0" rIns="0" tIns="0" bIns="0" anchor="t">
            <a:spAutoFit/>
          </a:bodyPr>
          <a:lstStyle/>
          <a:p>
            <a:pPr algn="l"/>
            <a:r>
              <a:rPr sz="1099" b="1" i="0">
                <a:solidFill>
                  <a:srgbClr val="6FB3E3"/>
                </a:solidFill>
                <a:latin typeface="Consolas"/>
              </a:rPr>
              <a:t>guardian-sweep.timer</a:t>
            </a:r>
          </a:p>
        </p:txBody>
      </p:sp>
      <p:sp>
        <p:nvSpPr>
          <p:cNvPr id="25" name="TextBox 24"/>
          <p:cNvSpPr txBox="1"/>
          <p:nvPr/>
        </p:nvSpPr>
        <p:spPr>
          <a:xfrm>
            <a:off x="6540336" y="3949601"/>
            <a:ext cx="2158946" cy="685782"/>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POST /api/sweep with the token at 06:00 UTC (02:00 New York). The service runs with --no-schedule.</a:t>
            </a:r>
          </a:p>
        </p:txBody>
      </p:sp>
      <p:sp>
        <p:nvSpPr>
          <p:cNvPr id="26" name="Rounded Rectangle 25"/>
          <p:cNvSpPr/>
          <p:nvPr/>
        </p:nvSpPr>
        <p:spPr>
          <a:xfrm>
            <a:off x="8965975" y="3619409"/>
            <a:ext cx="2387540" cy="1079473"/>
          </a:xfrm>
          <a:prstGeom prst="roundRect">
            <a:avLst>
              <a:gd name="adj" fmla="val 5882"/>
            </a:avLst>
          </a:prstGeom>
          <a:solidFill>
            <a:srgbClr val="000F0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0272" y="3708307"/>
            <a:ext cx="2158946" cy="203194"/>
          </a:xfrm>
          <a:prstGeom prst="rect">
            <a:avLst/>
          </a:prstGeom>
          <a:noFill/>
        </p:spPr>
        <p:txBody>
          <a:bodyPr wrap="square" lIns="0" rIns="0" tIns="0" bIns="0" anchor="t">
            <a:spAutoFit/>
          </a:bodyPr>
          <a:lstStyle/>
          <a:p>
            <a:pPr algn="l"/>
            <a:r>
              <a:rPr sz="1099" b="1" i="0">
                <a:solidFill>
                  <a:srgbClr val="6FB3E3"/>
                </a:solidFill>
                <a:latin typeface="Consolas"/>
              </a:rPr>
              <a:t>IAM role guardian-ec2</a:t>
            </a:r>
          </a:p>
        </p:txBody>
      </p:sp>
      <p:sp>
        <p:nvSpPr>
          <p:cNvPr id="28" name="TextBox 27"/>
          <p:cNvSpPr txBox="1"/>
          <p:nvPr/>
        </p:nvSpPr>
        <p:spPr>
          <a:xfrm>
            <a:off x="9080272" y="3949601"/>
            <a:ext cx="2158946" cy="685782"/>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Bedrock invoke, the state bucket, SES send, SSM. No SSH: logs and commands run through SSM.</a:t>
            </a:r>
          </a:p>
        </p:txBody>
      </p:sp>
      <p:sp>
        <p:nvSpPr>
          <p:cNvPr id="29" name="Rounded Rectangle 28"/>
          <p:cNvSpPr/>
          <p:nvPr/>
        </p:nvSpPr>
        <p:spPr>
          <a:xfrm>
            <a:off x="698482" y="5079873"/>
            <a:ext cx="2412939" cy="1117572"/>
          </a:xfrm>
          <a:prstGeom prst="roundRect">
            <a:avLst>
              <a:gd name="adj" fmla="val 6818"/>
            </a:avLst>
          </a:prstGeom>
          <a:solidFill>
            <a:srgbClr val="131F18"/>
          </a:solidFill>
          <a:ln w="15875">
            <a:solidFill>
              <a:srgbClr val="FCBA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179" y="5194170"/>
            <a:ext cx="2133546" cy="228594"/>
          </a:xfrm>
          <a:prstGeom prst="rect">
            <a:avLst/>
          </a:prstGeom>
          <a:noFill/>
        </p:spPr>
        <p:txBody>
          <a:bodyPr wrap="square" lIns="0" rIns="0" tIns="0" bIns="0" anchor="t">
            <a:spAutoFit/>
          </a:bodyPr>
          <a:lstStyle/>
          <a:p>
            <a:pPr algn="l"/>
            <a:r>
              <a:rPr sz="1299" b="1" i="0">
                <a:solidFill>
                  <a:srgbClr val="FCBA04"/>
                </a:solidFill>
                <a:latin typeface="Roboto Slab"/>
              </a:rPr>
              <a:t>Household browser</a:t>
            </a:r>
          </a:p>
        </p:txBody>
      </p:sp>
      <p:sp>
        <p:nvSpPr>
          <p:cNvPr id="31" name="TextBox 30"/>
          <p:cNvSpPr txBox="1"/>
          <p:nvPr/>
        </p:nvSpPr>
        <p:spPr>
          <a:xfrm>
            <a:off x="838179" y="5448163"/>
            <a:ext cx="2133546" cy="673083"/>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guardian.44-214-230-44.sslip.io. Reads are open. Writes need the token, set one time by ?token=.</a:t>
            </a:r>
          </a:p>
        </p:txBody>
      </p:sp>
      <p:sp>
        <p:nvSpPr>
          <p:cNvPr id="32" name="Rounded Rectangle 31"/>
          <p:cNvSpPr/>
          <p:nvPr/>
        </p:nvSpPr>
        <p:spPr>
          <a:xfrm>
            <a:off x="3492412" y="5079873"/>
            <a:ext cx="2412939" cy="1117572"/>
          </a:xfrm>
          <a:prstGeom prst="roundRect">
            <a:avLst>
              <a:gd name="adj" fmla="val 6818"/>
            </a:avLst>
          </a:prstGeom>
          <a:solidFill>
            <a:srgbClr val="131F18"/>
          </a:solidFill>
          <a:ln w="15875">
            <a:solidFill>
              <a:srgbClr val="6FB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32109" y="5194170"/>
            <a:ext cx="2133546" cy="228594"/>
          </a:xfrm>
          <a:prstGeom prst="rect">
            <a:avLst/>
          </a:prstGeom>
          <a:noFill/>
        </p:spPr>
        <p:txBody>
          <a:bodyPr wrap="square" lIns="0" rIns="0" tIns="0" bIns="0" anchor="t">
            <a:spAutoFit/>
          </a:bodyPr>
          <a:lstStyle/>
          <a:p>
            <a:pPr algn="l"/>
            <a:r>
              <a:rPr sz="1299" b="1" i="0">
                <a:solidFill>
                  <a:srgbClr val="F7F4F3"/>
                </a:solidFill>
                <a:latin typeface="Roboto Slab"/>
              </a:rPr>
              <a:t>Amazon Bedrock</a:t>
            </a:r>
          </a:p>
        </p:txBody>
      </p:sp>
      <p:sp>
        <p:nvSpPr>
          <p:cNvPr id="34" name="TextBox 33"/>
          <p:cNvSpPr txBox="1"/>
          <p:nvPr/>
        </p:nvSpPr>
        <p:spPr>
          <a:xfrm>
            <a:off x="3632109" y="5448163"/>
            <a:ext cx="2133546" cy="673083"/>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Every agent node calls a Claude inference profile with the instance role. Two caps bound the spend.</a:t>
            </a:r>
          </a:p>
        </p:txBody>
      </p:sp>
      <p:sp>
        <p:nvSpPr>
          <p:cNvPr id="35" name="Rounded Rectangle 34"/>
          <p:cNvSpPr/>
          <p:nvPr/>
        </p:nvSpPr>
        <p:spPr>
          <a:xfrm>
            <a:off x="6286342" y="5079873"/>
            <a:ext cx="5206869" cy="1117572"/>
          </a:xfrm>
          <a:prstGeom prst="roundRect">
            <a:avLst>
              <a:gd name="adj" fmla="val 6818"/>
            </a:avLst>
          </a:prstGeom>
          <a:solidFill>
            <a:srgbClr val="131F18"/>
          </a:solidFill>
          <a:ln w="15875">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6039" y="5194170"/>
            <a:ext cx="4927476" cy="228594"/>
          </a:xfrm>
          <a:prstGeom prst="rect">
            <a:avLst/>
          </a:prstGeom>
          <a:noFill/>
        </p:spPr>
        <p:txBody>
          <a:bodyPr wrap="square" lIns="0" rIns="0" tIns="0" bIns="0" anchor="t">
            <a:spAutoFit/>
          </a:bodyPr>
          <a:lstStyle/>
          <a:p>
            <a:pPr algn="l"/>
            <a:r>
              <a:rPr sz="1299" b="1" i="0">
                <a:solidFill>
                  <a:srgbClr val="B9C3BD"/>
                </a:solidFill>
                <a:latin typeface="Roboto Slab"/>
              </a:rPr>
              <a:t>Bedrock AgentCore · next</a:t>
            </a:r>
          </a:p>
        </p:txBody>
      </p:sp>
      <p:sp>
        <p:nvSpPr>
          <p:cNvPr id="37" name="TextBox 36"/>
          <p:cNvSpPr txBox="1"/>
          <p:nvPr/>
        </p:nvSpPr>
        <p:spPr>
          <a:xfrm>
            <a:off x="6426039" y="5448163"/>
            <a:ext cx="4927476" cy="673083"/>
          </a:xfrm>
          <a:prstGeom prst="rect">
            <a:avLst/>
          </a:prstGeom>
          <a:noFill/>
        </p:spPr>
        <p:txBody>
          <a:bodyPr wrap="square" lIns="0" rIns="0" tIns="0" bIns="0" anchor="t">
            <a:spAutoFit/>
          </a:bodyPr>
          <a:lstStyle/>
          <a:p>
            <a:pPr algn="l">
              <a:lnSpc>
                <a:spcPct val="130000"/>
              </a:lnSpc>
            </a:pPr>
            <a:r>
              <a:rPr sz="949" b="0" i="0">
                <a:solidFill>
                  <a:srgbClr val="B9C3BD"/>
                </a:solidFill>
                <a:latin typeface="Lora"/>
              </a:rPr>
              <a:t>deploy/agentcore: a BedrockAgentCoreApp entrypoint, CodeZip runtime, S3 state around every invocation. agentcore deploy fails with maxAgents limit exceeded until AWS Support raises the quotas from 0.</a:t>
            </a:r>
          </a:p>
        </p:txBody>
      </p:sp>
      <p:cxnSp>
        <p:nvCxnSpPr>
          <p:cNvPr id="38" name="Connector 37"/>
          <p:cNvCxnSpPr/>
          <p:nvPr/>
        </p:nvCxnSpPr>
        <p:spPr>
          <a:xfrm flipV="1">
            <a:off x="1904952" y="3390815"/>
            <a:ext cx="0" cy="1663658"/>
          </a:xfrm>
          <a:prstGeom prst="line">
            <a:avLst/>
          </a:prstGeom>
          <a:ln w="25400">
            <a:solidFill>
              <a:srgbClr val="FCBA04"/>
            </a:solidFill>
            <a:prstDash val="dash"/>
          </a:ln>
        </p:spPr>
        <p:style>
          <a:lnRef idx="2">
            <a:schemeClr val="accent1"/>
          </a:lnRef>
          <a:fillRef idx="0">
            <a:schemeClr val="accent1"/>
          </a:fillRef>
          <a:effectRef idx="1">
            <a:schemeClr val="accent1"/>
          </a:effectRef>
          <a:fontRef idx="minor">
            <a:schemeClr val="tx1"/>
          </a:fontRef>
        </p:style>
      </p:cxnSp>
      <p:sp>
        <p:nvSpPr>
          <p:cNvPr id="39" name="Isosceles Triangle 38"/>
          <p:cNvSpPr/>
          <p:nvPr/>
        </p:nvSpPr>
        <p:spPr>
          <a:xfrm>
            <a:off x="1860503" y="3390815"/>
            <a:ext cx="88897" cy="76198"/>
          </a:xfrm>
          <a:prstGeom prst="triangle">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93850" y="3555911"/>
            <a:ext cx="1396965" cy="190495"/>
          </a:xfrm>
          <a:prstGeom prst="rect">
            <a:avLst/>
          </a:prstGeom>
          <a:noFill/>
        </p:spPr>
        <p:txBody>
          <a:bodyPr wrap="square" lIns="0" rIns="0" tIns="0" bIns="0" anchor="t">
            <a:spAutoFit/>
          </a:bodyPr>
          <a:lstStyle/>
          <a:p>
            <a:pPr algn="l"/>
            <a:r>
              <a:rPr sz="1099" b="0" i="0" spc="100">
                <a:solidFill>
                  <a:srgbClr val="FCBA04"/>
                </a:solidFill>
                <a:latin typeface="Habibi"/>
              </a:rPr>
              <a:t>HTTPS</a:t>
            </a:r>
          </a:p>
        </p:txBody>
      </p:sp>
      <p:cxnSp>
        <p:nvCxnSpPr>
          <p:cNvPr id="41" name="Connector 40"/>
          <p:cNvCxnSpPr/>
          <p:nvPr/>
        </p:nvCxnSpPr>
        <p:spPr>
          <a:xfrm>
            <a:off x="4698882" y="3390815"/>
            <a:ext cx="0" cy="1663658"/>
          </a:xfrm>
          <a:prstGeom prst="line">
            <a:avLst/>
          </a:prstGeom>
          <a:ln w="25400">
            <a:solidFill>
              <a:srgbClr val="6FB3E3"/>
            </a:solidFill>
            <a:prstDash val="dash"/>
          </a:ln>
        </p:spPr>
        <p:style>
          <a:lnRef idx="2">
            <a:schemeClr val="accent1"/>
          </a:lnRef>
          <a:fillRef idx="0">
            <a:schemeClr val="accent1"/>
          </a:fillRef>
          <a:effectRef idx="1">
            <a:schemeClr val="accent1"/>
          </a:effectRef>
          <a:fontRef idx="minor">
            <a:schemeClr val="tx1"/>
          </a:fontRef>
        </p:style>
      </p:cxnSp>
      <p:sp>
        <p:nvSpPr>
          <p:cNvPr id="42" name="Isosceles Triangle 41"/>
          <p:cNvSpPr/>
          <p:nvPr/>
        </p:nvSpPr>
        <p:spPr>
          <a:xfrm rot="10800000">
            <a:off x="4654433" y="4978275"/>
            <a:ext cx="88897" cy="76198"/>
          </a:xfrm>
          <a:prstGeom prst="triangle">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87780" y="3555911"/>
            <a:ext cx="1904952" cy="190495"/>
          </a:xfrm>
          <a:prstGeom prst="rect">
            <a:avLst/>
          </a:prstGeom>
          <a:noFill/>
        </p:spPr>
        <p:txBody>
          <a:bodyPr wrap="square" lIns="0" rIns="0" tIns="0" bIns="0" anchor="t">
            <a:spAutoFit/>
          </a:bodyPr>
          <a:lstStyle/>
          <a:p>
            <a:pPr algn="l"/>
            <a:r>
              <a:rPr sz="1099" b="0" i="0" spc="100">
                <a:solidFill>
                  <a:srgbClr val="6FB3E3"/>
                </a:solidFill>
                <a:latin typeface="Habibi"/>
              </a:rPr>
              <a:t>MODEL CALLS</a:t>
            </a:r>
          </a:p>
        </p:txBody>
      </p:sp>
      <p:sp>
        <p:nvSpPr>
          <p:cNvPr id="44" name="TextBox 43"/>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B9C3BD"/>
                </a:solidFill>
                <a:latin typeface="Habibi"/>
              </a:rPr>
              <a:t>GUARDIAN · ARCHITECTURE · 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DEPLOYMENT CHECKLIST</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From a clean account to a live URL</a:t>
            </a:r>
          </a:p>
        </p:txBody>
      </p:sp>
      <p:cxnSp>
        <p:nvCxnSpPr>
          <p:cNvPr id="4" name="Connector 3"/>
          <p:cNvCxnSpPr/>
          <p:nvPr/>
        </p:nvCxnSpPr>
        <p:spPr>
          <a:xfrm>
            <a:off x="698482"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8482"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PREREQUISITES</a:t>
            </a:r>
          </a:p>
        </p:txBody>
      </p:sp>
      <p:sp>
        <p:nvSpPr>
          <p:cNvPr id="6" name="Rectangle 5"/>
          <p:cNvSpPr/>
          <p:nvPr/>
        </p:nvSpPr>
        <p:spPr>
          <a:xfrm>
            <a:off x="698482"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8977" y="2387540"/>
            <a:ext cx="3204553" cy="192781"/>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1. Run aws login --profile guardian.</a:t>
            </a:r>
          </a:p>
        </p:txBody>
      </p:sp>
      <p:sp>
        <p:nvSpPr>
          <p:cNvPr id="8" name="Rectangle 7"/>
          <p:cNvSpPr/>
          <p:nvPr/>
        </p:nvSpPr>
        <p:spPr>
          <a:xfrm>
            <a:off x="698482" y="2774944"/>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2694618"/>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2. Create the private state bucket: aws s3 mb s3://guardian-&lt;account&gt;-state.</a:t>
            </a:r>
          </a:p>
        </p:txBody>
      </p:sp>
      <p:sp>
        <p:nvSpPr>
          <p:cNvPr id="10" name="Rectangle 9"/>
          <p:cNvSpPr/>
          <p:nvPr/>
        </p:nvSpPr>
        <p:spPr>
          <a:xfrm>
            <a:off x="698482" y="3467584"/>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977" y="3387259"/>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3. Fill .env: AWS_PROFILE, AWS_REGION, GUARDIAN_S3_BUCKET, GUARDIAN_DAILY_BUDGET_USD.</a:t>
            </a:r>
          </a:p>
        </p:txBody>
      </p:sp>
      <p:sp>
        <p:nvSpPr>
          <p:cNvPr id="12" name="Rectangle 11"/>
          <p:cNvSpPr/>
          <p:nvPr/>
        </p:nvSpPr>
        <p:spPr>
          <a:xfrm>
            <a:off x="698482" y="416022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977" y="4079899"/>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4. Run python scripts/aws_check.py. It makes one tiny Bedrock call.</a:t>
            </a:r>
          </a:p>
        </p:txBody>
      </p:sp>
      <p:cxnSp>
        <p:nvCxnSpPr>
          <p:cNvPr id="14" name="Connector 13"/>
          <p:cNvCxnSpPr/>
          <p:nvPr/>
        </p:nvCxnSpPr>
        <p:spPr>
          <a:xfrm>
            <a:off x="4398323"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98323"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DEPLOY</a:t>
            </a:r>
          </a:p>
        </p:txBody>
      </p:sp>
      <p:sp>
        <p:nvSpPr>
          <p:cNvPr id="16" name="Rectangle 15"/>
          <p:cNvSpPr/>
          <p:nvPr/>
        </p:nvSpPr>
        <p:spPr>
          <a:xfrm>
            <a:off x="4398323"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8818" y="2387540"/>
            <a:ext cx="3204553" cy="963905"/>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5. Run python scripts/deploy_ec2.py up. It builds the dashboard, uploads the release, and creates the role, the security group, the elastic IP, and the instance.</a:t>
            </a:r>
          </a:p>
        </p:txBody>
      </p:sp>
      <p:sp>
        <p:nvSpPr>
          <p:cNvPr id="18" name="Rectangle 17"/>
          <p:cNvSpPr/>
          <p:nvPr/>
        </p:nvSpPr>
        <p:spPr>
          <a:xfrm>
            <a:off x="4398323" y="3546068"/>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8818" y="3465743"/>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6. Wait for the health check. The first boot takes about 90 seconds.</a:t>
            </a:r>
          </a:p>
        </p:txBody>
      </p:sp>
      <p:sp>
        <p:nvSpPr>
          <p:cNvPr id="20" name="Rectangle 19"/>
          <p:cNvSpPr/>
          <p:nvPr/>
        </p:nvSpPr>
        <p:spPr>
          <a:xfrm>
            <a:off x="4398323" y="4045928"/>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8818" y="3965602"/>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7. Open the URL with ?token=&lt;GUARDIAN_API_TOKEN&gt; one time.</a:t>
            </a:r>
          </a:p>
        </p:txBody>
      </p:sp>
      <p:sp>
        <p:nvSpPr>
          <p:cNvPr id="22" name="Rectangle 21"/>
          <p:cNvSpPr/>
          <p:nvPr/>
        </p:nvSpPr>
        <p:spPr>
          <a:xfrm>
            <a:off x="4398323" y="4545787"/>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88818" y="4465462"/>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8. Push new code with python scripts/deploy_ec2.py update.</a:t>
            </a:r>
          </a:p>
        </p:txBody>
      </p:sp>
      <p:cxnSp>
        <p:nvCxnSpPr>
          <p:cNvPr id="24" name="Connector 23"/>
          <p:cNvCxnSpPr/>
          <p:nvPr/>
        </p:nvCxnSpPr>
        <p:spPr>
          <a:xfrm>
            <a:off x="8098164"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098164"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VERIFY AND OPERATE</a:t>
            </a:r>
          </a:p>
        </p:txBody>
      </p:sp>
      <p:sp>
        <p:nvSpPr>
          <p:cNvPr id="26" name="Rectangle 25"/>
          <p:cNvSpPr/>
          <p:nvPr/>
        </p:nvSpPr>
        <p:spPr>
          <a:xfrm>
            <a:off x="8098164"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88659" y="2387540"/>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9. python scripts/deploy_ec2.py status shows the instance, the URL, and the provider.</a:t>
            </a:r>
          </a:p>
        </p:txBody>
      </p:sp>
      <p:sp>
        <p:nvSpPr>
          <p:cNvPr id="28" name="Rectangle 27"/>
          <p:cNvSpPr/>
          <p:nvPr/>
        </p:nvSpPr>
        <p:spPr>
          <a:xfrm>
            <a:off x="8098164" y="316050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88659" y="3080180"/>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10. python scripts/deploy_ec2.py logs shows the bootstrap log and the service journal over SSM.</a:t>
            </a:r>
          </a:p>
        </p:txBody>
      </p:sp>
      <p:sp>
        <p:nvSpPr>
          <p:cNvPr id="30" name="Rectangle 29"/>
          <p:cNvSpPr/>
          <p:nvPr/>
        </p:nvSpPr>
        <p:spPr>
          <a:xfrm>
            <a:off x="8098164" y="3853147"/>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88659" y="3772821"/>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11. Start a sweep from the dashboard. Watch it on the Agent flow tab.</a:t>
            </a:r>
          </a:p>
        </p:txBody>
      </p:sp>
      <p:sp>
        <p:nvSpPr>
          <p:cNvPr id="32" name="Rectangle 31"/>
          <p:cNvSpPr/>
          <p:nvPr/>
        </p:nvSpPr>
        <p:spPr>
          <a:xfrm>
            <a:off x="8098164" y="435300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88659" y="4272681"/>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12. python scripts/deploy_ec2.py down --yes removes everything but the bucket.</a:t>
            </a:r>
          </a:p>
        </p:txBody>
      </p:sp>
      <p:sp>
        <p:nvSpPr>
          <p:cNvPr id="34" name="TextBox 33"/>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4A5551"/>
                </a:solidFill>
                <a:latin typeface="Habibi"/>
              </a:rPr>
              <a:t>STATUS AND ROADMAP</a:t>
            </a:r>
          </a:p>
        </p:txBody>
      </p:sp>
      <p:sp>
        <p:nvSpPr>
          <p:cNvPr id="3" name="TextBox 2"/>
          <p:cNvSpPr txBox="1"/>
          <p:nvPr/>
        </p:nvSpPr>
        <p:spPr>
          <a:xfrm>
            <a:off x="698482" y="927076"/>
            <a:ext cx="10794730" cy="571485"/>
          </a:xfrm>
          <a:prstGeom prst="rect">
            <a:avLst/>
          </a:prstGeom>
          <a:noFill/>
        </p:spPr>
        <p:txBody>
          <a:bodyPr wrap="square" lIns="0" rIns="0" tIns="0" bIns="0" anchor="t">
            <a:spAutoFit/>
          </a:bodyPr>
          <a:lstStyle/>
          <a:p>
            <a:pPr algn="l">
              <a:lnSpc>
                <a:spcPct val="108000"/>
              </a:lnSpc>
            </a:pPr>
            <a:r>
              <a:rPr sz="2999" b="1" i="0">
                <a:solidFill>
                  <a:srgbClr val="000F08"/>
                </a:solidFill>
                <a:latin typeface="Roboto Slab"/>
              </a:rPr>
              <a:t>Done, blocked, next</a:t>
            </a:r>
          </a:p>
        </p:txBody>
      </p:sp>
      <p:cxnSp>
        <p:nvCxnSpPr>
          <p:cNvPr id="4" name="Connector 3"/>
          <p:cNvCxnSpPr/>
          <p:nvPr/>
        </p:nvCxnSpPr>
        <p:spPr>
          <a:xfrm>
            <a:off x="698482"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8482"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DONE</a:t>
            </a:r>
          </a:p>
        </p:txBody>
      </p:sp>
      <p:sp>
        <p:nvSpPr>
          <p:cNvPr id="6" name="Rectangle 5"/>
          <p:cNvSpPr/>
          <p:nvPr/>
        </p:nvSpPr>
        <p:spPr>
          <a:xfrm>
            <a:off x="698482"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8977" y="2387540"/>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The nightly sweep and the intake graph run end to end on live feeds.</a:t>
            </a:r>
          </a:p>
        </p:txBody>
      </p:sp>
      <p:sp>
        <p:nvSpPr>
          <p:cNvPr id="8" name="Rectangle 7"/>
          <p:cNvSpPr/>
          <p:nvPr/>
        </p:nvSpPr>
        <p:spPr>
          <a:xfrm>
            <a:off x="698482" y="296772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2887399"/>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The dashboard with the six pages and the trace workbench.</a:t>
            </a:r>
          </a:p>
        </p:txBody>
      </p:sp>
      <p:sp>
        <p:nvSpPr>
          <p:cNvPr id="10" name="Rectangle 9"/>
          <p:cNvSpPr/>
          <p:nvPr/>
        </p:nvSpPr>
        <p:spPr>
          <a:xfrm>
            <a:off x="698482" y="3467584"/>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977" y="3387259"/>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The live deployment on EC2 with automatic HTTPS, S3 state sync, and the nightly timer.</a:t>
            </a:r>
          </a:p>
        </p:txBody>
      </p:sp>
      <p:sp>
        <p:nvSpPr>
          <p:cNvPr id="12" name="Rectangle 11"/>
          <p:cNvSpPr/>
          <p:nvPr/>
        </p:nvSpPr>
        <p:spPr>
          <a:xfrm>
            <a:off x="698482" y="416022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977" y="4079899"/>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48 tests on the mock provider, including the gate, snoozes, late approvals, and a verifier repair.</a:t>
            </a:r>
          </a:p>
        </p:txBody>
      </p:sp>
      <p:cxnSp>
        <p:nvCxnSpPr>
          <p:cNvPr id="14" name="Connector 13"/>
          <p:cNvCxnSpPr/>
          <p:nvPr/>
        </p:nvCxnSpPr>
        <p:spPr>
          <a:xfrm>
            <a:off x="4398323"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98323"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BLOCKED ON AWS</a:t>
            </a:r>
          </a:p>
        </p:txBody>
      </p:sp>
      <p:sp>
        <p:nvSpPr>
          <p:cNvPr id="16" name="Rectangle 15"/>
          <p:cNvSpPr/>
          <p:nvPr/>
        </p:nvSpPr>
        <p:spPr>
          <a:xfrm>
            <a:off x="4398323"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8818" y="2387540"/>
            <a:ext cx="3204553" cy="771124"/>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Bedrock authorization for the account. Every model call answers Operation not allowed until AWS Support grants it.</a:t>
            </a:r>
          </a:p>
        </p:txBody>
      </p:sp>
      <p:sp>
        <p:nvSpPr>
          <p:cNvPr id="18" name="Rectangle 17"/>
          <p:cNvSpPr/>
          <p:nvPr/>
        </p:nvSpPr>
        <p:spPr>
          <a:xfrm>
            <a:off x="4398323" y="3353287"/>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8818" y="3272962"/>
            <a:ext cx="3204553" cy="578343"/>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AgentCore Runtime. The account quotas are 0. The entrypoint is built and tested locally.</a:t>
            </a:r>
          </a:p>
        </p:txBody>
      </p:sp>
      <p:sp>
        <p:nvSpPr>
          <p:cNvPr id="20" name="Rectangle 19"/>
          <p:cNvSpPr/>
          <p:nvPr/>
        </p:nvSpPr>
        <p:spPr>
          <a:xfrm>
            <a:off x="4398323" y="4045928"/>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8818" y="3965602"/>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SES delivery to a real sender. The sandbox needs a verified identity.</a:t>
            </a:r>
          </a:p>
        </p:txBody>
      </p:sp>
      <p:cxnSp>
        <p:nvCxnSpPr>
          <p:cNvPr id="22" name="Connector 21"/>
          <p:cNvCxnSpPr/>
          <p:nvPr/>
        </p:nvCxnSpPr>
        <p:spPr>
          <a:xfrm>
            <a:off x="8098164" y="1904952"/>
            <a:ext cx="3395048"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098164" y="2044648"/>
            <a:ext cx="3395048" cy="228594"/>
          </a:xfrm>
          <a:prstGeom prst="rect">
            <a:avLst/>
          </a:prstGeom>
          <a:noFill/>
        </p:spPr>
        <p:txBody>
          <a:bodyPr wrap="square" lIns="0" rIns="0" tIns="0" bIns="0" anchor="t">
            <a:spAutoFit/>
          </a:bodyPr>
          <a:lstStyle/>
          <a:p>
            <a:pPr algn="l"/>
            <a:r>
              <a:rPr sz="1199" b="0" i="0" spc="200">
                <a:solidFill>
                  <a:srgbClr val="2274A5"/>
                </a:solidFill>
                <a:latin typeface="Habibi"/>
              </a:rPr>
              <a:t>NEXT</a:t>
            </a:r>
          </a:p>
        </p:txBody>
      </p:sp>
      <p:sp>
        <p:nvSpPr>
          <p:cNvPr id="24" name="Rectangle 23"/>
          <p:cNvSpPr/>
          <p:nvPr/>
        </p:nvSpPr>
        <p:spPr>
          <a:xfrm>
            <a:off x="8098164" y="246786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88659" y="2387540"/>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AgentCore Runtime, Memory, and Gateway.</a:t>
            </a:r>
          </a:p>
        </p:txBody>
      </p:sp>
      <p:sp>
        <p:nvSpPr>
          <p:cNvPr id="26" name="Rectangle 25"/>
          <p:cNvSpPr/>
          <p:nvPr/>
        </p:nvSpPr>
        <p:spPr>
          <a:xfrm>
            <a:off x="8098164" y="2967725"/>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88659" y="2887399"/>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SMS through SNS with an origination number.</a:t>
            </a:r>
          </a:p>
        </p:txBody>
      </p:sp>
      <p:sp>
        <p:nvSpPr>
          <p:cNvPr id="28" name="Rectangle 27"/>
          <p:cNvSpPr/>
          <p:nvPr/>
        </p:nvSpPr>
        <p:spPr>
          <a:xfrm>
            <a:off x="8098164" y="3467584"/>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88659" y="3387259"/>
            <a:ext cx="3204553" cy="771124"/>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Photo intake of receipts (the mailroom), grocery advisories, and class-action settlements from the Expanded tier of the plan.</a:t>
            </a:r>
          </a:p>
        </p:txBody>
      </p:sp>
      <p:sp>
        <p:nvSpPr>
          <p:cNvPr id="30" name="Rectangle 29"/>
          <p:cNvSpPr/>
          <p:nvPr/>
        </p:nvSpPr>
        <p:spPr>
          <a:xfrm>
            <a:off x="8098164" y="4353006"/>
            <a:ext cx="76198" cy="76198"/>
          </a:xfrm>
          <a:prstGeom prst="rect">
            <a:avLst/>
          </a:prstGeom>
          <a:solidFill>
            <a:srgbClr val="227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88659" y="4272681"/>
            <a:ext cx="3204553" cy="385562"/>
          </a:xfrm>
          <a:prstGeom prst="rect">
            <a:avLst/>
          </a:prstGeom>
          <a:noFill/>
        </p:spPr>
        <p:txBody>
          <a:bodyPr wrap="square" lIns="0" rIns="0" tIns="0" bIns="0" anchor="t">
            <a:spAutoFit/>
          </a:bodyPr>
          <a:lstStyle/>
          <a:p>
            <a:pPr algn="l">
              <a:lnSpc>
                <a:spcPct val="130000"/>
              </a:lnSpc>
            </a:pPr>
            <a:r>
              <a:rPr sz="1149" b="0" i="0">
                <a:solidFill>
                  <a:srgbClr val="000F08"/>
                </a:solidFill>
                <a:latin typeface="Lora"/>
              </a:rPr>
              <a:t>Cognito sign-in for more than one household.</a:t>
            </a:r>
          </a:p>
        </p:txBody>
      </p:sp>
      <p:sp>
        <p:nvSpPr>
          <p:cNvPr id="32" name="TextBox 31"/>
          <p:cNvSpPr txBox="1"/>
          <p:nvPr/>
        </p:nvSpPr>
        <p:spPr>
          <a:xfrm>
            <a:off x="698482" y="6464138"/>
            <a:ext cx="10794730" cy="190495"/>
          </a:xfrm>
          <a:prstGeom prst="rect">
            <a:avLst/>
          </a:prstGeom>
          <a:noFill/>
        </p:spPr>
        <p:txBody>
          <a:bodyPr wrap="square" lIns="0" rIns="0" tIns="0" bIns="0" anchor="t">
            <a:spAutoFit/>
          </a:bodyPr>
          <a:lstStyle/>
          <a:p>
            <a:pPr algn="r"/>
            <a:r>
              <a:rPr sz="999" b="0" i="0" spc="100">
                <a:solidFill>
                  <a:srgbClr val="4A5551"/>
                </a:solidFill>
                <a:latin typeface="Habibi"/>
              </a:rPr>
              <a:t>GUARDIAN · ARCHITECTURE · 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pic>
        <p:nvPicPr>
          <p:cNvPr id="2" name="Picture 1" descr="logo-nightwatch.png"/>
          <p:cNvPicPr>
            <a:picLocks noChangeAspect="1"/>
          </p:cNvPicPr>
          <p:nvPr/>
        </p:nvPicPr>
        <p:blipFill>
          <a:blip r:embed="rId2"/>
          <a:stretch>
            <a:fillRect/>
          </a:stretch>
        </p:blipFill>
        <p:spPr>
          <a:xfrm>
            <a:off x="4984625" y="952476"/>
            <a:ext cx="609584" cy="609584"/>
          </a:xfrm>
          <a:prstGeom prst="rect">
            <a:avLst/>
          </a:prstGeom>
        </p:spPr>
      </p:pic>
      <p:sp>
        <p:nvSpPr>
          <p:cNvPr id="3" name="TextBox 2"/>
          <p:cNvSpPr txBox="1"/>
          <p:nvPr/>
        </p:nvSpPr>
        <p:spPr>
          <a:xfrm>
            <a:off x="5746605" y="952476"/>
            <a:ext cx="2539936" cy="609584"/>
          </a:xfrm>
          <a:prstGeom prst="rect">
            <a:avLst/>
          </a:prstGeom>
          <a:noFill/>
        </p:spPr>
        <p:txBody>
          <a:bodyPr wrap="square" lIns="0" rIns="0" tIns="0" bIns="0" anchor="ctr">
            <a:spAutoFit/>
          </a:bodyPr>
          <a:lstStyle/>
          <a:p>
            <a:pPr algn="l"/>
            <a:r>
              <a:rPr sz="2799" b="1" i="0">
                <a:solidFill>
                  <a:srgbClr val="F7F4F3"/>
                </a:solidFill>
                <a:latin typeface="Roboto Slab"/>
              </a:rPr>
              <a:t>Guardian</a:t>
            </a:r>
          </a:p>
        </p:txBody>
      </p:sp>
      <p:sp>
        <p:nvSpPr>
          <p:cNvPr id="4" name="TextBox 3"/>
          <p:cNvSpPr txBox="1"/>
          <p:nvPr/>
        </p:nvSpPr>
        <p:spPr>
          <a:xfrm>
            <a:off x="1523961" y="2095447"/>
            <a:ext cx="9143771" cy="1650958"/>
          </a:xfrm>
          <a:prstGeom prst="rect">
            <a:avLst/>
          </a:prstGeom>
          <a:noFill/>
        </p:spPr>
        <p:txBody>
          <a:bodyPr wrap="square" lIns="0" rIns="0" tIns="0" bIns="0" anchor="t">
            <a:spAutoFit/>
          </a:bodyPr>
          <a:lstStyle/>
          <a:p>
            <a:pPr algn="ctr">
              <a:lnSpc>
                <a:spcPct val="125000"/>
              </a:lnSpc>
            </a:pPr>
            <a:r>
              <a:rPr sz="2999" b="0" i="1">
                <a:solidFill>
                  <a:srgbClr val="F7F4F3"/>
                </a:solidFill>
                <a:latin typeface="Lora"/>
              </a:rPr>
              <a:t>The best output of the agent is silence. The primary metric of the product is how rarely it must speak to you.</a:t>
            </a:r>
          </a:p>
        </p:txBody>
      </p:sp>
      <p:sp>
        <p:nvSpPr>
          <p:cNvPr id="5" name="TextBox 4"/>
          <p:cNvSpPr txBox="1"/>
          <p:nvPr/>
        </p:nvSpPr>
        <p:spPr>
          <a:xfrm>
            <a:off x="698482" y="4317892"/>
            <a:ext cx="10794730" cy="317492"/>
          </a:xfrm>
          <a:prstGeom prst="rect">
            <a:avLst/>
          </a:prstGeom>
          <a:noFill/>
        </p:spPr>
        <p:txBody>
          <a:bodyPr wrap="square" lIns="0" rIns="0" tIns="0" bIns="0" anchor="t">
            <a:spAutoFit/>
          </a:bodyPr>
          <a:lstStyle/>
          <a:p>
            <a:pPr algn="ctr"/>
            <a:r>
              <a:rPr sz="1599" b="0" i="0">
                <a:solidFill>
                  <a:srgbClr val="6FB3E3"/>
                </a:solidFill>
                <a:latin typeface="Consolas"/>
              </a:rPr>
              <a:t>github.com/KrishGup/Recall-and-Warranty-Guardian</a:t>
            </a:r>
          </a:p>
        </p:txBody>
      </p:sp>
      <p:sp>
        <p:nvSpPr>
          <p:cNvPr id="6" name="TextBox 5"/>
          <p:cNvSpPr txBox="1"/>
          <p:nvPr/>
        </p:nvSpPr>
        <p:spPr>
          <a:xfrm>
            <a:off x="698482" y="4698882"/>
            <a:ext cx="10794730" cy="317492"/>
          </a:xfrm>
          <a:prstGeom prst="rect">
            <a:avLst/>
          </a:prstGeom>
          <a:noFill/>
        </p:spPr>
        <p:txBody>
          <a:bodyPr wrap="square" lIns="0" rIns="0" tIns="0" bIns="0" anchor="t">
            <a:spAutoFit/>
          </a:bodyPr>
          <a:lstStyle/>
          <a:p>
            <a:pPr algn="ctr"/>
            <a:r>
              <a:rPr sz="1599" b="0" i="0">
                <a:solidFill>
                  <a:srgbClr val="6FB3E3"/>
                </a:solidFill>
                <a:latin typeface="Consolas"/>
              </a:rPr>
              <a:t>live: guardian.44-214-230-44.sslip.io</a:t>
            </a:r>
          </a:p>
        </p:txBody>
      </p:sp>
      <p:sp>
        <p:nvSpPr>
          <p:cNvPr id="7" name="TextBox 6"/>
          <p:cNvSpPr txBox="1"/>
          <p:nvPr/>
        </p:nvSpPr>
        <p:spPr>
          <a:xfrm>
            <a:off x="698482" y="5206869"/>
            <a:ext cx="10794730" cy="253993"/>
          </a:xfrm>
          <a:prstGeom prst="rect">
            <a:avLst/>
          </a:prstGeom>
          <a:noFill/>
        </p:spPr>
        <p:txBody>
          <a:bodyPr wrap="square" lIns="0" rIns="0" tIns="0" bIns="0" anchor="t">
            <a:spAutoFit/>
          </a:bodyPr>
          <a:lstStyle/>
          <a:p>
            <a:pPr algn="ctr"/>
            <a:r>
              <a:rPr sz="1299" b="0" i="0" spc="200">
                <a:solidFill>
                  <a:srgbClr val="FCBA04"/>
                </a:solidFill>
                <a:latin typeface="Habibi"/>
              </a:rPr>
              <a:t>APACHE-2.0 · STRANDS AGENTS SDK · EVERYDAY AGENTS TRACK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